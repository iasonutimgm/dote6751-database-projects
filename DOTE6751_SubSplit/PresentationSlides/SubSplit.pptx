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Platform fee (HK$)</c:v>
                </c:pt>
              </c:strCache>
            </c:strRef>
          </c:tx>
          <c:spPr>
            <a:ln w="25400">
              <a:solidFill>
                <a:srgbClr val="1F6FB2"/>
              </a:solidFill>
            </a:ln>
          </c:spPr>
          <c:cat>
            <c:strRef>
              <c:f>Sheet1!$A$2:$A$9</c:f>
              <c:strCache>
                <c:ptCount val="8"/>
                <c:pt idx="0">
                  <c:v>2026-02</c:v>
                </c:pt>
                <c:pt idx="1">
                  <c:v>2026-03</c:v>
                </c:pt>
                <c:pt idx="2">
                  <c:v>2026-04</c:v>
                </c:pt>
                <c:pt idx="3">
                  <c:v>2026-05</c:v>
                </c:pt>
                <c:pt idx="4">
                  <c:v>2026-06</c:v>
                </c:pt>
                <c:pt idx="5">
                  <c:v>2026-07</c:v>
                </c:pt>
                <c:pt idx="6">
                  <c:v>2026-08</c:v>
                </c:pt>
                <c:pt idx="7">
                  <c:v>2026-09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113.93</c:v>
                </c:pt>
                <c:pt idx="1">
                  <c:v>135.19</c:v>
                </c:pt>
                <c:pt idx="2">
                  <c:v>138.86</c:v>
                </c:pt>
                <c:pt idx="3">
                  <c:v>147.11</c:v>
                </c:pt>
                <c:pt idx="4">
                  <c:v>176.09</c:v>
                </c:pt>
                <c:pt idx="5">
                  <c:v>168.06</c:v>
                </c:pt>
                <c:pt idx="6">
                  <c:v>140.59</c:v>
                </c:pt>
                <c:pt idx="7">
                  <c:v>168.24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900">
          <a:solidFill>
            <a:srgbClr val="5A6B7B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price gap, not with the technology. Six seats cost about one and a half individual subscriptions, so the discount is real — the problem is that the six people are strangers. Say the project name once and move on; the model comes on slide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fears, one slide. The member loses a year of money to a password change; the host spends every month chasing small transfers. Land on the sentence at the bottom: the design question is not how to split a bill, it is how to make a promise enforceable.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four steps left to right, slowly: the platform never takes ownership of the subscription, it takes custody of the money. Then point at the card: HK$26,113 is still held right now, and 58% has already been released. That number is live from the database, not illustrative.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read the ERD out loud. Point at three things: the weak entity at the right, the seat table in the middle, and the ledger at the bottom. Say that eleven boxes on one page is a map, and the next two slides zoom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module that makes the platform auditable: one group, one credential, one source of truth for the seat ceiling. The key sentence is that group_id is both the primary key and the foreign key — so a second vault for the same group cannot exist.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Money module. Trace one seat: the member prepays, the escrow holds it, the ledger releases one twelfth. The CHECK constraint is the reason a careless UPDATE cannot invent money.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quick reference table, not a slide to read. Say the row counts out loud once — 300 members, 60 groups, 2,172 releases — because it proves the data is real. Then move to queries.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with the shape of the 18 queries, then narrow to Q01. The point of Q01 is not the SQL, it is the narrowness: one seat left, host with a perfect score. Read the two result rows, then go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slide to slow down on. Explain the two conditions as a story: a host keeps changing the password, and two members cannot get in. The query returns six groups; it does not punish anyone. The decision is human.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charts: what the platform earns, and what people buy. Mention that the last month is excluded from the chart because it has only started — otherwise the line looks like a crash. Netflix-HK leads because its price gap is the widest.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Both queries use LAG, for two different questions. If someone asks what a window function is, say: an aggregate that keeps the row, so you can compare a row with its neighbour.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honest here, and specific. Every bullet is a decision, not an excuse. End on the closing line — the design is finished, not unfinished.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Appendix, not presented. If asked, say the hours are estimates agreed before the work started, and the difficulty follows the number of concepts a task touches.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Only if there is time or a question. The first three answers are the ones most likely to be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6FB2"/>
                </a:solidFill>
                <a:latin typeface="Segoe UI"/>
              </a:rPr>
              <a:t>D O T E   6 7 5 1   ·   G R O U P   P R O J E C 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0" b="1" i="0">
                <a:solidFill>
                  <a:srgbClr val="0E2A47"/>
                </a:solidFill>
                <a:latin typeface="Georgia"/>
              </a:rPr>
              <a:t>SubSplit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88920"/>
            <a:ext cx="749807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5A6B7B"/>
                </a:solidFill>
                <a:latin typeface="Segoe UI"/>
              </a:rPr>
              <a:t>Escrow-protected subscription sharing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3675887"/>
            <a:ext cx="2011680" cy="3200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977639"/>
            <a:ext cx="85953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A6B7B"/>
                </a:solidFill>
                <a:latin typeface="Segoe UI"/>
              </a:rPr>
              <a:t>A family plan is priced for six people. SubSplit makes five strangers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A6B7B"/>
                </a:solidFill>
                <a:latin typeface="Segoe UI"/>
              </a:rPr>
              <a:t>safe enough to buy the other seats — money in escrow, released one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A6B7B"/>
                </a:solidFill>
                <a:latin typeface="Segoe UI"/>
              </a:rPr>
              <a:t>month at a time, with a record both sides can point at.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5778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2A47"/>
                </a:solidFill>
                <a:latin typeface="Segoe UI"/>
              </a:rPr>
              <a:t>November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87044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9A6"/>
                </a:solidFill>
                <a:latin typeface="Segoe UI"/>
              </a:rPr>
              <a:t>Xuanmo AN   ·   Yi HOU   ·   Zhao Han HUANG   ·   Jinyu LI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9A6"/>
                </a:solidFill>
                <a:latin typeface="Segoe UI"/>
              </a:rPr>
              <a:t>Yitong NI   ·   Shujing YE   ·   Shiyao ZHANG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507492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E2A47"/>
                </a:solidFill>
                <a:latin typeface="Georgia"/>
              </a:rPr>
              <a:t>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544982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9A6"/>
                </a:solidFill>
                <a:latin typeface="Segoe UI"/>
              </a:rPr>
              <a:t>relations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02952" y="507492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E2A47"/>
                </a:solidFill>
                <a:latin typeface="Georgia"/>
              </a:rPr>
              <a:t>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02952" y="544982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9A6"/>
                </a:solidFill>
                <a:latin typeface="Segoe UI"/>
              </a:rPr>
              <a:t>foreign keys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73384" y="507492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E2A47"/>
                </a:solidFill>
                <a:latin typeface="Georgia"/>
              </a:rPr>
              <a:t>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73384" y="544982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9A6"/>
                </a:solidFill>
                <a:latin typeface="Segoe UI"/>
              </a:rPr>
              <a:t>queries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6382512"/>
            <a:ext cx="10817352" cy="9144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645566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Segoe UI"/>
              </a:rPr>
              <a:t>DOTE 6751  ·  Group Project  ·  SubSplit  ·  November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6455664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Segoe UI"/>
              </a:rPr>
              <a:t>01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6FB2"/>
                </a:solidFill>
                <a:latin typeface="Segoe UI"/>
              </a:rPr>
              <a:t>02  · 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E2A47"/>
                </a:solidFill>
                <a:latin typeface="Georgia"/>
              </a:rPr>
              <a:t>A household price for people who have no household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89888"/>
            <a:ext cx="10241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B7B"/>
                </a:solidFill>
                <a:latin typeface="Segoe UI"/>
              </a:rPr>
              <a:t>Six seats for the price of one and a half. The discount assumes a trust that does not exist yet.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84831"/>
            <a:ext cx="5349240" cy="2395728"/>
          </a:xfrm>
          <a:prstGeom prst="roundRect">
            <a:avLst>
              <a:gd name="adj" fmla="val 3500"/>
            </a:avLst>
          </a:prstGeom>
          <a:solidFill>
            <a:srgbClr val="F3F7FA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1" y="2331720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F6FB2"/>
                </a:solidFill>
                <a:latin typeface="Segoe UI"/>
              </a:rPr>
              <a:t>THE MEMBER'S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1" y="2670048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E2A47"/>
                </a:solidFill>
                <a:latin typeface="Georgia"/>
              </a:rPr>
              <a:t>Paid for a year, holds nothing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3273552"/>
            <a:ext cx="461772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B7B"/>
                </a:solidFill>
                <a:latin typeface="Segoe UI"/>
              </a:rPr>
              <a:t>The host owns the account. One password change, one silent removal, and twelve months of money sit with a stranger who has no obligation to answer.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084831"/>
            <a:ext cx="5349240" cy="2395728"/>
          </a:xfrm>
          <a:prstGeom prst="roundRect">
            <a:avLst>
              <a:gd name="adj" fmla="val 3500"/>
            </a:avLst>
          </a:prstGeom>
          <a:solidFill>
            <a:srgbClr val="F3F7FA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56832" y="2331720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F6FB2"/>
                </a:solidFill>
                <a:latin typeface="Segoe UI"/>
              </a:rPr>
              <a:t>THE HOST'S CHORE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56832" y="2670048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E2A47"/>
                </a:solidFill>
                <a:latin typeface="Georgia"/>
              </a:rPr>
              <a:t>Owes the platform, not the rent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56832" y="3273552"/>
            <a:ext cx="461772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B7B"/>
                </a:solidFill>
                <a:latin typeface="Segoe UI"/>
              </a:rPr>
              <a:t>Five people, one small transfer each, every month. Chasing friends for HK$18 costs more in awkwardness than the money is worth.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138928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E2A47"/>
                </a:solidFill>
                <a:latin typeface="Georgia"/>
              </a:rPr>
              <a:t>So the design question is not how to split a bill.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559552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6FB2"/>
                </a:solidFill>
                <a:latin typeface="Georgia"/>
              </a:rPr>
              <a:t>It is how to make a stranger's promise enforceable — with a database, not with goodwill.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6382512"/>
            <a:ext cx="10817352" cy="9144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645566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Segoe UI"/>
              </a:rPr>
              <a:t>DOTE 6751  ·  Group Project  ·  SubSplit  ·  November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6455664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Segoe UI"/>
              </a:rP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6FB2"/>
                </a:solidFill>
                <a:latin typeface="Segoe UI"/>
              </a:rPr>
              <a:t>03  ·  BUSINESS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E2A47"/>
                </a:solidFill>
                <a:latin typeface="Georgia"/>
              </a:rPr>
              <a:t>How a group works, and where the money sits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89888"/>
            <a:ext cx="10241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B7B"/>
                </a:solidFill>
                <a:latin typeface="Segoe UI"/>
              </a:rPr>
              <a:t>Six seats, twelve prepaid months, held in escrow and released one month at a time.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920240"/>
            <a:ext cx="10817352" cy="10972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0392" y="2578608"/>
            <a:ext cx="10972" cy="402335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04088" y="2231136"/>
            <a:ext cx="310896" cy="310896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2221991"/>
            <a:ext cx="5577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2A47"/>
                </a:solidFill>
                <a:latin typeface="Segoe UI"/>
              </a:rPr>
              <a:t>HOST VERIFIES THE BILL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496312"/>
            <a:ext cx="56692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B7B"/>
                </a:solidFill>
                <a:latin typeface="Segoe UI"/>
              </a:rPr>
              <a:t>The platform checks the official invoice before a group goes live.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0392" y="3346703"/>
            <a:ext cx="10972" cy="402335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04088" y="2999232"/>
            <a:ext cx="310896" cy="310896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2990087"/>
            <a:ext cx="5577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2A47"/>
                </a:solidFill>
                <a:latin typeface="Segoe UI"/>
              </a:rPr>
              <a:t>GROUP OPENS SIX SEATS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3264408"/>
            <a:ext cx="56692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B7B"/>
                </a:solidFill>
                <a:latin typeface="Segoe UI"/>
              </a:rPr>
              <a:t>The host sets the price per seat per month; the group is listed as recruiting.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0392" y="4114800"/>
            <a:ext cx="10972" cy="402335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4088" y="3767327"/>
            <a:ext cx="310896" cy="310896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3758183"/>
            <a:ext cx="5577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2A47"/>
                </a:solidFill>
                <a:latin typeface="Segoe UI"/>
              </a:rPr>
              <a:t>MEMBERS PREPAY 12 MONTHS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4032503"/>
            <a:ext cx="56692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B7B"/>
                </a:solidFill>
                <a:latin typeface="Segoe UI"/>
              </a:rPr>
              <a:t>Money lands in the escrow pool — not in the host's account.</a:t>
            </a:r>
          </a:p>
        </p:txBody>
      </p:sp>
      <p:sp>
        <p:nvSpPr>
          <p:cNvPr id="18" name="Oval 17"/>
          <p:cNvSpPr/>
          <p:nvPr/>
        </p:nvSpPr>
        <p:spPr>
          <a:xfrm>
            <a:off x="704088" y="4535423"/>
            <a:ext cx="310896" cy="310896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0432" y="4526279"/>
            <a:ext cx="5577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2A47"/>
                </a:solidFill>
                <a:latin typeface="Segoe UI"/>
              </a:rPr>
              <a:t>PLATFORM RELEASES 1/12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0432" y="4800599"/>
            <a:ext cx="56692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B7B"/>
                </a:solidFill>
                <a:latin typeface="Segoe UI"/>
              </a:rPr>
              <a:t>One month is paid to the host each cycle; the platform keeps a 5% fee.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0" y="2157984"/>
            <a:ext cx="4370832" cy="3127248"/>
          </a:xfrm>
          <a:prstGeom prst="roundRect">
            <a:avLst>
              <a:gd name="adj" fmla="val 3500"/>
            </a:avLst>
          </a:prstGeom>
          <a:solidFill>
            <a:srgbClr val="F3F7FA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0" y="2359152"/>
            <a:ext cx="3474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99A6"/>
                </a:solidFill>
                <a:latin typeface="Segoe UI"/>
              </a:rPr>
              <a:t>E S C R O W   P O O L   ·   A L L   G R O U P 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2615184"/>
            <a:ext cx="23774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E2A47"/>
                </a:solidFill>
                <a:latin typeface="Georgia"/>
              </a:rPr>
              <a:t>HK$26,113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3145536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B7B"/>
                </a:solidFill>
                <a:latin typeface="Segoe UI"/>
              </a:rPr>
              <a:t>still held for members across 300 seats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06640" y="3456432"/>
            <a:ext cx="3822191" cy="128016"/>
          </a:xfrm>
          <a:prstGeom prst="rect">
            <a:avLst/>
          </a:prstGeom>
          <a:solidFill>
            <a:srgbClr val="DCE5EE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06640" y="3456432"/>
            <a:ext cx="2201582" cy="128016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06640" y="3639312"/>
            <a:ext cx="382219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B7B"/>
                </a:solidFill>
                <a:latin typeface="Segoe UI"/>
              </a:rPr>
              <a:t>58% already released to hosts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06640" y="4041648"/>
            <a:ext cx="3822191" cy="9144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06640" y="4169664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B7B"/>
                </a:solidFill>
                <a:latin typeface="Segoe UI"/>
              </a:rPr>
              <a:t>Prepaid by members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4169664"/>
            <a:ext cx="19019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E2A47"/>
                </a:solidFill>
                <a:latin typeface="Segoe UI"/>
              </a:rPr>
              <a:t>HK$61,577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0" y="4453128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B7B"/>
                </a:solidFill>
                <a:latin typeface="Segoe UI"/>
              </a:rPr>
              <a:t>Released to hosts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4453128"/>
            <a:ext cx="19019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E2A47"/>
                </a:solidFill>
                <a:latin typeface="Segoe UI"/>
              </a:rPr>
              <a:t>HK$35,464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4736592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B7B"/>
                </a:solidFill>
                <a:latin typeface="Segoe UI"/>
              </a:rPr>
              <a:t>Platform fee (5%)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0" y="4736592"/>
            <a:ext cx="19019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E2A47"/>
                </a:solidFill>
                <a:latin typeface="Segoe UI"/>
              </a:rPr>
              <a:t>HK$1,772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4992624"/>
            <a:ext cx="382219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F6FB2"/>
                </a:solidFill>
                <a:latin typeface="Segoe UI"/>
              </a:rPr>
              <a:t>Frozen the moment a dispute is filed.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" y="5504688"/>
            <a:ext cx="2615184" cy="658368"/>
          </a:xfrm>
          <a:prstGeom prst="roundRect">
            <a:avLst>
              <a:gd name="adj" fmla="val 9000"/>
            </a:avLst>
          </a:prstGeom>
          <a:solidFill>
            <a:srgbClr val="F3F7FA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5256" y="5577840"/>
            <a:ext cx="914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6FB2"/>
                </a:solidFill>
                <a:latin typeface="Segoe U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" y="5897880"/>
            <a:ext cx="22494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Segoe UI"/>
              </a:rPr>
              <a:t>SEATS PER GROUP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474720" y="5504688"/>
            <a:ext cx="2615184" cy="658368"/>
          </a:xfrm>
          <a:prstGeom prst="roundRect">
            <a:avLst>
              <a:gd name="adj" fmla="val 9000"/>
            </a:avLst>
          </a:prstGeom>
          <a:solidFill>
            <a:srgbClr val="F3F7FA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94176" y="5577840"/>
            <a:ext cx="914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6FB2"/>
                </a:solidFill>
                <a:latin typeface="Segoe UI"/>
              </a:rPr>
              <a:t>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94176" y="5897880"/>
            <a:ext cx="22494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Segoe UI"/>
              </a:rPr>
              <a:t>MONTHS PREPAID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63640" y="5504688"/>
            <a:ext cx="2615184" cy="658368"/>
          </a:xfrm>
          <a:prstGeom prst="roundRect">
            <a:avLst>
              <a:gd name="adj" fmla="val 9000"/>
            </a:avLst>
          </a:prstGeom>
          <a:solidFill>
            <a:srgbClr val="F3F7FA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83096" y="5577840"/>
            <a:ext cx="914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6FB2"/>
                </a:solidFill>
                <a:latin typeface="Segoe UI"/>
              </a:rPr>
              <a:t>5%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83096" y="5897880"/>
            <a:ext cx="22494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Segoe UI"/>
              </a:rPr>
              <a:t>PLATFORM FEE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052559" y="5504688"/>
            <a:ext cx="2615184" cy="658368"/>
          </a:xfrm>
          <a:prstGeom prst="roundRect">
            <a:avLst>
              <a:gd name="adj" fmla="val 9000"/>
            </a:avLst>
          </a:prstGeom>
          <a:solidFill>
            <a:srgbClr val="F3F7FA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72015" y="5577840"/>
            <a:ext cx="914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6FB2"/>
                </a:solidFill>
                <a:latin typeface="Segoe UI"/>
              </a:rPr>
              <a:t>1/12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72015" y="5897880"/>
            <a:ext cx="22494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Segoe UI"/>
              </a:rPr>
              <a:t>RELEASED MONTHLY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85800" y="6382512"/>
            <a:ext cx="10817352" cy="9144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" y="645566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Segoe UI"/>
              </a:rPr>
              <a:t>DOTE 6751  ·  Group Project  ·  SubSplit  ·  November 2026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92640" y="6455664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Segoe UI"/>
              </a:rP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6FB2"/>
                </a:solidFill>
                <a:latin typeface="Segoe UI"/>
              </a:rPr>
              <a:t>04  ·  DATABASE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E2A47"/>
                </a:solidFill>
                <a:latin typeface="Georgia"/>
              </a:rPr>
              <a:t>Eleven relations, fifteen foreign keys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89888"/>
            <a:ext cx="10241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B7B"/>
                </a:solidFill>
                <a:latin typeface="Segoe UI"/>
              </a:rPr>
              <a:t>The whole schema at once. Module views follow, because eleven boxes on one page is a map, not a diagram.</a:t>
            </a:r>
          </a:p>
        </p:txBody>
      </p:sp>
      <p:pic>
        <p:nvPicPr>
          <p:cNvPr id="5" name="Picture 4" descr="ERD_logical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376" y="1755648"/>
            <a:ext cx="8014686" cy="4526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823960" y="1920240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F6FB2"/>
                </a:solidFill>
                <a:latin typeface="Segoe UI"/>
              </a:rPr>
              <a:t>WEAK ENTITY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23960" y="219456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B7B"/>
                </a:solidFill>
                <a:latin typeface="Segoe UI"/>
              </a:rPr>
              <a:t>credential_vault borrows group_id as its own key — no group, no credential.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23960" y="3246120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F6FB2"/>
                </a:solidFill>
                <a:latin typeface="Segoe UI"/>
              </a:rPr>
              <a:t>ASSOCIATIVE ENTITY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23960" y="3520439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B7B"/>
                </a:solidFill>
                <a:latin typeface="Segoe UI"/>
              </a:rPr>
              <a:t>membership_seat is the M:N link promoted to an entity with its own life cycle.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3960" y="4572000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F6FB2"/>
                </a:solidFill>
                <a:latin typeface="Segoe UI"/>
              </a:rPr>
              <a:t>LEDGER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23960" y="484632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B7B"/>
                </a:solidFill>
                <a:latin typeface="Segoe UI"/>
              </a:rPr>
              <a:t>monthly_payout_log keys on (escrow_id, release_month): a month cannot be paid twice.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6382512"/>
            <a:ext cx="10817352" cy="9144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645566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Segoe UI"/>
              </a:rPr>
              <a:t>DOTE 6751  ·  Group Project  ·  SubSplit  ·  November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6455664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Segoe UI"/>
              </a:rP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6FB2"/>
                </a:solidFill>
                <a:latin typeface="Segoe UI"/>
              </a:rPr>
              <a:t>05  ·  DATABASE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E2A47"/>
                </a:solidFill>
                <a:latin typeface="Georgia"/>
              </a:rPr>
              <a:t>The group and its credential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89888"/>
            <a:ext cx="10241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B7B"/>
                </a:solidFill>
                <a:latin typeface="Segoe UI"/>
              </a:rPr>
              <a:t>One host, one product, one credential: the 1:1 that makes a shared household auditable.</a:t>
            </a:r>
          </a:p>
        </p:txBody>
      </p:sp>
      <p:pic>
        <p:nvPicPr>
          <p:cNvPr id="5" name="Picture 4" descr="ERD_module_gro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221" y="1783080"/>
            <a:ext cx="7056916" cy="3931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0" y="1920240"/>
            <a:ext cx="3246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F6FB2"/>
                </a:solidFill>
                <a:latin typeface="Segoe UI"/>
              </a:rPr>
              <a:t>1:1 BY CONSTRUCTION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2194560"/>
            <a:ext cx="3246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A6B7B"/>
                </a:solidFill>
                <a:latin typeface="Segoe UI"/>
              </a:rPr>
              <a:t>group_id is both the primary key and the foreign key of credential_vault — a second vault for the same group is impossible.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3291840"/>
            <a:ext cx="3246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F6FB2"/>
                </a:solidFill>
                <a:latin typeface="Segoe UI"/>
              </a:rPr>
              <a:t>CAPACITY IS A PRODUCT FACT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3566160"/>
            <a:ext cx="3246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A6B7B"/>
                </a:solidFill>
                <a:latin typeface="Segoe UI"/>
              </a:rPr>
              <a:t>max_seats lives in digital_service, never copied into the group; the trigger joins to read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4663440"/>
            <a:ext cx="3246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F6FB2"/>
                </a:solidFill>
                <a:latin typeface="Segoe UI"/>
              </a:rPr>
              <a:t>EVERY CHANGE IS JOURNALLED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4937759"/>
            <a:ext cx="3246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A6B7B"/>
                </a:solidFill>
                <a:latin typeface="Segoe UI"/>
              </a:rPr>
              <a:t>trg_password_log writes a row whenever password_updated_at moves.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6382512"/>
            <a:ext cx="10817352" cy="9144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645566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Segoe UI"/>
              </a:rPr>
              <a:t>DOTE 6751  ·  Group Project  ·  SubSplit  ·  November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6455664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Segoe UI"/>
              </a:rP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6FB2"/>
                </a:solidFill>
                <a:latin typeface="Segoe UI"/>
              </a:rPr>
              <a:t>06  ·  DATABASE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E2A47"/>
                </a:solidFill>
                <a:latin typeface="Georgia"/>
              </a:rPr>
              <a:t>Seats, escrow and the monthly ledger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89888"/>
            <a:ext cx="10241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B7B"/>
                </a:solidFill>
                <a:latin typeface="Segoe UI"/>
              </a:rPr>
              <a:t>Money has three homes: what was prepaid, what has been released, and what is still owed.</a:t>
            </a:r>
          </a:p>
        </p:txBody>
      </p:sp>
      <p:pic>
        <p:nvPicPr>
          <p:cNvPr id="5" name="Picture 4" descr="ERD_module_esc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1246" y="1737360"/>
            <a:ext cx="4727106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21040" y="1920240"/>
            <a:ext cx="3337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F6FB2"/>
                </a:solidFill>
                <a:latin typeface="Segoe UI"/>
              </a:rPr>
              <a:t>1:1 SEAT → ESCROW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2194560"/>
            <a:ext cx="3337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A6B7B"/>
                </a:solidFill>
                <a:latin typeface="Segoe UI"/>
              </a:rPr>
              <a:t>seat_id is unique in escrow_payment, so a seat has exactly one pot of money.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3291840"/>
            <a:ext cx="3337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F6FB2"/>
                </a:solidFill>
                <a:latin typeface="Segoe UI"/>
              </a:rPr>
              <a:t>BALANCE IS A CACHE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3566160"/>
            <a:ext cx="3337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A6B7B"/>
                </a:solidFill>
                <a:latin typeface="Segoe UI"/>
              </a:rPr>
              <a:t>remaining = total − released is a CHECK, not an assumption; Q11 audits every row.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4663440"/>
            <a:ext cx="3337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F6FB2"/>
                </a:solidFill>
                <a:latin typeface="Segoe UI"/>
              </a:rPr>
              <a:t>COMPLAINT FREEZES MONEY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4937759"/>
            <a:ext cx="3337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A6B7B"/>
                </a:solidFill>
                <a:latin typeface="Segoe UI"/>
              </a:rPr>
              <a:t>a dispute never deletes a payout; it changes escrow_status and blocks the next release.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6382512"/>
            <a:ext cx="10817352" cy="9144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645566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Segoe UI"/>
              </a:rPr>
              <a:t>DOTE 6751  ·  Group Project  ·  SubSplit  ·  November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6455664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Segoe UI"/>
              </a:rP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6FB2"/>
                </a:solidFill>
                <a:latin typeface="Segoe UI"/>
              </a:rPr>
              <a:t>07  ·  DATABASE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E2A47"/>
                </a:solidFill>
                <a:latin typeface="Georgia"/>
              </a:rPr>
              <a:t>What each table is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89888"/>
            <a:ext cx="10241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B7B"/>
                </a:solidFill>
                <a:latin typeface="Segoe UI"/>
              </a:rPr>
              <a:t>Eleven tables, 76 attributes. Every one of them answers a question the business actually asks.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920240"/>
          <a:ext cx="6949440" cy="41605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57400"/>
                <a:gridCol w="960120"/>
                <a:gridCol w="3931920"/>
              </a:tblGrid>
              <a:tr h="34671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Table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Rows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Why it exists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</a:tr>
              <a:tr h="34671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app_user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300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identity, role, credit score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671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payment_method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379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several instruments, one default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</a:tr>
              <a:tr h="34671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digital_service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product dictionary: brand, region, seat ceiling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671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carpool_group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60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one host reselling one product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</a:tr>
              <a:tr h="34671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credential_vault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60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the household credential (weak entity)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671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membership_seat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300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who sits where, for how long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</a:tr>
              <a:tr h="34671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escrow_payment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300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the prepayment held for one seat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671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monthly_payout_log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2,172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every release, with its fee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</a:tr>
              <a:tr h="34671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password_change_log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74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credential history, for risk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671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dispute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33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complaints and their state machine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</a:tr>
              <a:tr h="34671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credit_event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109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why the score moved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001000" y="2057400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F6FB2"/>
                </a:solidFill>
                <a:latin typeface="Segoe UI"/>
              </a:rPr>
              <a:t>READING THE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0" y="2359152"/>
            <a:ext cx="356616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B7B"/>
                </a:solidFill>
                <a:latin typeface="Segoe UI"/>
              </a:rPr>
              <a:t>Three of the eleven are history tables — they exist because a value is not enough, the sequence matters: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B7B"/>
                </a:solidFill>
                <a:latin typeface="Segoe UI"/>
              </a:rPr>
              <a:t/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B7B"/>
                </a:solidFill>
                <a:latin typeface="Segoe UI"/>
              </a:rPr>
              <a:t>· password_change_log answers “how many times in 30 days”, which a single timestamp cannot.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B7B"/>
                </a:solidFill>
                <a:latin typeface="Segoe UI"/>
              </a:rPr>
              <a:t/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B7B"/>
                </a:solidFill>
                <a:latin typeface="Segoe UI"/>
              </a:rPr>
              <a:t>· monthly_payout_log answers “how much has actually been paid”, and makes double payment impossible.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B7B"/>
                </a:solidFill>
                <a:latin typeface="Segoe UI"/>
              </a:rPr>
              <a:t/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B7B"/>
                </a:solidFill>
                <a:latin typeface="Segoe UI"/>
              </a:rPr>
              <a:t>· credit_event answers “why is this host at 60”, which a number alone cannot.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382512"/>
            <a:ext cx="10817352" cy="9144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5566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Segoe UI"/>
              </a:rPr>
              <a:t>DOTE 6751  ·  Group Project  ·  SubSplit  ·  November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455664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Segoe UI"/>
              </a:rP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6FB2"/>
                </a:solidFill>
                <a:latin typeface="Segoe UI"/>
              </a:rPr>
              <a:t>08  ·  SQL QUERIES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E2A47"/>
                </a:solidFill>
                <a:latin typeface="Georgia"/>
              </a:rPr>
              <a:t>Eighteen queries, six on stage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89888"/>
            <a:ext cx="10241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B7B"/>
                </a:solidFill>
                <a:latin typeface="Segoe UI"/>
              </a:rPr>
              <a:t>Three families: lookups a member runs, analysis the business runs, and controls that only make sense over time.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20240"/>
            <a:ext cx="3401568" cy="932688"/>
          </a:xfrm>
          <a:prstGeom prst="roundRect">
            <a:avLst>
              <a:gd name="adj" fmla="val 6000"/>
            </a:avLst>
          </a:prstGeom>
          <a:solidFill>
            <a:srgbClr val="F3F7FA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201168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6FB2"/>
                </a:solidFill>
                <a:latin typeface="Georgia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18488" y="202996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E2A47"/>
                </a:solidFill>
                <a:latin typeface="Segoe UI"/>
              </a:rPr>
              <a:t>LOOKUPS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18488" y="230428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A6B7B"/>
                </a:solidFill>
                <a:latin typeface="Segoe UI"/>
              </a:rPr>
              <a:t>find a group, a seat, a credential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920240"/>
            <a:ext cx="3401568" cy="932688"/>
          </a:xfrm>
          <a:prstGeom prst="roundRect">
            <a:avLst>
              <a:gd name="adj" fmla="val 6000"/>
            </a:avLst>
          </a:prstGeom>
          <a:solidFill>
            <a:srgbClr val="F3F7FA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62856" y="201168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6FB2"/>
                </a:solidFill>
                <a:latin typeface="Georgia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76088" y="202996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E2A47"/>
                </a:solidFill>
                <a:latin typeface="Segoe UI"/>
              </a:rPr>
              <a:t>BUSINESS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76088" y="230428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A6B7B"/>
                </a:solidFill>
                <a:latin typeface="Segoe UI"/>
              </a:rPr>
              <a:t>revenue, fill time, refunds, ranking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920240"/>
            <a:ext cx="3401568" cy="932688"/>
          </a:xfrm>
          <a:prstGeom prst="roundRect">
            <a:avLst>
              <a:gd name="adj" fmla="val 6000"/>
            </a:avLst>
          </a:prstGeom>
          <a:solidFill>
            <a:srgbClr val="F3F7FA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0456" y="201168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6FB2"/>
                </a:solidFill>
                <a:latin typeface="Georgia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33688" y="202996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E2A47"/>
                </a:solidFill>
                <a:latin typeface="Segoe UI"/>
              </a:rPr>
              <a:t>ADVANCED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33688" y="230428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A6B7B"/>
                </a:solidFill>
                <a:latin typeface="Segoe UI"/>
              </a:rPr>
              <a:t>CTEs, windows, anti-joins, audits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090672"/>
            <a:ext cx="5943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F6FB2"/>
                </a:solidFill>
                <a:latin typeface="Segoe UI"/>
              </a:rPr>
              <a:t>Q01  ·  PRECISE SEAT HUNTING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364992"/>
            <a:ext cx="6035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2A47"/>
                </a:solidFill>
                <a:latin typeface="Georgia"/>
              </a:rPr>
              <a:t>Recruiting groups on Spotify Hong Kong, exactly one seat left, host with a perfect score.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977639"/>
            <a:ext cx="5943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0E2A47"/>
                </a:solidFill>
                <a:latin typeface="Consolas"/>
              </a:rPr>
              <a:t>SELECT g.group_id, ds.brand, g.seat_price, u.credit_score,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0E2A47"/>
                </a:solidFill>
                <a:latin typeface="Consolas"/>
              </a:rPr>
              <a:t>       COUNT(s.seat_id) AS seats_taken,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0E2A47"/>
                </a:solidFill>
                <a:latin typeface="Consolas"/>
              </a:rPr>
              <a:t>       ds.max_seats - COUNT(s.seat_id) AS seats_left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0E2A47"/>
                </a:solidFill>
                <a:latin typeface="Consolas"/>
              </a:rPr>
              <a:t>FROM carpool_group g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0E2A47"/>
                </a:solidFill>
                <a:latin typeface="Consolas"/>
              </a:rPr>
              <a:t>JOIN digital_service ds USING (service_id)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0E2A47"/>
                </a:solidFill>
                <a:latin typeface="Consolas"/>
              </a:rPr>
              <a:t>JOIN app_user u ON u.user_id = g.host_id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0E2A47"/>
                </a:solidFill>
                <a:latin typeface="Consolas"/>
              </a:rPr>
              <a:t>LEFT JOIN membership_seat 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0E2A47"/>
                </a:solidFill>
                <a:latin typeface="Consolas"/>
              </a:rPr>
              <a:t>  ON s.group_id = g.group_id AND s.seat_status = 'ACTIVE'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0E2A47"/>
                </a:solidFill>
                <a:latin typeface="Consolas"/>
              </a:rPr>
              <a:t>WHERE g.status = 'RECRUITING' AND ds.brand = 'Spotify'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0E2A47"/>
                </a:solidFill>
                <a:latin typeface="Consolas"/>
              </a:rPr>
              <a:t>  AND ds.region = 'HK' AND u.credit_score = 100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0E2A47"/>
                </a:solidFill>
                <a:latin typeface="Consolas"/>
              </a:rPr>
              <a:t>GROUP BY g.group_id, ds.brand, g.seat_price, u.credit_score, ds.max_seats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0E2A47"/>
                </a:solidFill>
                <a:latin typeface="Consolas"/>
              </a:rPr>
              <a:t>HAVING seats_left = 1;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7452360" y="3246120"/>
          <a:ext cx="4023360" cy="12344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14400"/>
                <a:gridCol w="914400"/>
                <a:gridCol w="1371600"/>
                <a:gridCol w="822960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Segoe UI"/>
                        </a:rPr>
                        <a:t>group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Segoe UI"/>
                        </a:rPr>
                        <a:t>price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Segoe UI"/>
                        </a:rPr>
                        <a:t>host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Segoe UI"/>
                        </a:rPr>
                        <a:t>seats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E2A47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E2A47"/>
                          </a:solidFill>
                          <a:latin typeface="Segoe UI"/>
                        </a:rPr>
                        <a:t>20.22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E2A47"/>
                          </a:solidFill>
                          <a:latin typeface="Segoe UI"/>
                        </a:rPr>
                        <a:t>Olivia CHU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E2A47"/>
                          </a:solidFill>
                          <a:latin typeface="Segoe UI"/>
                        </a:rPr>
                        <a:t>5/6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E2A47"/>
                          </a:solidFill>
                          <a:latin typeface="Segoe UI"/>
                        </a:rPr>
                        <a:t>46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E2A47"/>
                          </a:solidFill>
                          <a:latin typeface="Segoe UI"/>
                        </a:rPr>
                        <a:t>21.63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E2A47"/>
                          </a:solidFill>
                          <a:latin typeface="Segoe UI"/>
                        </a:rPr>
                        <a:t>Peter ZHANG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E2A47"/>
                          </a:solidFill>
                          <a:latin typeface="Segoe UI"/>
                        </a:rPr>
                        <a:t>5/6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7452360" y="4663440"/>
            <a:ext cx="4023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B7B"/>
                </a:solidFill>
                <a:latin typeface="Segoe UI"/>
              </a:rPr>
              <a:t>The search is narrow by design: a member with a year of money at stake wants the one group that is about to fill and whose host has never defaulted.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6382512"/>
            <a:ext cx="10817352" cy="9144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645566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Segoe UI"/>
              </a:rPr>
              <a:t>DOTE 6751  ·  Group Project  ·  SubSplit  ·  November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6455664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Segoe UI"/>
              </a:rP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6FB2"/>
                </a:solidFill>
                <a:latin typeface="Segoe UI"/>
              </a:rPr>
              <a:t>09  ·  SQL QUERIES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E2A47"/>
                </a:solidFill>
                <a:latin typeface="Georgia"/>
              </a:rPr>
              <a:t>Fraud is a pattern, not a payment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89888"/>
            <a:ext cx="10241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B7B"/>
                </a:solidFill>
                <a:latin typeface="Segoe UI"/>
              </a:rPr>
              <a:t>Q05 joins credential history to complaints and returns the queue an administrator should open first.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874519"/>
          <a:ext cx="9418320" cy="1828799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822960"/>
                <a:gridCol w="2103120"/>
                <a:gridCol w="1737360"/>
                <a:gridCol w="1371600"/>
                <a:gridCol w="822960"/>
                <a:gridCol w="1188720"/>
                <a:gridCol w="1371600"/>
              </a:tblGrid>
              <a:tr h="261257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Segoe UI"/>
                        </a:rPr>
                        <a:t>group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Segoe UI"/>
                        </a:rPr>
                        <a:t>host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Segoe UI"/>
                        </a:rPr>
                        <a:t>service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Segoe UI"/>
                        </a:rPr>
                        <a:t>score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Segoe UI"/>
                        </a:rPr>
                        <a:t>pwd / 30d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Segoe UI"/>
                        </a:rPr>
                        <a:t>complaints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</a:tr>
              <a:tr h="261257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26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Lok TSANG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Disney+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ACTIVE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60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61257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34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Jason MA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Netflix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ACTIVE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39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</a:tr>
              <a:tr h="261257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Mandy FUNG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Disney+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FULL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60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61257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Mei MA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Spotify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RECRUITING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60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</a:tr>
              <a:tr h="261257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Grace CHAN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Netflix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ACTIVE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60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61257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35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Yitong CHEUNG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Apple One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FULL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30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3931920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F6FB2"/>
                </a:solidFill>
                <a:latin typeface="Segoe UI"/>
              </a:rPr>
              <a:t>READ IT AS A RULE, NOT A 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224528"/>
            <a:ext cx="107899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B7B"/>
                </a:solidFill>
                <a:latin typeface="Segoe UI"/>
              </a:rPr>
              <a:t>Three credential changes in thirty days is what a host does when a paying member has been locked out. Two “cannot log in” complaints on the same group is what the members do next.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B7B"/>
                </a:solidFill>
                <a:latin typeface="Segoe UI"/>
              </a:rPr>
              <a:t/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B7B"/>
                </a:solidFill>
                <a:latin typeface="Segoe UI"/>
              </a:rPr>
              <a:t>The query deliberately does not refund, suspend or punish: it produces a ranked queue. The decision stays with an administrator, and the state machine in dispute makes that decision visible.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53212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F6FB2"/>
                </a:solidFill>
                <a:latin typeface="Georgia"/>
              </a:rP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897880"/>
            <a:ext cx="3017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9A6"/>
                </a:solidFill>
                <a:latin typeface="Segoe UI"/>
              </a:rPr>
              <a:t>DISPUTES ON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553212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F6FB2"/>
                </a:solidFill>
                <a:latin typeface="Georgia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5897880"/>
            <a:ext cx="3017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9A6"/>
                </a:solidFill>
                <a:latin typeface="Segoe UI"/>
              </a:rPr>
              <a:t>GROUPS FLAGGED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553212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F6FB2"/>
                </a:solidFill>
                <a:latin typeface="Georgia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5897880"/>
            <a:ext cx="3017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9A6"/>
                </a:solidFill>
                <a:latin typeface="Segoe UI"/>
              </a:rPr>
              <a:t>AUTOMATIC REFUNDS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6382512"/>
            <a:ext cx="10817352" cy="9144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645566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Segoe UI"/>
              </a:rPr>
              <a:t>DOTE 6751  ·  Group Project  ·  SubSplit  ·  November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6455664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Segoe UI"/>
              </a:rP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6FB2"/>
                </a:solidFill>
                <a:latin typeface="Segoe UI"/>
              </a:rPr>
              <a:t>10  ·  SQL QUERIES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E2A47"/>
                </a:solidFill>
                <a:latin typeface="Georgia"/>
              </a:rPr>
              <a:t>What the platform earns, and what people actually buy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89888"/>
            <a:ext cx="10241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B7B"/>
                </a:solidFill>
                <a:latin typeface="Segoe UI"/>
              </a:rPr>
              <a:t>Q04 aggregates the ledger by month; Q02 ranks services by the seats students occupy.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94360" y="1874519"/>
          <a:ext cx="640080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5349240"/>
            <a:ext cx="6217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B7B"/>
                </a:solidFill>
                <a:latin typeface="Segoe UI"/>
              </a:rPr>
              <a:t>Peak month: HK$176 in fees. The August dip is a month with fewer releases, not a decline in the business.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60920" y="1920240"/>
          <a:ext cx="4114800" cy="19659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03120"/>
                <a:gridCol w="1097280"/>
                <a:gridCol w="914400"/>
              </a:tblGrid>
              <a:tr h="32766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Segoe UI"/>
                        </a:rPr>
                        <a:t>service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Segoe UI"/>
                        </a:rPr>
                        <a:t>seats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Segoe UI"/>
                        </a:rPr>
                        <a:t>groups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</a:tr>
              <a:tr h="32766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Netflix HK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42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766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ChatGPT HK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26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</a:tr>
              <a:tr h="32766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YouTube HK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24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766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Spotify US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22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</a:tr>
              <a:tr h="32766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Spotify HK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20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60920" y="4069080"/>
            <a:ext cx="4114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B7B"/>
                </a:solidFill>
                <a:latin typeface="Segoe UI"/>
              </a:rPr>
              <a:t>Netflix-HK leads because it has the widest price gap between the individual plan and a six-seat family plan — the same gap that motivates the platform.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6382512"/>
            <a:ext cx="10817352" cy="9144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5566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Segoe UI"/>
              </a:rPr>
              <a:t>DOTE 6751  ·  Group Project  ·  SubSplit  ·  November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0" y="6455664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Segoe U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6FB2"/>
                </a:solidFill>
                <a:latin typeface="Segoe UI"/>
              </a:rPr>
              <a:t>11  ·  SQL QUERIES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E2A47"/>
                </a:solidFill>
                <a:latin typeface="Georgia"/>
              </a:rPr>
              <a:t>Two questions that only make sense over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89888"/>
            <a:ext cx="10241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B7B"/>
                </a:solidFill>
                <a:latin typeface="Segoe UI"/>
              </a:rPr>
              <a:t>Both need a window function: one looks at the previous month, the other at the previous row in the same escrow.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74519"/>
            <a:ext cx="5303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F6FB2"/>
                </a:solidFill>
                <a:latin typeface="Segoe UI"/>
              </a:rPr>
              <a:t>Q10  ·  CONSECUTIVE BLOCKED MONTHS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48840"/>
            <a:ext cx="5303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B7B"/>
                </a:solidFill>
                <a:latin typeface="Segoe UI"/>
              </a:rPr>
              <a:t>LAG(payout_status) over each escrow finds groups that stopped paying twice in a row — a stronger signal than a single blocked month.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926080"/>
            <a:ext cx="53035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0E2A47"/>
                </a:solidFill>
                <a:latin typeface="Consolas"/>
              </a:rPr>
              <a:t>WITH ledger AS (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0E2A47"/>
                </a:solidFill>
                <a:latin typeface="Consolas"/>
              </a:rPr>
              <a:t>  SELECT escrow_id, release_month, payout_status,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0E2A47"/>
                </a:solidFill>
                <a:latin typeface="Consolas"/>
              </a:rPr>
              <a:t>         LAG(payout_status) OVER (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0E2A47"/>
                </a:solidFill>
                <a:latin typeface="Consolas"/>
              </a:rPr>
              <a:t>           PARTITION BY escrow_id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0E2A47"/>
                </a:solidFill>
                <a:latin typeface="Consolas"/>
              </a:rPr>
              <a:t>           ORDER BY release_month) AS prev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0E2A47"/>
                </a:solidFill>
                <a:latin typeface="Consolas"/>
              </a:rPr>
              <a:t>  FROM monthly_payout_log)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0E2A47"/>
                </a:solidFill>
                <a:latin typeface="Consolas"/>
              </a:rPr>
              <a:t>SELECT escrow_id, release_month FROM ledger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0E2A47"/>
                </a:solidFill>
                <a:latin typeface="Consolas"/>
              </a:rPr>
              <a:t>WHERE payout_status = 'BLOCKED'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0E2A47"/>
                </a:solidFill>
                <a:latin typeface="Consolas"/>
              </a:rPr>
              <a:t>  AND prev = 'BLOCKED';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663440"/>
            <a:ext cx="5303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B7B"/>
                </a:solidFill>
                <a:latin typeface="Segoe UI"/>
              </a:rPr>
              <a:t>26 rows across the seeded data — every one of them belongs to a group already under dispute.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874519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F6FB2"/>
                </a:solidFill>
                <a:latin typeface="Segoe UI"/>
              </a:rPr>
              <a:t>Q17  ·  MONTH-OVER-MONTH FEE GROWTH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148840"/>
            <a:ext cx="51206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B7B"/>
                </a:solidFill>
                <a:latin typeface="Segoe UI"/>
              </a:rPr>
              <a:t>LAG over an aggregated month series: the fee this month compared with the fee last month, in one pass.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355080" y="2926080"/>
          <a:ext cx="4754880" cy="187451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371600"/>
                <a:gridCol w="1188720"/>
                <a:gridCol w="1188720"/>
                <a:gridCol w="1005840"/>
              </a:tblGrid>
              <a:tr h="267788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Segoe UI"/>
                        </a:rPr>
                        <a:t>month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Segoe UI"/>
                        </a:rPr>
                        <a:t>fee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Segoe UI"/>
                        </a:rPr>
                        <a:t>prev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Segoe UI"/>
                        </a:rPr>
                        <a:t>Δ %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</a:tr>
              <a:tr h="26778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E2A47"/>
                          </a:solidFill>
                          <a:latin typeface="Segoe UI"/>
                        </a:rPr>
                        <a:t>2026-04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0E2A47"/>
                          </a:solidFill>
                          <a:latin typeface="Segoe UI"/>
                        </a:rPr>
                        <a:t>138.86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0E2A47"/>
                          </a:solidFill>
                          <a:latin typeface="Segoe UI"/>
                        </a:rPr>
                        <a:t>135.19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0E2A47"/>
                          </a:solidFill>
                          <a:latin typeface="Segoe UI"/>
                        </a:rPr>
                        <a:t>2.7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6778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E2A47"/>
                          </a:solidFill>
                          <a:latin typeface="Segoe UI"/>
                        </a:rPr>
                        <a:t>2026-05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0E2A47"/>
                          </a:solidFill>
                          <a:latin typeface="Segoe UI"/>
                        </a:rPr>
                        <a:t>147.11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0E2A47"/>
                          </a:solidFill>
                          <a:latin typeface="Segoe UI"/>
                        </a:rPr>
                        <a:t>138.86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0E2A47"/>
                          </a:solidFill>
                          <a:latin typeface="Segoe UI"/>
                        </a:rPr>
                        <a:t>5.9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</a:tr>
              <a:tr h="26778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E2A47"/>
                          </a:solidFill>
                          <a:latin typeface="Segoe UI"/>
                        </a:rPr>
                        <a:t>2026-06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0E2A47"/>
                          </a:solidFill>
                          <a:latin typeface="Segoe UI"/>
                        </a:rPr>
                        <a:t>176.09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0E2A47"/>
                          </a:solidFill>
                          <a:latin typeface="Segoe UI"/>
                        </a:rPr>
                        <a:t>147.11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0E2A47"/>
                          </a:solidFill>
                          <a:latin typeface="Segoe UI"/>
                        </a:rPr>
                        <a:t>19.7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6778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E2A47"/>
                          </a:solidFill>
                          <a:latin typeface="Segoe UI"/>
                        </a:rPr>
                        <a:t>2026-07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0E2A47"/>
                          </a:solidFill>
                          <a:latin typeface="Segoe UI"/>
                        </a:rPr>
                        <a:t>168.06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0E2A47"/>
                          </a:solidFill>
                          <a:latin typeface="Segoe UI"/>
                        </a:rPr>
                        <a:t>176.09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0E2A47"/>
                          </a:solidFill>
                          <a:latin typeface="Segoe UI"/>
                        </a:rPr>
                        <a:t>-4.6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</a:tr>
              <a:tr h="26778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E2A47"/>
                          </a:solidFill>
                          <a:latin typeface="Segoe UI"/>
                        </a:rPr>
                        <a:t>2026-08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0E2A47"/>
                          </a:solidFill>
                          <a:latin typeface="Segoe UI"/>
                        </a:rPr>
                        <a:t>140.59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0E2A47"/>
                          </a:solidFill>
                          <a:latin typeface="Segoe UI"/>
                        </a:rPr>
                        <a:t>168.06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0E2A47"/>
                          </a:solidFill>
                          <a:latin typeface="Segoe UI"/>
                        </a:rPr>
                        <a:t>-16.3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6778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E2A47"/>
                          </a:solidFill>
                          <a:latin typeface="Segoe UI"/>
                        </a:rPr>
                        <a:t>2026-09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0E2A47"/>
                          </a:solidFill>
                          <a:latin typeface="Segoe UI"/>
                        </a:rPr>
                        <a:t>168.24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0E2A47"/>
                          </a:solidFill>
                          <a:latin typeface="Segoe UI"/>
                        </a:rPr>
                        <a:t>140.59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0E2A47"/>
                          </a:solidFill>
                          <a:latin typeface="Segoe UI"/>
                        </a:rPr>
                        <a:t>19.7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355080" y="498348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B7B"/>
                </a:solidFill>
                <a:latin typeface="Segoe UI"/>
              </a:rPr>
              <a:t>Both are plain SELECTs: nothing is precomputed, nothing is cached.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57784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2A47"/>
                </a:solidFill>
                <a:latin typeface="Georgia"/>
              </a:rPr>
              <a:t>The same function answers two different questions — that is the point of learning it once, not twice.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6382512"/>
            <a:ext cx="10817352" cy="9144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645566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Segoe UI"/>
              </a:rPr>
              <a:t>DOTE 6751  ·  Group Project  ·  SubSplit  ·  November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6455664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Segoe UI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6FB2"/>
                </a:solidFill>
                <a:latin typeface="Segoe UI"/>
              </a:rPr>
              <a:t>12  · 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E2A47"/>
                </a:solidFill>
                <a:latin typeface="Georgia"/>
              </a:rPr>
              <a:t>What this design does not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89888"/>
            <a:ext cx="10241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B7B"/>
                </a:solidFill>
                <a:latin typeface="Segoe UI"/>
              </a:rPr>
              <a:t>Honest scope, and the three places we would go next.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3383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F6FB2"/>
                </a:solidFill>
                <a:latin typeface="Segoe UI"/>
              </a:rPr>
              <a:t>MODELLED, NOT IMPLEMENTED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304288"/>
            <a:ext cx="822960" cy="27432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514600"/>
            <a:ext cx="3291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B7B"/>
                </a:solidFill>
                <a:latin typeface="Segoe UI"/>
              </a:rPr>
              <a:t>—  Escrow as a state machine, not a payment gateway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383280"/>
            <a:ext cx="3291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B7B"/>
                </a:solidFill>
                <a:latin typeface="Segoe UI"/>
              </a:rPr>
              <a:t>—  Credential as encrypted text, not a secrets manager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251960"/>
            <a:ext cx="3291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B7B"/>
                </a:solidFill>
                <a:latin typeface="Segoe UI"/>
              </a:rPr>
              <a:t>—  Host bill verification as a date, not a process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61688" y="2011680"/>
            <a:ext cx="3383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F6FB2"/>
                </a:solidFill>
                <a:latin typeface="Segoe UI"/>
              </a:rPr>
              <a:t>KNOWN LIMITS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61688" y="2304288"/>
            <a:ext cx="822960" cy="27432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1688" y="2514600"/>
            <a:ext cx="3291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B7B"/>
                </a:solidFill>
                <a:latin typeface="Segoe UI"/>
              </a:rPr>
              <a:t>—  No partial months: leave on day 20, keep the month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8" y="3383280"/>
            <a:ext cx="3291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B7B"/>
                </a:solidFill>
                <a:latin typeface="Segoe UI"/>
              </a:rPr>
              <a:t>—  No cross-region pricing: comparisons stay within a region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1688" y="4251960"/>
            <a:ext cx="3291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B7B"/>
                </a:solidFill>
                <a:latin typeface="Segoe UI"/>
              </a:rPr>
              <a:t>—  A determined host can still lie — we only make it visible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37575" y="2011680"/>
            <a:ext cx="3383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F6FB2"/>
                </a:solidFill>
                <a:latin typeface="Segoe UI"/>
              </a:rPr>
              <a:t>NEXT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7575" y="2304288"/>
            <a:ext cx="822960" cy="27432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7575" y="2514600"/>
            <a:ext cx="3291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B7B"/>
                </a:solidFill>
                <a:latin typeface="Segoe UI"/>
              </a:rPr>
              <a:t>—  Materialised view for the market listing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7575" y="3383280"/>
            <a:ext cx="3291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B7B"/>
                </a:solidFill>
                <a:latin typeface="Segoe UI"/>
              </a:rPr>
              <a:t>—  Partition the ledger by year once it passes ~10M rows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37575" y="4251960"/>
            <a:ext cx="3291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B7B"/>
                </a:solidFill>
                <a:latin typeface="Segoe UI"/>
              </a:rPr>
              <a:t>—  Archival policy for CLOSED groups older than two years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44068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2A47"/>
                </a:solidFill>
                <a:latin typeface="Georgia"/>
              </a:rPr>
              <a:t>Every limit above is a decision we made on purpose, and each has a next step — which is why the design is finished, not unfinished.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6382512"/>
            <a:ext cx="10817352" cy="9144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645566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Segoe UI"/>
              </a:rPr>
              <a:t>DOTE 6751  ·  Group Project  ·  SubSplit  ·  November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6455664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Segoe UI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6FB2"/>
                </a:solidFill>
                <a:latin typeface="Segoe UI"/>
              </a:rPr>
              <a:t>13  ·  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E2A47"/>
                </a:solidFill>
                <a:latin typeface="Georgia"/>
              </a:rPr>
              <a:t>Task allocation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89888"/>
            <a:ext cx="10241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B7B"/>
                </a:solidFill>
                <a:latin typeface="Segoe UI"/>
              </a:rPr>
              <a:t>Seven members, one schema. Hours are estimates agreed at the start; difficulty is 1–5.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920240"/>
          <a:ext cx="10789920" cy="32461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03120"/>
                <a:gridCol w="1737360"/>
                <a:gridCol w="4937760"/>
                <a:gridCol w="1005840"/>
                <a:gridCol w="1005840"/>
              </a:tblGrid>
              <a:tr h="40576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Student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ID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Task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Difficulty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Hours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</a:tr>
              <a:tr h="405765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Xuanmo AN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1155260677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Conceptual E-R model: entities, relationships, cardinality limits, weak-entity decision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05765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Yi HOU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1155261383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E-R to relations: §6.7 mapping rules, key placement, 3NF/BCNF proof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</a:tr>
              <a:tr h="405765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Zhao Han HUANG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1155272384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DDL and integrity constraints: CHECK, unique keys, referential actions, indexes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05765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Jinyu LI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1155261567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Triggers and views: seat ceiling, default instrument, credential journal, balance upkeep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</a:tr>
              <a:tr h="405765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Yitong NI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1155265810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Deterministic seed generator and the transaction episodes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05765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Shujing YE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1155261750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Eighteen queries: grouping, window functions, CTEs, result capture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54864" marR="54864" marT="18288" marB="18288" anchor="ctr">
                    <a:solidFill>
                      <a:srgbClr val="F3F7FA"/>
                    </a:solidFill>
                  </a:tcPr>
                </a:tc>
              </a:tr>
              <a:tr h="405765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Shiyao ZHANG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1155261823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Acceptance suite, fault injection and ledger reconciliation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E2A47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539496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B7B"/>
                </a:solidFill>
                <a:latin typeface="Segoe UI"/>
              </a:rPr>
              <a:t>Total 79 hours. Difficulty follows the number of concepts a task touches, not the number of lines written.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82512"/>
            <a:ext cx="10817352" cy="9144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5566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Segoe UI"/>
              </a:rPr>
              <a:t>DOTE 6751  ·  Group Project  ·  SubSplit  ·  November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455664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Segoe UI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6FB2"/>
                </a:solidFill>
                <a:latin typeface="Segoe UI"/>
              </a:rPr>
              <a:t>14  ·  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E2A47"/>
                </a:solidFill>
                <a:latin typeface="Georgia"/>
              </a:rPr>
              <a:t>If you ask us this, here is the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89888"/>
            <a:ext cx="10241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B7B"/>
                </a:solidFill>
                <a:latin typeface="Segoe UI"/>
              </a:rPr>
              <a:t>Prepared responses to the seven questions this design invites.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74519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A47"/>
                </a:solidFill>
                <a:latin typeface="Segoe UI"/>
              </a:rPr>
              <a:t>Why store the balance if it is derivable?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48839"/>
            <a:ext cx="5212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5A6B7B"/>
                </a:solidFill>
                <a:latin typeface="Segoe UI"/>
              </a:rPr>
              <a:t>It is read on every dashboard view; the ledger is written monthly. A CHECK makes the identity enforceable, and Q11 audits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74519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A47"/>
                </a:solidFill>
                <a:latin typeface="Segoe UI"/>
              </a:rPr>
              <a:t>Why manual review instead of auto-refund?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48839"/>
            <a:ext cx="5212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5A6B7B"/>
                </a:solidFill>
                <a:latin typeface="Segoe UI"/>
              </a:rPr>
              <a:t>Two coordinated friends could drain any host. Detection is automatable; judgement is not.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71800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A47"/>
                </a:solidFill>
                <a:latin typeface="Segoe UI"/>
              </a:rPr>
              <a:t>Is this 3NF?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246120"/>
            <a:ext cx="5212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5A6B7B"/>
                </a:solidFill>
                <a:latin typeface="Segoe UI"/>
              </a:rPr>
              <a:t>BCNF everywhere. The proof lists every functional dependency and every candidate key.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971800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A47"/>
                </a:solidFill>
                <a:latin typeface="Segoe UI"/>
              </a:rPr>
              <a:t>Why not NoSQL?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3246120"/>
            <a:ext cx="5212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5A6B7B"/>
                </a:solidFill>
                <a:latin typeface="Segoe UI"/>
              </a:rPr>
              <a:t>Money, seats and state transitions need multi-row invariants; that is the relational model's home ground.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069079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A47"/>
                </a:solidFill>
                <a:latin typeface="Segoe UI"/>
              </a:rPr>
              <a:t>How do you stop double-selling a seat?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343399"/>
            <a:ext cx="5212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5A6B7B"/>
                </a:solidFill>
                <a:latin typeface="Segoe UI"/>
              </a:rPr>
              <a:t>UNIQUE(group_id, member_id) plus a trigger that counts seats against digital_service.max_seats.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4069079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A47"/>
                </a:solidFill>
                <a:latin typeface="Segoe UI"/>
              </a:rPr>
              <a:t>What happens if a host deletes the account?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4343399"/>
            <a:ext cx="5212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5A6B7B"/>
                </a:solidFill>
                <a:latin typeface="Segoe UI"/>
              </a:rPr>
              <a:t>RESTRICT on carpool_group.host_id: the group must be closed and its escrow settled first.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166359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A47"/>
                </a:solidFill>
                <a:latin typeface="Segoe UI"/>
              </a:rPr>
              <a:t>Where is the evidence it runs?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440679"/>
            <a:ext cx="5212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5A6B7B"/>
                </a:solidFill>
                <a:latin typeface="Segoe UI"/>
              </a:rPr>
              <a:t>subsplit_db on MySQL 8.0.40; every query executed, results saved in query_results/.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6382512"/>
            <a:ext cx="10817352" cy="9144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645566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Segoe UI"/>
              </a:rPr>
              <a:t>DOTE 6751  ·  Group Project  ·  SubSplit  ·  November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6455664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6"/>
                </a:solidFill>
                <a:latin typeface="Segoe UI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