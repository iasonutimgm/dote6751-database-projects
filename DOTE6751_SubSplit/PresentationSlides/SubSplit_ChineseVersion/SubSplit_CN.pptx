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Platform fee (HK$)</c:v>
                </c:pt>
              </c:strCache>
            </c:strRef>
          </c:tx>
          <c:spPr>
            <a:ln w="25400">
              <a:solidFill>
                <a:srgbClr val="1F6FB2"/>
              </a:solidFill>
            </a:ln>
          </c:spPr>
          <c:cat>
            <c:strRef>
              <c:f>Sheet1!$A$2:$A$9</c:f>
              <c:strCache>
                <c:ptCount val="8"/>
                <c:pt idx="0">
                  <c:v>2026-02</c:v>
                </c:pt>
                <c:pt idx="1">
                  <c:v>2026-03</c:v>
                </c:pt>
                <c:pt idx="2">
                  <c:v>2026-04</c:v>
                </c:pt>
                <c:pt idx="3">
                  <c:v>2026-05</c:v>
                </c:pt>
                <c:pt idx="4">
                  <c:v>2026-06</c:v>
                </c:pt>
                <c:pt idx="5">
                  <c:v>2026-07</c:v>
                </c:pt>
                <c:pt idx="6">
                  <c:v>2026-08</c:v>
                </c:pt>
                <c:pt idx="7">
                  <c:v>2026-09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113.93</c:v>
                </c:pt>
                <c:pt idx="1">
                  <c:v>135.19</c:v>
                </c:pt>
                <c:pt idx="2">
                  <c:v>138.86</c:v>
                </c:pt>
                <c:pt idx="3">
                  <c:v>147.11</c:v>
                </c:pt>
                <c:pt idx="4">
                  <c:v>176.09</c:v>
                </c:pt>
                <c:pt idx="5">
                  <c:v>168.06</c:v>
                </c:pt>
                <c:pt idx="6">
                  <c:v>140.59</c:v>
                </c:pt>
                <c:pt idx="7">
                  <c:v>168.24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solidFill>
            <a:srgbClr val="5A6B7B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price gap, not with the technology. Six seats cost about one and a half individual subscriptions, so the discount is real — the problem is that the six people are strangers. Say the project name once and move on; the model comes on slide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fears, one slide. The member loses a year of money to a password change; the host spends every month chasing small transfers. Land on the sentence at the bottom: the design question is not how to split a bill, it is how to make a promise enforceable.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four steps left to right, slowly: the platform never takes ownership of the subscription, it takes custody of the money. Then point at the card: HK$26,113 is still held right now, and 58% has already been released. That number is live from the database, not illustrative.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read the ERD out loud. Point at three things: the weak entity at the right, the seat table in the middle, and the ledger at the bottom. Say that eleven boxes on one page is a map, and the next two slides zoom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module that makes the platform auditable: one group, one credential, one source of truth for the seat ceiling. The key sentence is that group_id is both the primary key and the foreign key — so a second vault for the same group cannot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Money module. Trace one seat: the member prepays, the escrow holds it, the ledger releases one twelfth. The CHECK constraint is the reason a careless UPDATE cannot invent money.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quick reference table, not a slide to read. Say the row counts out loud once — 300 members, 60 groups, 2,172 releases — because it proves the data is real. Then move to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the shape of the 18 queries, then narrow to Q01. The point of Q01 is not the SQL, it is the narrowness: one seat left, host with a perfect score. Read the two result rows, then go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to slow down on. Explain the two conditions as a story: a host keeps changing the password, and two members cannot get in. The query returns six groups; it does not punish anyone. The decision is human.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charts: what the platform earns, and what people buy. Mention that the last month is excluded from the chart because it has only started — otherwise the line looks like a crash. Netflix-HK leads because its price gap is the widest.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queries use LAG, for two different questions. If someone asks what a window function is, say: an aggregate that keeps the row, so you can compare a row with its neighbour.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 here, and specific. Every bullet is a decision, not an excuse. End on the closing line — the design is finished, not unfinished.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Appendix, not presented. If asked, say the hours are estimates agreed before the work started, and the difficulty follows the number of concepts a task touches.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if there is time or a question. The first three answers are the ones most likely to be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6FB2"/>
                </a:solidFill>
                <a:latin typeface="微软雅黑"/>
                <a:ea typeface="微软雅黑"/>
              </a:rPr>
              <a:t>D O T E   6 7 5 1   ·   小 组 作 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0E2A47"/>
                </a:solidFill>
                <a:latin typeface="Georgia"/>
              </a:rPr>
              <a:t>SubSplit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74980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5A6B7B"/>
                </a:solidFill>
                <a:latin typeface="微软雅黑"/>
                <a:ea typeface="微软雅黑"/>
              </a:rPr>
              <a:t>带资金托管的订阅拼车平台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675887"/>
            <a:ext cx="2011680" cy="320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8595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6B7B"/>
                </a:solidFill>
                <a:latin typeface="微软雅黑"/>
                <a:ea typeface="微软雅黑"/>
              </a:rPr>
              <a:t>家庭版按六个人定价，可多数订阅者凑不齐六个人。SubSplit 让五个陌生人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6B7B"/>
                </a:solidFill>
                <a:latin typeface="微软雅黑"/>
                <a:ea typeface="微软雅黑"/>
              </a:rPr>
              <a:t>敢买下剩下的座位——钱放托管池，按月释放，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6B7B"/>
                </a:solidFill>
                <a:latin typeface="微软雅黑"/>
                <a:ea typeface="微软雅黑"/>
              </a:rPr>
              <a:t>双方都留着一份可以拿出来的记录。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5778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A47"/>
                </a:solidFill>
                <a:latin typeface="微软雅黑"/>
                <a:ea typeface="微软雅黑"/>
              </a:rPr>
              <a:t>2026 年 11 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7044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9A6"/>
                </a:solidFill>
                <a:latin typeface="Segoe UI"/>
              </a:rPr>
              <a:t>Xuanmo AN   ·   Yi HOU   ·   Zhao Han HUANG   ·   Jinyu LI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9A6"/>
                </a:solidFill>
                <a:latin typeface="Segoe UI"/>
              </a:rPr>
              <a:t>Yitong NI   ·   Shujing YE   ·   Shiyao ZHANG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50749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2A47"/>
                </a:solidFill>
                <a:latin typeface="Georgia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544982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9A6"/>
                </a:solidFill>
                <a:latin typeface="微软雅黑"/>
                <a:ea typeface="微软雅黑"/>
              </a:rPr>
              <a:t>个关系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2952" y="50749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2A47"/>
                </a:solidFill>
                <a:latin typeface="Georgia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2952" y="544982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9A6"/>
                </a:solidFill>
                <a:latin typeface="微软雅黑"/>
                <a:ea typeface="微软雅黑"/>
              </a:rPr>
              <a:t>个外键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73384" y="50749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2A47"/>
                </a:solidFill>
                <a:latin typeface="Georgia"/>
              </a:rP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73384" y="544982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9A6"/>
                </a:solidFill>
                <a:latin typeface="微软雅黑"/>
                <a:ea typeface="微软雅黑"/>
              </a:rPr>
              <a:t>条查询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6382512"/>
            <a:ext cx="10817352" cy="9144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645566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微软雅黑"/>
                <a:ea typeface="微软雅黑"/>
              </a:rPr>
              <a:t>DOTE 6751  ·  小组作业  ·  SubSplit  ·  2026 年 11 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45566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6FB2"/>
                </a:solidFill>
                <a:latin typeface="微软雅黑"/>
                <a:ea typeface="微软雅黑"/>
              </a:rPr>
              <a:t>02  ·  动机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2A47"/>
                </a:solidFill>
                <a:latin typeface="微软雅黑"/>
                <a:ea typeface="微软雅黑"/>
              </a:rPr>
              <a:t>给没有家庭的人，一个家庭版的价格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B"/>
                </a:solidFill>
                <a:latin typeface="微软雅黑"/>
                <a:ea typeface="微软雅黑"/>
              </a:rPr>
              <a:t>六座只要一份半的钱。这份折扣预设了一种还不存在的信任。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84831"/>
            <a:ext cx="5349240" cy="2395728"/>
          </a:xfrm>
          <a:prstGeom prst="roundRect">
            <a:avLst>
              <a:gd name="adj" fmla="val 3500"/>
            </a:avLst>
          </a:prstGeom>
          <a:solidFill>
            <a:srgbClr val="F3F7FA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2331720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6FB2"/>
                </a:solidFill>
                <a:latin typeface="微软雅黑"/>
                <a:ea typeface="微软雅黑"/>
              </a:rPr>
              <a:t>乘 客 的 风 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2670048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E2A47"/>
                </a:solidFill>
                <a:latin typeface="微软雅黑"/>
                <a:ea typeface="微软雅黑"/>
              </a:rPr>
              <a:t>付了一年的钱，手里什么都没有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3273552"/>
            <a:ext cx="461772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B7B"/>
                </a:solidFill>
                <a:latin typeface="微软雅黑"/>
                <a:ea typeface="微软雅黑"/>
              </a:rPr>
              <a:t>账号在车主手里。改一次密码、悄无声息地踢掉一个人，一年的钱就落在一个没有义务回应你的陌生人手里。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084831"/>
            <a:ext cx="5349240" cy="2395728"/>
          </a:xfrm>
          <a:prstGeom prst="roundRect">
            <a:avLst>
              <a:gd name="adj" fmla="val 3500"/>
            </a:avLst>
          </a:prstGeom>
          <a:solidFill>
            <a:srgbClr val="F3F7FA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56832" y="2331720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6FB2"/>
                </a:solidFill>
                <a:latin typeface="微软雅黑"/>
                <a:ea typeface="微软雅黑"/>
              </a:rPr>
              <a:t>车 主 的 负 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2" y="2670048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E2A47"/>
                </a:solidFill>
                <a:latin typeface="微软雅黑"/>
                <a:ea typeface="微软雅黑"/>
              </a:rPr>
              <a:t>每月五笔小转账，比收租还麻烦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2" y="3273552"/>
            <a:ext cx="461772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B7B"/>
                </a:solidFill>
                <a:latin typeface="微软雅黑"/>
                <a:ea typeface="微软雅黑"/>
              </a:rPr>
              <a:t>五个人，每人每月一笔小钱。为了 HK$18 去催朋友，尴尬的成本比钱本身还高。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13892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2A47"/>
                </a:solidFill>
                <a:latin typeface="微软雅黑"/>
                <a:ea typeface="微软雅黑"/>
              </a:rPr>
              <a:t>所以设计要回答的，不是怎么分账。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55955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6FB2"/>
                </a:solidFill>
                <a:latin typeface="微软雅黑"/>
                <a:ea typeface="微软雅黑"/>
              </a:rPr>
              <a:t>而是怎么让陌生人的承诺可执行——靠数据库，不靠人情。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6382512"/>
            <a:ext cx="10817352" cy="9144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45566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微软雅黑"/>
                <a:ea typeface="微软雅黑"/>
              </a:rPr>
              <a:t>DOTE 6751  ·  小组作业  ·  SubSplit  ·  2026 年 11 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645566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6FB2"/>
                </a:solidFill>
                <a:latin typeface="微软雅黑"/>
                <a:ea typeface="微软雅黑"/>
              </a:rPr>
              <a:t>03  ·  业务背景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2A47"/>
                </a:solidFill>
                <a:latin typeface="微软雅黑"/>
                <a:ea typeface="微软雅黑"/>
              </a:rPr>
              <a:t>一个车队怎么运转，钱在哪里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B"/>
                </a:solidFill>
                <a:latin typeface="微软雅黑"/>
                <a:ea typeface="微软雅黑"/>
              </a:rPr>
              <a:t>六个座位，预付十二个月，钱进托管池，按月释放。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920240"/>
            <a:ext cx="10817352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0392" y="2578608"/>
            <a:ext cx="10972" cy="402335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4088" y="2231136"/>
            <a:ext cx="310896" cy="310896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2221991"/>
            <a:ext cx="5577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A47"/>
                </a:solidFill>
                <a:latin typeface="微软雅黑"/>
                <a:ea typeface="微软雅黑"/>
              </a:rPr>
              <a:t>车主验证账单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496312"/>
            <a:ext cx="5669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微软雅黑"/>
                <a:ea typeface="微软雅黑"/>
              </a:rPr>
              <a:t>平台核对官方账单之后，车队才会上线。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" y="3346703"/>
            <a:ext cx="10972" cy="402335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4088" y="2999232"/>
            <a:ext cx="310896" cy="310896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990087"/>
            <a:ext cx="5577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A47"/>
                </a:solidFill>
                <a:latin typeface="微软雅黑"/>
                <a:ea typeface="微软雅黑"/>
              </a:rPr>
              <a:t>开团，放出六个座位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264408"/>
            <a:ext cx="5669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微软雅黑"/>
                <a:ea typeface="微软雅黑"/>
              </a:rPr>
              <a:t>车主定下每座每月价格；车队状态显示为招募中。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" y="4114800"/>
            <a:ext cx="10972" cy="402335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4088" y="3767327"/>
            <a:ext cx="310896" cy="310896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758183"/>
            <a:ext cx="5577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A47"/>
                </a:solidFill>
                <a:latin typeface="微软雅黑"/>
                <a:ea typeface="微软雅黑"/>
              </a:rPr>
              <a:t>乘客预付十二个月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4032503"/>
            <a:ext cx="5669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微软雅黑"/>
                <a:ea typeface="微软雅黑"/>
              </a:rPr>
              <a:t>钱进托管池——不进车主的账户。</a:t>
            </a:r>
          </a:p>
        </p:txBody>
      </p:sp>
      <p:sp>
        <p:nvSpPr>
          <p:cNvPr id="18" name="Oval 17"/>
          <p:cNvSpPr/>
          <p:nvPr/>
        </p:nvSpPr>
        <p:spPr>
          <a:xfrm>
            <a:off x="704088" y="4535423"/>
            <a:ext cx="310896" cy="310896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4526279"/>
            <a:ext cx="5577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A47"/>
                </a:solidFill>
                <a:latin typeface="微软雅黑"/>
                <a:ea typeface="微软雅黑"/>
              </a:rPr>
              <a:t>平台每月释放 1/12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4800599"/>
            <a:ext cx="5669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微软雅黑"/>
                <a:ea typeface="微软雅黑"/>
              </a:rPr>
              <a:t>每个周期付给车主一个月，平台留 5% 手续费。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2157984"/>
            <a:ext cx="4370832" cy="3127248"/>
          </a:xfrm>
          <a:prstGeom prst="roundRect">
            <a:avLst>
              <a:gd name="adj" fmla="val 3500"/>
            </a:avLst>
          </a:prstGeom>
          <a:solidFill>
            <a:srgbClr val="F3F7FA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2359152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6"/>
                </a:solidFill>
                <a:latin typeface="微软雅黑"/>
                <a:ea typeface="微软雅黑"/>
              </a:rPr>
              <a:t>托 管 池   ·   全 部 车 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615184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Georgia"/>
              </a:rPr>
              <a:t>HK$26,113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3145536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B7B"/>
                </a:solidFill>
                <a:latin typeface="微软雅黑"/>
                <a:ea typeface="微软雅黑"/>
              </a:rPr>
              <a:t>300 个座位中，仍由平台代持的金额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3456432"/>
            <a:ext cx="3822191" cy="128016"/>
          </a:xfrm>
          <a:prstGeom prst="rect">
            <a:avLst/>
          </a:prstGeom>
          <a:solidFill>
            <a:srgbClr val="DCE5EE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06640" y="3456432"/>
            <a:ext cx="2201582" cy="128016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3639312"/>
            <a:ext cx="382219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B7B"/>
                </a:solidFill>
                <a:latin typeface="微软雅黑"/>
                <a:ea typeface="微软雅黑"/>
              </a:rPr>
              <a:t>58% 已释放给车主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4041648"/>
            <a:ext cx="3822191" cy="9144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4169664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B7B"/>
                </a:solidFill>
                <a:latin typeface="微软雅黑"/>
                <a:ea typeface="微软雅黑"/>
              </a:rPr>
              <a:t>会员预付总额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4169664"/>
            <a:ext cx="1901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A47"/>
                </a:solidFill>
                <a:latin typeface="Segoe UI"/>
              </a:rPr>
              <a:t>HK$61,577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445312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B7B"/>
                </a:solidFill>
                <a:latin typeface="微软雅黑"/>
                <a:ea typeface="微软雅黑"/>
              </a:rPr>
              <a:t>已释放给车主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4453128"/>
            <a:ext cx="1901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A47"/>
                </a:solidFill>
                <a:latin typeface="Segoe UI"/>
              </a:rPr>
              <a:t>HK$35,464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4736592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B7B"/>
                </a:solidFill>
                <a:latin typeface="微软雅黑"/>
                <a:ea typeface="微软雅黑"/>
              </a:rPr>
              <a:t>平台手续费（5%）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4736592"/>
            <a:ext cx="1901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A47"/>
                </a:solidFill>
                <a:latin typeface="Segoe UI"/>
              </a:rPr>
              <a:t>HK$1,772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4992624"/>
            <a:ext cx="382219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F6FB2"/>
                </a:solidFill>
                <a:latin typeface="微软雅黑"/>
                <a:ea typeface="微软雅黑"/>
              </a:rPr>
              <a:t>一旦有人投诉，立即冻结。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5504688"/>
            <a:ext cx="2615184" cy="658368"/>
          </a:xfrm>
          <a:prstGeom prst="roundRect">
            <a:avLst>
              <a:gd name="adj" fmla="val 9000"/>
            </a:avLst>
          </a:prstGeom>
          <a:solidFill>
            <a:srgbClr val="F3F7FA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" y="5577840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6FB2"/>
                </a:solidFill>
                <a:latin typeface="Segoe U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5897880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微软雅黑"/>
                <a:ea typeface="微软雅黑"/>
              </a:rPr>
              <a:t>每队座位数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74720" y="5504688"/>
            <a:ext cx="2615184" cy="658368"/>
          </a:xfrm>
          <a:prstGeom prst="roundRect">
            <a:avLst>
              <a:gd name="adj" fmla="val 9000"/>
            </a:avLst>
          </a:prstGeom>
          <a:solidFill>
            <a:srgbClr val="F3F7FA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94176" y="5577840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6FB2"/>
                </a:solidFill>
                <a:latin typeface="Segoe UI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94176" y="5897880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微软雅黑"/>
                <a:ea typeface="微软雅黑"/>
              </a:rPr>
              <a:t>预付月数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5504688"/>
            <a:ext cx="2615184" cy="658368"/>
          </a:xfrm>
          <a:prstGeom prst="roundRect">
            <a:avLst>
              <a:gd name="adj" fmla="val 9000"/>
            </a:avLst>
          </a:prstGeom>
          <a:solidFill>
            <a:srgbClr val="F3F7FA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83096" y="5577840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6FB2"/>
                </a:solidFill>
                <a:latin typeface="Segoe UI"/>
              </a:rPr>
              <a:t>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83096" y="5897880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微软雅黑"/>
                <a:ea typeface="微软雅黑"/>
              </a:rPr>
              <a:t>平台费率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52559" y="5504688"/>
            <a:ext cx="2615184" cy="658368"/>
          </a:xfrm>
          <a:prstGeom prst="roundRect">
            <a:avLst>
              <a:gd name="adj" fmla="val 9000"/>
            </a:avLst>
          </a:prstGeom>
          <a:solidFill>
            <a:srgbClr val="F3F7FA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72015" y="5577840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6FB2"/>
                </a:solidFill>
                <a:latin typeface="Segoe UI"/>
              </a:rPr>
              <a:t>1/12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72015" y="5897880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微软雅黑"/>
                <a:ea typeface="微软雅黑"/>
              </a:rPr>
              <a:t>每月释放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" y="6382512"/>
            <a:ext cx="10817352" cy="9144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645566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微软雅黑"/>
                <a:ea typeface="微软雅黑"/>
              </a:rPr>
              <a:t>DOTE 6751  ·  小组作业  ·  SubSplit  ·  2026 年 11 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92640" y="645566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6FB2"/>
                </a:solidFill>
                <a:latin typeface="微软雅黑"/>
                <a:ea typeface="微软雅黑"/>
              </a:rPr>
              <a:t>04  ·  数据库结构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2A47"/>
                </a:solidFill>
                <a:latin typeface="微软雅黑"/>
                <a:ea typeface="微软雅黑"/>
              </a:rPr>
              <a:t>11 张表，15 个外键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B"/>
                </a:solidFill>
                <a:latin typeface="微软雅黑"/>
                <a:ea typeface="微软雅黑"/>
              </a:rPr>
              <a:t>先看全貌。后面按模块放大——11 个盒子堆在一页，那叫地图，不叫图。</a:t>
            </a:r>
          </a:p>
        </p:txBody>
      </p:sp>
      <p:pic>
        <p:nvPicPr>
          <p:cNvPr id="5" name="Picture 4" descr="ERD_logical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376" y="1755648"/>
            <a:ext cx="8014686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23960" y="192024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6FB2"/>
                </a:solidFill>
                <a:latin typeface="微软雅黑"/>
                <a:ea typeface="微软雅黑"/>
              </a:rPr>
              <a:t>弱 实 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219456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B7B"/>
                </a:solidFill>
                <a:latin typeface="微软雅黑"/>
                <a:ea typeface="微软雅黑"/>
              </a:rPr>
              <a:t>credential_vault 借用 group_id 作自己的主键——没有车队，就没有凭证。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324612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6FB2"/>
                </a:solidFill>
                <a:latin typeface="微软雅黑"/>
                <a:ea typeface="微软雅黑"/>
              </a:rPr>
              <a:t>关 联 实 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3520439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B7B"/>
                </a:solidFill>
                <a:latin typeface="微软雅黑"/>
                <a:ea typeface="微软雅黑"/>
              </a:rPr>
              <a:t>membership_seat 本是 M:N 联系，因为有生命周期，被提升成实体。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457200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6FB2"/>
                </a:solidFill>
                <a:latin typeface="微软雅黑"/>
                <a:ea typeface="微软雅黑"/>
              </a:rPr>
              <a:t>流 水 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48463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B7B"/>
                </a:solidFill>
                <a:latin typeface="微软雅黑"/>
                <a:ea typeface="微软雅黑"/>
              </a:rPr>
              <a:t>monthly_payout_log 以 (escrow_id, release_month) 为主键：同一个月不可能付两次。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382512"/>
            <a:ext cx="10817352" cy="9144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45566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微软雅黑"/>
                <a:ea typeface="微软雅黑"/>
              </a:rPr>
              <a:t>DOTE 6751  ·  小组作业  ·  SubSplit  ·  2026 年 11 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645566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6FB2"/>
                </a:solidFill>
                <a:latin typeface="微软雅黑"/>
                <a:ea typeface="微软雅黑"/>
              </a:rPr>
              <a:t>05  ·  数据库结构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2A47"/>
                </a:solidFill>
                <a:latin typeface="微软雅黑"/>
                <a:ea typeface="微软雅黑"/>
              </a:rPr>
              <a:t>车队与它的凭证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B"/>
                </a:solidFill>
                <a:latin typeface="微软雅黑"/>
                <a:ea typeface="微软雅黑"/>
              </a:rPr>
              <a:t>一个车主、一个产品、一份凭证：这个 1:1 让“共享家庭”可审计。</a:t>
            </a:r>
          </a:p>
        </p:txBody>
      </p:sp>
      <p:pic>
        <p:nvPicPr>
          <p:cNvPr id="5" name="Picture 4" descr="ERD_module_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221" y="1783080"/>
            <a:ext cx="7056916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92024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6FB2"/>
                </a:solidFill>
                <a:latin typeface="微软雅黑"/>
                <a:ea typeface="微软雅黑"/>
              </a:rPr>
              <a:t>1:1 由结构保证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194560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A6B7B"/>
                </a:solidFill>
                <a:latin typeface="微软雅黑"/>
                <a:ea typeface="微软雅黑"/>
              </a:rPr>
              <a:t>group_id 既是 credential_vault 的主键也是外键——同一车队不可能有第二份凭证。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329184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6FB2"/>
                </a:solidFill>
                <a:latin typeface="微软雅黑"/>
                <a:ea typeface="微软雅黑"/>
              </a:rPr>
              <a:t>容量是产品的属性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3566160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A6B7B"/>
                </a:solidFill>
                <a:latin typeface="微软雅黑"/>
                <a:ea typeface="微软雅黑"/>
              </a:rPr>
              <a:t>max_seats 只存在 digital_service 里，从不复制进车队；触发器 join 过去读。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466344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6FB2"/>
                </a:solidFill>
                <a:latin typeface="微软雅黑"/>
                <a:ea typeface="微软雅黑"/>
              </a:rPr>
              <a:t>每次改动都有流水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937759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A6B7B"/>
                </a:solidFill>
                <a:latin typeface="微软雅黑"/>
                <a:ea typeface="微软雅黑"/>
              </a:rPr>
              <a:t>password_updated_at 一动，trg_password_log 就写一行。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382512"/>
            <a:ext cx="10817352" cy="9144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45566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微软雅黑"/>
                <a:ea typeface="微软雅黑"/>
              </a:rPr>
              <a:t>DOTE 6751  ·  小组作业  ·  SubSplit  ·  2026 年 11 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645566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6FB2"/>
                </a:solidFill>
                <a:latin typeface="微软雅黑"/>
                <a:ea typeface="微软雅黑"/>
              </a:rPr>
              <a:t>06  ·  数据库结构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2A47"/>
                </a:solidFill>
                <a:latin typeface="微软雅黑"/>
                <a:ea typeface="微软雅黑"/>
              </a:rPr>
              <a:t>座位、托管与月度流水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B"/>
                </a:solidFill>
                <a:latin typeface="微软雅黑"/>
                <a:ea typeface="微软雅黑"/>
              </a:rPr>
              <a:t>钱有三个去处：已预付的、已释放的、还欠着的。</a:t>
            </a:r>
          </a:p>
        </p:txBody>
      </p:sp>
      <p:pic>
        <p:nvPicPr>
          <p:cNvPr id="5" name="Picture 4" descr="ERD_module_esc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246" y="1737360"/>
            <a:ext cx="4727106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920240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6FB2"/>
                </a:solidFill>
                <a:latin typeface="微软雅黑"/>
                <a:ea typeface="微软雅黑"/>
              </a:rPr>
              <a:t>座位 1:1 托管单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2194560"/>
            <a:ext cx="3337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A6B7B"/>
                </a:solidFill>
                <a:latin typeface="微软雅黑"/>
                <a:ea typeface="微软雅黑"/>
              </a:rPr>
              <a:t>escrow_payment 里 seat_id 唯一，所以一个座位只有一个钱袋。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3291840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6FB2"/>
                </a:solidFill>
                <a:latin typeface="微软雅黑"/>
                <a:ea typeface="微软雅黑"/>
              </a:rPr>
              <a:t>余额是缓存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3566160"/>
            <a:ext cx="3337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A6B7B"/>
                </a:solidFill>
                <a:latin typeface="微软雅黑"/>
                <a:ea typeface="微软雅黑"/>
              </a:rPr>
              <a:t>remaining = total − released 是 CHECK，不是假设；Q11 逐行对账。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4663440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6FB2"/>
                </a:solidFill>
                <a:latin typeface="微软雅黑"/>
                <a:ea typeface="微软雅黑"/>
              </a:rPr>
              <a:t>投诉即冻结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4937759"/>
            <a:ext cx="3337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A6B7B"/>
                </a:solidFill>
                <a:latin typeface="微软雅黑"/>
                <a:ea typeface="微软雅黑"/>
              </a:rPr>
              <a:t>争议不删除任何已付记录；它改 escrow_status，挡住下一次释放。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382512"/>
            <a:ext cx="10817352" cy="9144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45566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微软雅黑"/>
                <a:ea typeface="微软雅黑"/>
              </a:rPr>
              <a:t>DOTE 6751  ·  小组作业  ·  SubSplit  ·  2026 年 11 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645566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6FB2"/>
                </a:solidFill>
                <a:latin typeface="微软雅黑"/>
                <a:ea typeface="微软雅黑"/>
              </a:rPr>
              <a:t>07  ·  数据库结构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2A47"/>
                </a:solidFill>
                <a:latin typeface="微软雅黑"/>
                <a:ea typeface="微软雅黑"/>
              </a:rPr>
              <a:t>每张表是干什么的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B"/>
                </a:solidFill>
                <a:latin typeface="微软雅黑"/>
                <a:ea typeface="微软雅黑"/>
              </a:rPr>
              <a:t>11 张表、76 个属性。每一张都在回答业务真正会问的问题。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920240"/>
          <a:ext cx="6949440" cy="41605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57400"/>
                <a:gridCol w="960120"/>
                <a:gridCol w="3931920"/>
              </a:tblGrid>
              <a:tr h="34671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表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行数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存在的理由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</a:tr>
              <a:tr h="34671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app_user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300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微软雅黑"/>
                          <a:ea typeface="微软雅黑"/>
                        </a:rPr>
                        <a:t>身份、角色、信用分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671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payment_method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379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微软雅黑"/>
                          <a:ea typeface="微软雅黑"/>
                        </a:rPr>
                        <a:t>多种支付方式，只有一个默认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</a:tr>
              <a:tr h="34671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digital_service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微软雅黑"/>
                          <a:ea typeface="微软雅黑"/>
                        </a:rPr>
                        <a:t>产品字典：品牌、地区、座位上限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671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carpool_group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60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微软雅黑"/>
                          <a:ea typeface="微软雅黑"/>
                        </a:rPr>
                        <a:t>一个车主转售一个产品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</a:tr>
              <a:tr h="34671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credential_vault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微软雅黑"/>
                          <a:ea typeface="微软雅黑"/>
                        </a:rPr>
                        <a:t>家庭组凭证（弱实体）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671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membership_seat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300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微软雅黑"/>
                          <a:ea typeface="微软雅黑"/>
                        </a:rPr>
                        <a:t>谁坐在哪、坐多久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</a:tr>
              <a:tr h="34671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escrow_payment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300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微软雅黑"/>
                          <a:ea typeface="微软雅黑"/>
                        </a:rPr>
                        <a:t>为单个座位代持的预付款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671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monthly_payout_log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2,172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微软雅黑"/>
                          <a:ea typeface="微软雅黑"/>
                        </a:rPr>
                        <a:t>每一次释放，连同手续费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</a:tr>
              <a:tr h="34671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password_change_log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74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微软雅黑"/>
                          <a:ea typeface="微软雅黑"/>
                        </a:rPr>
                        <a:t>凭证变更历史，供风控使用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671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dispute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33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微软雅黑"/>
                          <a:ea typeface="微软雅黑"/>
                        </a:rPr>
                        <a:t>投诉及其状态机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</a:tr>
              <a:tr h="34671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credit_event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109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微软雅黑"/>
                          <a:ea typeface="微软雅黑"/>
                        </a:rPr>
                        <a:t>信用分为什么变了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01000" y="2057400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6FB2"/>
                </a:solidFill>
                <a:latin typeface="微软雅黑"/>
                <a:ea typeface="微软雅黑"/>
              </a:rPr>
              <a:t>读 这 张 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2359152"/>
            <a:ext cx="35661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微软雅黑"/>
                <a:ea typeface="微软雅黑"/>
              </a:rPr>
              <a:t>11 张里有 3 张是历史表——因为光有一个值不够，顺序本身有意义：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Segoe U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微软雅黑"/>
                <a:ea typeface="微软雅黑"/>
              </a:rPr>
              <a:t>· password_change_log 回答“30 天内改了几次”，单个时间戳答不了。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Segoe U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微软雅黑"/>
                <a:ea typeface="微软雅黑"/>
              </a:rPr>
              <a:t>· monthly_payout_log 回答“到底付了多少”，并让重复支付不可能发生。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Segoe U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微软雅黑"/>
                <a:ea typeface="微软雅黑"/>
              </a:rPr>
              <a:t>· credit_event 回答“这个车主为什么是 60 分”，一个数字答不了。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82512"/>
            <a:ext cx="10817352" cy="9144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5566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微软雅黑"/>
                <a:ea typeface="微软雅黑"/>
              </a:rPr>
              <a:t>DOTE 6751  ·  小组作业  ·  SubSplit  ·  2026 年 11 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5566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6FB2"/>
                </a:solidFill>
                <a:latin typeface="微软雅黑"/>
                <a:ea typeface="微软雅黑"/>
              </a:rPr>
              <a:t>08  ·  SQL 查询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2A47"/>
                </a:solidFill>
                <a:latin typeface="微软雅黑"/>
                <a:ea typeface="微软雅黑"/>
              </a:rPr>
              <a:t>18 条查询，台上讲 6 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B"/>
                </a:solidFill>
                <a:latin typeface="微软雅黑"/>
                <a:ea typeface="微软雅黑"/>
              </a:rPr>
              <a:t>三类：会员会用的查询、业务会看的分析、只有放在时间轴上才有意义的控制。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3401568" cy="932688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0116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6FB2"/>
                </a:solidFill>
                <a:latin typeface="Georgia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8488" y="202996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2A47"/>
                </a:solidFill>
                <a:latin typeface="微软雅黑"/>
                <a:ea typeface="微软雅黑"/>
              </a:rPr>
              <a:t>查询类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8488" y="23042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B7B"/>
                </a:solidFill>
                <a:latin typeface="微软雅黑"/>
                <a:ea typeface="微软雅黑"/>
              </a:rPr>
              <a:t>找车队、找座位、看凭证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920240"/>
            <a:ext cx="3401568" cy="932688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20116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6FB2"/>
                </a:solidFill>
                <a:latin typeface="Georgia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6088" y="202996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2A47"/>
                </a:solidFill>
                <a:latin typeface="微软雅黑"/>
                <a:ea typeface="微软雅黑"/>
              </a:rPr>
              <a:t>业务类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6088" y="23042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B7B"/>
                </a:solidFill>
                <a:latin typeface="微软雅黑"/>
                <a:ea typeface="微软雅黑"/>
              </a:rPr>
              <a:t>收入、满员耗时、退款、排名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920240"/>
            <a:ext cx="3401568" cy="932688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0456" y="20116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6FB2"/>
                </a:solidFill>
                <a:latin typeface="Georgia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3688" y="202996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2A47"/>
                </a:solidFill>
                <a:latin typeface="微软雅黑"/>
                <a:ea typeface="微软雅黑"/>
              </a:rPr>
              <a:t>进阶类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33688" y="23042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B7B"/>
                </a:solidFill>
                <a:latin typeface="微软雅黑"/>
                <a:ea typeface="微软雅黑"/>
              </a:rPr>
              <a:t>CTE、窗口函数、反连接、对账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0672"/>
            <a:ext cx="5943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6FB2"/>
                </a:solidFill>
                <a:latin typeface="微软雅黑"/>
                <a:ea typeface="微软雅黑"/>
              </a:rPr>
              <a:t>Q01  ·  精 准 找 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64992"/>
            <a:ext cx="6035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A47"/>
                </a:solidFill>
                <a:latin typeface="微软雅黑"/>
                <a:ea typeface="微软雅黑"/>
              </a:rPr>
              <a:t>Spotify 港区、招募中、正好差一个座位、车主信用满分。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977639"/>
            <a:ext cx="5943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0E2A47"/>
                </a:solidFill>
                <a:latin typeface="Consolas"/>
              </a:rPr>
              <a:t>SELECT g.group_id, ds.brand, g.seat_price, u.credit_score,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0E2A47"/>
                </a:solidFill>
                <a:latin typeface="Consolas"/>
              </a:rPr>
              <a:t>       COUNT(s.seat_id) AS seats_taken,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0E2A47"/>
                </a:solidFill>
                <a:latin typeface="Consolas"/>
              </a:rPr>
              <a:t>       ds.max_seats - COUNT(s.seat_id) AS seats_left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0E2A47"/>
                </a:solidFill>
                <a:latin typeface="Consolas"/>
              </a:rPr>
              <a:t>FROM carpool_group g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0E2A47"/>
                </a:solidFill>
                <a:latin typeface="Consolas"/>
              </a:rPr>
              <a:t>JOIN digital_service ds USING (service_id)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0E2A47"/>
                </a:solidFill>
                <a:latin typeface="Consolas"/>
              </a:rPr>
              <a:t>JOIN app_user u ON u.user_id = g.host_id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0E2A47"/>
                </a:solidFill>
                <a:latin typeface="Consolas"/>
              </a:rPr>
              <a:t>LEFT JOIN membership_seat 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0E2A47"/>
                </a:solidFill>
                <a:latin typeface="Consolas"/>
              </a:rPr>
              <a:t>  ON s.group_id = g.group_id AND s.seat_status = 'ACTIVE'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0E2A47"/>
                </a:solidFill>
                <a:latin typeface="Consolas"/>
              </a:rPr>
              <a:t>WHERE g.status = 'RECRUITING' AND ds.brand = 'Spotify'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0E2A47"/>
                </a:solidFill>
                <a:latin typeface="Consolas"/>
              </a:rPr>
              <a:t>  AND ds.region = 'HK' AND u.credit_score = 100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0E2A47"/>
                </a:solidFill>
                <a:latin typeface="Consolas"/>
              </a:rPr>
              <a:t>GROUP BY g.group_id, ds.brand, g.seat_price, u.credit_score, ds.max_seats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0E2A47"/>
                </a:solidFill>
                <a:latin typeface="Consolas"/>
              </a:rPr>
              <a:t>HAVING seats_left = 1;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452360" y="3246120"/>
          <a:ext cx="4023360" cy="1234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4400"/>
                <a:gridCol w="914400"/>
                <a:gridCol w="1371600"/>
                <a:gridCol w="82296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车队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单价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车主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座位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20.22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Olivia CHU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5/6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46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21.63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Peter ZHANG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5/6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7452360" y="4663440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B7B"/>
                </a:solidFill>
                <a:latin typeface="微软雅黑"/>
                <a:ea typeface="微软雅黑"/>
              </a:rPr>
              <a:t>搜索范围窄是故意的：押了一年的钱，只想找那个马上满员、且车主从未失约的车队。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6382512"/>
            <a:ext cx="10817352" cy="9144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45566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微软雅黑"/>
                <a:ea typeface="微软雅黑"/>
              </a:rPr>
              <a:t>DOTE 6751  ·  小组作业  ·  SubSplit  ·  2026 年 11 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645566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6FB2"/>
                </a:solidFill>
                <a:latin typeface="微软雅黑"/>
                <a:ea typeface="微软雅黑"/>
              </a:rPr>
              <a:t>09  ·  SQL 查询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2A47"/>
                </a:solidFill>
                <a:latin typeface="微软雅黑"/>
                <a:ea typeface="微软雅黑"/>
              </a:rPr>
              <a:t>欺诈是模式，不是某一笔付款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B"/>
                </a:solidFill>
                <a:latin typeface="微软雅黑"/>
                <a:ea typeface="微软雅黑"/>
              </a:rPr>
              <a:t>Q05 把凭证历史和投诉连起来，返回管理员应该先打开的那份队列。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874519"/>
          <a:ext cx="9418320" cy="182879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22960"/>
                <a:gridCol w="2103120"/>
                <a:gridCol w="1737360"/>
                <a:gridCol w="1371600"/>
                <a:gridCol w="822960"/>
                <a:gridCol w="1188720"/>
                <a:gridCol w="1371600"/>
              </a:tblGrid>
              <a:tr h="261257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车队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车主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服务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状态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信用分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30 天改密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投诉数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Lok TSANG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Disney+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ACTIVE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34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Jason MA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Netflix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ACTIVE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39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Mandy FUNG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Disney+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FULL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Mei MA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Spotify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RECRUITING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60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Grace CHAN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Netflix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ACTIVE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35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Yitong CHEUNG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Apple One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FULL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30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3931920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6FB2"/>
                </a:solidFill>
                <a:latin typeface="微软雅黑"/>
                <a:ea typeface="微软雅黑"/>
              </a:rPr>
              <a:t>把 它 读 成 规 则， 不 是 评 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224528"/>
            <a:ext cx="107899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B7B"/>
                </a:solidFill>
                <a:latin typeface="微软雅黑"/>
                <a:ea typeface="微软雅黑"/>
              </a:rPr>
              <a:t>三十天内改三次密码，是车主把付了钱的会员锁在门外；同一个车队收到两条“登不上”的投诉，是会员接下来的反应。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B7B"/>
                </a:solidFill>
                <a:latin typeface="Segoe UI"/>
              </a:rPr>
              <a:t/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B7B"/>
                </a:solidFill>
                <a:latin typeface="微软雅黑"/>
                <a:ea typeface="微软雅黑"/>
              </a:rPr>
              <a:t>这条查询故意不退款、不停用、不惩罚：它只排出一份队列。决定权在管理员，dispute 状态机让这个决定留下痕迹。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5321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F6FB2"/>
                </a:solidFill>
                <a:latin typeface="Georgia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897880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9A6"/>
                </a:solidFill>
                <a:latin typeface="微软雅黑"/>
                <a:ea typeface="微软雅黑"/>
              </a:rPr>
              <a:t>在案投诉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55321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F6FB2"/>
                </a:solidFill>
                <a:latin typeface="Georgia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5897880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9A6"/>
                </a:solidFill>
                <a:latin typeface="微软雅黑"/>
                <a:ea typeface="微软雅黑"/>
              </a:rPr>
              <a:t>被标记车队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55321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F6FB2"/>
                </a:solidFill>
                <a:latin typeface="Georgia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5897880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9A6"/>
                </a:solidFill>
                <a:latin typeface="微软雅黑"/>
                <a:ea typeface="微软雅黑"/>
              </a:rPr>
              <a:t>自动退款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6382512"/>
            <a:ext cx="10817352" cy="9144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45566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微软雅黑"/>
                <a:ea typeface="微软雅黑"/>
              </a:rPr>
              <a:t>DOTE 6751  ·  小组作业  ·  SubSplit  ·  2026 年 11 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645566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6FB2"/>
                </a:solidFill>
                <a:latin typeface="微软雅黑"/>
                <a:ea typeface="微软雅黑"/>
              </a:rPr>
              <a:t>10  ·  SQL 查询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2A47"/>
                </a:solidFill>
                <a:latin typeface="微软雅黑"/>
                <a:ea typeface="微软雅黑"/>
              </a:rPr>
              <a:t>平台赚多少，用户到底在买什么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B"/>
                </a:solidFill>
                <a:latin typeface="微软雅黑"/>
                <a:ea typeface="微软雅黑"/>
              </a:rPr>
              <a:t>Q04 按月汇总流水；Q02 按学生占用的座位给服务排名。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874519"/>
          <a:ext cx="64008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349240"/>
            <a:ext cx="6217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B7B"/>
                </a:solidFill>
                <a:latin typeface="微软雅黑"/>
                <a:ea typeface="微软雅黑"/>
              </a:rPr>
              <a:t>峰值月手续费 HK$176。8 月的回落是当月释放笔数少，不是业务下滑。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60920" y="1920240"/>
          <a:ext cx="4114800" cy="19659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/>
                <a:gridCol w="1097280"/>
                <a:gridCol w="914400"/>
              </a:tblGrid>
              <a:tr h="32766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服务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座位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车队数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</a:tr>
              <a:tr h="3276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Netflix HK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42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76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ChatGPT HK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26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</a:tr>
              <a:tr h="3276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YouTube HK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76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Spotify US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</a:tr>
              <a:tr h="3276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Spotify HK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60920" y="4069080"/>
            <a:ext cx="4114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B7B"/>
                </a:solidFill>
                <a:latin typeface="微软雅黑"/>
                <a:ea typeface="微软雅黑"/>
              </a:rPr>
              <a:t>Netflix 港区排第一，因为它个人版与六人家庭版之间的价差最大——正是这个价差驱动了整个平台。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82512"/>
            <a:ext cx="10817352" cy="9144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5566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微软雅黑"/>
                <a:ea typeface="微软雅黑"/>
              </a:rPr>
              <a:t>DOTE 6751  ·  小组作业  ·  SubSplit  ·  2026 年 11 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645566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6FB2"/>
                </a:solidFill>
                <a:latin typeface="微软雅黑"/>
                <a:ea typeface="微软雅黑"/>
              </a:rPr>
              <a:t>11  ·  SQL 查询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2A47"/>
                </a:solidFill>
                <a:latin typeface="微软雅黑"/>
                <a:ea typeface="微软雅黑"/>
              </a:rPr>
              <a:t>两个只有放在时间轴上才成立的问题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B"/>
                </a:solidFill>
                <a:latin typeface="微软雅黑"/>
                <a:ea typeface="微软雅黑"/>
              </a:rPr>
              <a:t>都要窗口函数：一个看上个月，一个看同一托管单的上一行。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6FB2"/>
                </a:solidFill>
                <a:latin typeface="微软雅黑"/>
                <a:ea typeface="微软雅黑"/>
              </a:rPr>
              <a:t>Q10  ·  连 续 被 拦 截 的 月 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5303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微软雅黑"/>
                <a:ea typeface="微软雅黑"/>
              </a:rPr>
              <a:t>按托管单 LAG 上个月的状态，找出连续两个月停止打款的车队——比单月被拦截更强的信号。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26080"/>
            <a:ext cx="5303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0E2A47"/>
                </a:solidFill>
                <a:latin typeface="Consolas"/>
              </a:rPr>
              <a:t>WITH ledger AS (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0E2A47"/>
                </a:solidFill>
                <a:latin typeface="Consolas"/>
              </a:rPr>
              <a:t>  SELECT escrow_id, release_month, payout_status,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0E2A47"/>
                </a:solidFill>
                <a:latin typeface="Consolas"/>
              </a:rPr>
              <a:t>         LAG(payout_status) OVER (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0E2A47"/>
                </a:solidFill>
                <a:latin typeface="Consolas"/>
              </a:rPr>
              <a:t>           PARTITION BY escrow_id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0E2A47"/>
                </a:solidFill>
                <a:latin typeface="Consolas"/>
              </a:rPr>
              <a:t>           ORDER BY release_month) AS prev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0E2A47"/>
                </a:solidFill>
                <a:latin typeface="Consolas"/>
              </a:rPr>
              <a:t>  FROM monthly_payout_log)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0E2A47"/>
                </a:solidFill>
                <a:latin typeface="Consolas"/>
              </a:rPr>
              <a:t>SELECT escrow_id, release_month FROM ledger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0E2A47"/>
                </a:solidFill>
                <a:latin typeface="Consolas"/>
              </a:rPr>
              <a:t>WHERE payout_status = 'BLOCKED'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0E2A47"/>
                </a:solidFill>
                <a:latin typeface="Consolas"/>
              </a:rPr>
              <a:t>  AND prev = 'BLOCKED';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66344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B7B"/>
                </a:solidFill>
                <a:latin typeface="微软雅黑"/>
                <a:ea typeface="微软雅黑"/>
              </a:rPr>
              <a:t>种子数据里有 26 行，每一行都属于一个已经在争议中的车队。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874519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6FB2"/>
                </a:solidFill>
                <a:latin typeface="微软雅黑"/>
                <a:ea typeface="微软雅黑"/>
              </a:rPr>
              <a:t>Q17  ·  手 续 费 的 月 度 环 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148840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微软雅黑"/>
                <a:ea typeface="微软雅黑"/>
              </a:rPr>
              <a:t>对按月聚合的序列取 LAG：这个月的手续费和上个月比，一次扫描完成。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55080" y="2926080"/>
          <a:ext cx="4754880" cy="18745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71600"/>
                <a:gridCol w="1188720"/>
                <a:gridCol w="1188720"/>
                <a:gridCol w="1005840"/>
              </a:tblGrid>
              <a:tr h="267788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月份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手续费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上月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Δ %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</a:tr>
              <a:tr h="26778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2026-04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138.86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135.19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2.7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778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2026-05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147.11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138.86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5.9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</a:tr>
              <a:tr h="26778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2026-06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176.09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147.11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19.7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778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2026-07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168.06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176.09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-4.6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</a:tr>
              <a:tr h="26778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2026-08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140.59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168.06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-16.3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778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2026-09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168.24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140.59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19.7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355080" y="498348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B7B"/>
                </a:solidFill>
                <a:latin typeface="微软雅黑"/>
                <a:ea typeface="微软雅黑"/>
              </a:rPr>
              <a:t>两条都是普通 SELECT：没有预计算，没有缓存。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5778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A47"/>
                </a:solidFill>
                <a:latin typeface="微软雅黑"/>
                <a:ea typeface="微软雅黑"/>
              </a:rPr>
              <a:t>同一个函数回答两个不同的问题——这才是只学一次的价值。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6382512"/>
            <a:ext cx="10817352" cy="9144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45566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微软雅黑"/>
                <a:ea typeface="微软雅黑"/>
              </a:rPr>
              <a:t>DOTE 6751  ·  小组作业  ·  SubSplit  ·  2026 年 11 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645566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6FB2"/>
                </a:solidFill>
                <a:latin typeface="微软雅黑"/>
                <a:ea typeface="微软雅黑"/>
              </a:rPr>
              <a:t>12  ·  局限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2A47"/>
                </a:solidFill>
                <a:latin typeface="微软雅黑"/>
                <a:ea typeface="微软雅黑"/>
              </a:rPr>
              <a:t>这套设计不做什么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B"/>
                </a:solidFill>
                <a:latin typeface="微软雅黑"/>
                <a:ea typeface="微软雅黑"/>
              </a:rPr>
              <a:t>诚实的边界，以及我们接下来会去的三个方向。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6FB2"/>
                </a:solidFill>
                <a:latin typeface="微软雅黑"/>
                <a:ea typeface="微软雅黑"/>
              </a:rPr>
              <a:t>建 模 了， 没 实 现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304288"/>
            <a:ext cx="822960" cy="27432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微软雅黑"/>
                <a:ea typeface="微软雅黑"/>
              </a:rPr>
              <a:t>—  托管是状态机，不是支付网关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8328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微软雅黑"/>
                <a:ea typeface="微软雅黑"/>
              </a:rPr>
              <a:t>—  凭证是加密文本，不是密钥管理服务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25196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微软雅黑"/>
                <a:ea typeface="微软雅黑"/>
              </a:rPr>
              <a:t>—  账单核验记为一个时间，不是一个流程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1688" y="2011680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6FB2"/>
                </a:solidFill>
                <a:latin typeface="微软雅黑"/>
                <a:ea typeface="微软雅黑"/>
              </a:rPr>
              <a:t>已 知 局 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1688" y="2304288"/>
            <a:ext cx="822960" cy="27432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251460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微软雅黑"/>
                <a:ea typeface="微软雅黑"/>
              </a:rPr>
              <a:t>—  不按半月计费：20 号离开，当月照付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338328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微软雅黑"/>
                <a:ea typeface="微软雅黑"/>
              </a:rPr>
              <a:t>—  不做跨区比价：比较只在同一地区内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425196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微软雅黑"/>
                <a:ea typeface="微软雅黑"/>
              </a:rPr>
              <a:t>—  铁了心骗人的车主仍能骗——我们只让这件事看得见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7575" y="2011680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6FB2"/>
                </a:solidFill>
                <a:latin typeface="微软雅黑"/>
                <a:ea typeface="微软雅黑"/>
              </a:rPr>
              <a:t>下 一 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7575" y="2304288"/>
            <a:ext cx="822960" cy="27432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7575" y="251460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微软雅黑"/>
                <a:ea typeface="微软雅黑"/>
              </a:rPr>
              <a:t>—  市场列表改用物化视图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7575" y="338328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微软雅黑"/>
                <a:ea typeface="微软雅黑"/>
              </a:rPr>
              <a:t>—  流水过千万行后按年分区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37575" y="425196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微软雅黑"/>
                <a:ea typeface="微软雅黑"/>
              </a:rPr>
              <a:t>—  关闭满两年的车队进入归档策略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44068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A47"/>
                </a:solidFill>
                <a:latin typeface="微软雅黑"/>
                <a:ea typeface="微软雅黑"/>
              </a:rPr>
              <a:t>上面每一条都是我们主动做的决定，每一条都有下一步——所以这套设计是完成了，而不是没做完。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6382512"/>
            <a:ext cx="10817352" cy="9144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645566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微软雅黑"/>
                <a:ea typeface="微软雅黑"/>
              </a:rPr>
              <a:t>DOTE 6751  ·  小组作业  ·  SubSplit  ·  2026 年 11 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645566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6FB2"/>
                </a:solidFill>
                <a:latin typeface="微软雅黑"/>
                <a:ea typeface="微软雅黑"/>
              </a:rPr>
              <a:t>13  ·  附录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2A47"/>
                </a:solidFill>
                <a:latin typeface="微软雅黑"/>
                <a:ea typeface="微软雅黑"/>
              </a:rPr>
              <a:t>任务分工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B"/>
                </a:solidFill>
                <a:latin typeface="微软雅黑"/>
                <a:ea typeface="微软雅黑"/>
              </a:rPr>
              <a:t>七个人，一套表结构。工时是开工前商定的估计；难度为 1–5。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920240"/>
          <a:ext cx="10789920" cy="3246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/>
                <a:gridCol w="1737360"/>
                <a:gridCol w="4937760"/>
                <a:gridCol w="1005840"/>
                <a:gridCol w="1005840"/>
              </a:tblGrid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学生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学号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任务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难度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工时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Xuanmo 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1155260677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微软雅黑"/>
                          <a:ea typeface="微软雅黑"/>
                        </a:rPr>
                        <a:t>概念 ER 建模：实体与联系识别、基数上下限、弱实体判定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Yi HOU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1155261383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微软雅黑"/>
                          <a:ea typeface="微软雅黑"/>
                        </a:rPr>
                        <a:t>ER 转关系：§6.7 映射规则、主外键落位、3NF/BCNF 证明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Zhao Han HUANG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1155272384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微软雅黑"/>
                          <a:ea typeface="微软雅黑"/>
                        </a:rPr>
                        <a:t>DDL 与完整性约束：CHECK、唯一键、参照动作、索引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Jinyu LI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1155261567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微软雅黑"/>
                          <a:ea typeface="微软雅黑"/>
                        </a:rPr>
                        <a:t>触发器与视图：座位上限、默认支付、改密留痕、余额维护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Yitong NI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1155265810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微软雅黑"/>
                          <a:ea typeface="微软雅黑"/>
                        </a:rPr>
                        <a:t>确定性造数器与事务演示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Shujing YE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1155261750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微软雅黑"/>
                          <a:ea typeface="微软雅黑"/>
                        </a:rPr>
                        <a:t>18 条查询：分组、窗口函数、CTE、结果留存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Shiyao ZHANG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1155261823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微软雅黑"/>
                          <a:ea typeface="微软雅黑"/>
                        </a:rPr>
                        <a:t>验收套件、故障注入与余额对账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39496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B7B"/>
                </a:solidFill>
                <a:latin typeface="微软雅黑"/>
                <a:ea typeface="微软雅黑"/>
              </a:rPr>
              <a:t>合计 79 小时。难度看一个任务牵涉多少概念，不看写了多少行。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82512"/>
            <a:ext cx="10817352" cy="9144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5566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微软雅黑"/>
                <a:ea typeface="微软雅黑"/>
              </a:rPr>
              <a:t>DOTE 6751  ·  小组作业  ·  SubSplit  ·  2026 年 11 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5566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6FB2"/>
                </a:solidFill>
                <a:latin typeface="微软雅黑"/>
                <a:ea typeface="微软雅黑"/>
              </a:rPr>
              <a:t>14  ·  备 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2A47"/>
                </a:solidFill>
                <a:latin typeface="微软雅黑"/>
                <a:ea typeface="微软雅黑"/>
              </a:rPr>
              <a:t>如果你们问这些，我们这样答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B"/>
                </a:solidFill>
                <a:latin typeface="微软雅黑"/>
                <a:ea typeface="微软雅黑"/>
              </a:rPr>
              <a:t>针对这套设计最可能被问的七个问题，预先写好的回答。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A47"/>
                </a:solidFill>
                <a:latin typeface="微软雅黑"/>
                <a:ea typeface="微软雅黑"/>
              </a:rPr>
              <a:t>余额可以推出来，为什么还要存？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39"/>
            <a:ext cx="5212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A6B7B"/>
                </a:solidFill>
                <a:latin typeface="微软雅黑"/>
                <a:ea typeface="微软雅黑"/>
              </a:rPr>
              <a:t>每个看板都要读它，而流水一个月才写一次。CHECK 让这个恒等式成为硬规则，Q11 负责对账。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74519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A47"/>
                </a:solidFill>
                <a:latin typeface="微软雅黑"/>
                <a:ea typeface="微软雅黑"/>
              </a:rPr>
              <a:t>为什么人工审核，而不是自动退款？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48839"/>
            <a:ext cx="5212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A6B7B"/>
                </a:solidFill>
                <a:latin typeface="微软雅黑"/>
                <a:ea typeface="微软雅黑"/>
              </a:rPr>
              <a:t>两个串通的人能把任何车主薅干。检测可以自动化，判断不行。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718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A47"/>
                </a:solidFill>
                <a:latin typeface="微软雅黑"/>
                <a:ea typeface="微软雅黑"/>
              </a:rPr>
              <a:t>这是 3NF 吗？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46120"/>
            <a:ext cx="5212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A6B7B"/>
                </a:solidFill>
                <a:latin typeface="微软雅黑"/>
                <a:ea typeface="微软雅黑"/>
              </a:rPr>
              <a:t>全部 BCNF。证明里逐表列了函数依赖和候选键。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9718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A47"/>
                </a:solidFill>
                <a:latin typeface="微软雅黑"/>
                <a:ea typeface="微软雅黑"/>
              </a:rPr>
              <a:t>为什么不用 NoSQL？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246120"/>
            <a:ext cx="5212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A6B7B"/>
                </a:solidFill>
                <a:latin typeface="微软雅黑"/>
                <a:ea typeface="微软雅黑"/>
              </a:rPr>
              <a:t>钱、座位、状态迁移都需要跨行不变量，这正是关系模型的强项。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69079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A47"/>
                </a:solidFill>
                <a:latin typeface="微软雅黑"/>
                <a:ea typeface="微软雅黑"/>
              </a:rPr>
              <a:t>怎么防止一座两卖？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343399"/>
            <a:ext cx="5212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A6B7B"/>
                </a:solidFill>
                <a:latin typeface="微软雅黑"/>
                <a:ea typeface="微软雅黑"/>
              </a:rPr>
              <a:t>UNIQUE(group_id, member_id)，外加一个按 digital_service.max_seats 计数的触发器。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069079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A47"/>
                </a:solidFill>
                <a:latin typeface="微软雅黑"/>
                <a:ea typeface="微软雅黑"/>
              </a:rPr>
              <a:t>车主注销账号会怎样？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343399"/>
            <a:ext cx="5212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A6B7B"/>
                </a:solidFill>
                <a:latin typeface="微软雅黑"/>
                <a:ea typeface="微软雅黑"/>
              </a:rPr>
              <a:t>carpool_group.host_id 上是 RESTRICT：必须先关团、结清托管，才允许删除。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166359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A47"/>
                </a:solidFill>
                <a:latin typeface="微软雅黑"/>
                <a:ea typeface="微软雅黑"/>
              </a:rPr>
              <a:t>它真的跑得起来的证据在哪？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440679"/>
            <a:ext cx="5212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A6B7B"/>
                </a:solidFill>
                <a:latin typeface="微软雅黑"/>
                <a:ea typeface="微软雅黑"/>
              </a:rPr>
              <a:t>MySQL 8.0.40 上的 subsplit_db；每条查询都跑过，结果存在 query_results/。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6382512"/>
            <a:ext cx="10817352" cy="9144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645566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微软雅黑"/>
                <a:ea typeface="微软雅黑"/>
              </a:rPr>
              <a:t>DOTE 6751  ·  小组作业  ·  SubSplit  ·  2026 年 11 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645566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