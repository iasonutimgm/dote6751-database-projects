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our reverse-engineering project on LinkedIn. We did not have access to any schema; we reconstructed the part of LinkedIn that turns a job posting into a hire, and then built the database that would have to exist for the product's own behaviour to be possible. The deliverable has three parts: a twelve-table logical schema in third normal form, a deterministic data set of three hundred members and two hundred and fifty applications, and eighteen queries that answer questions the product visibly answers. I will take about three minutes on the model, then hand over to the query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observations motivated the scope. First, the product only ever shows outcomes: a filled role, a new hire badge. The two hundred and fifty applications behind that outcome are invisible, which is exactly the data a database course should model. Second, referrals are the channel every recruiter claims to value, and almost nobody can quantify; our funnel shows a threefold difference in end-to-end hire rate between referral and direct applications on the same data. Third, skill shortages are usually asserted in strategy documents; with postings and profiles in one schema they become computable. Those three observations are the spine of the eighteen queries.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we modelled. A recruiter creates a posting and declares the skills it requires. A member applies through one of three channels; the channel is a column on the application, not a separate table, because it describes how this application arrived. The recruiter screens, interviews are scheduled in rounds, and the application ends in exactly one of three terminal states. Each arrow on the left writes a specific row, which is the point of the slide: the diagram is a data-flow diagram as much as a process diagram. The state machine on the right is enforced by a trigger, so an application cannot jump from submitted to hired.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model. Twelve relations, seventeen foreign keys, twenty-five check constraints. Two things are worth pointing at. The member table is deliberately thin: there is no current-employer column, because that fact is already implied by the experience table with its single live row. And the application table is the hinge: everything on the left describes a person, everything on the bottom describes a decision, and the loop queries all join through it. The diagram is generated from the same table definitions that produce the DDL, so it cannot drift from the schema.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A is the person. Four tables hang off member: education, experience, connection and the skill claims. The design decision to highlight is the missing current-employer column. Storing it would duplicate a fact that experience already carries, and the two copies could disagree after an edit; that is the update anomaly the textbook warns about. Instead, is_current marks the live row, and a generated column with a unique index makes a second live row impossible. The connection table is the undirected social edge, stored once in canonical order, and it is what the recursive query on slide ten walks.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B and C are the demand side and the loop. On the left, a company advertises postings and each posting declares the skills it wants with an importance flag. Notice that importance lives on job_skill, not on skill: the same skill is a hard requirement in one posting and a nice-to-have in another, which is precisely why the pair needs its own attribute. On the right, the application is at the centre, with interviews hanging off it and the referral attached one-to-one. The two modules meet at job_posting, which is why every funnel query starts there.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tables in three groups. The identity group is four tables around the person. The demand group is three tables: companies, postings and the skill vocabulary. The bottom group is the loop itself plus the two associative tables that connect people to skills and postings to skills. The counts are the seeded instance, and they matter: they are the evidence that the model is populated at a scale where the queries return distributions rather than anecdotes.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pair of queries is about where hires come from. On the left, the funnel by source channel. Referral applications are the smallest group, sixty of two hundred and fifty, but they produce almost half the hires: sixteen point seven percent end to end against five point three for direct. The interesting detail is that the interview rate is almost identical across channels; the difference is what happens after the interview, which is exactly the kind of finding a single table cannot show. On the right, the referral programme by referrer: who refers, who converts, and what the bonuses cost. Two hires from three referrals at Oracle is the top of that 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of our two focus queries. Q09 asks a narrow question: for one named candidate, which open roles do they half-qualify for, and what exactly is missing? The candidate is Priya Walker, a project manager at Siemens. Twenty-eight open postings where she holds at least two of the hard requirements. The query returns the match percentage and, more usefully, the names of the missing skills, because 'sixty-seven percent' is not actionable and 'you are missing statistical analysis' is. The filter requires at least half of the hard requirements, so the answer set is short enough to act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focus query is the one we are proudest of. Q18 answers a question the product charges money for: who could introduce me to this hiring team? It walks the connection graph recursively, two hops from the employees of the hiring company, and crosses that reachable set with the posting's hard requirements. On the IBM delivery manager role there are thirty-three reachable people; fifteen survive the skill filter, and one of them is a single hop from an employee. The query is a recursive CTE plus an anti-join, and it is the reason the connection table stores edges once in canonical order.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pair is about the loop's cost and its fairness. On the left, where the time goes. Across seniority levels a hire takes twenty-nine to thirty-eight days; the bulk of it is not the interviews, it is the gap between them, eighteen days on average, which is scheduling latency rather than deliberation. On the right, interviewer calibration: pass rates range from zero to a hundred percent on four to six interviews each, which is a signal about the interviewers as much as about the candidates. Neither number exists in a schema that stores only the final hire.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would change. Three improvements we consider structural rather than cosmetic: a status history table, so that stage durations stop being an approximation; an offer table, because compensation above band is currently invisible; and soft deletes, because at the moment deleting a member destroys their applications and therefore the funnel history. The limitations on the right are ones we accepted knowingly: the synthetic data, the single currency, the missing education key, and the two-hop ceiling on the graph query. Each is recorded in the design rationale with the trade-off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Every member carried a comparable load, eight to fourteen hours, with difficulty between three and five. The schema and the seed were done first because every other task depends on them; the queries were split by group so that two people could work in parallel on independent SQL files; the documents and the deck ran in parallel once the schema was frozen. The allocation is not a division of page count, it is a division of dependency: nothing could start before the schema existed, and everything after it could run concurrently.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If the questions go to the model, the Chen diagram is here: twelve entity sets, fifteen relationship sets, with cardinality ratios on every edge. The five questions on the right are the ones we expect: why twelve tables, why no current employer column, why the referral is not a column on the application, whether the data is real, and what happens if a referrer leaves the company. Short answers are on the slide; the long answers are in the design documents and in the Q&amp;A preparation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E2A47"/>
          </a:solidFill>
          <a:ln>
            <a:noFill/>
          </a:ln>
          <a:effectLst/>
        </p:spPr>
        <p:txBody>
          <a:bodyPr rtlCol="0" anchor="ctr" wrap="square" lIns="0" rIns="0" tIns="0" bIns="0"/>
          <a:lstStyle/>
          <a:p>
            <a:pPr algn="ctr"/>
          </a:p>
        </p:txBody>
      </p:sp>
      <p:sp>
        <p:nvSpPr>
          <p:cNvPr id="3" name="TextBox 2"/>
          <p:cNvSpPr txBox="1"/>
          <p:nvPr/>
        </p:nvSpPr>
        <p:spPr>
          <a:xfrm>
            <a:off x="685800" y="68580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D O T E   6 7 5 1   ·   D A T A B A S E   S Y S T E M S   ·   G R O U P   P R O J E C T</a:t>
            </a:r>
          </a:p>
        </p:txBody>
      </p:sp>
      <p:sp>
        <p:nvSpPr>
          <p:cNvPr id="4" name="TextBox 3"/>
          <p:cNvSpPr txBox="1"/>
          <p:nvPr/>
        </p:nvSpPr>
        <p:spPr>
          <a:xfrm>
            <a:off x="685800" y="1115568"/>
            <a:ext cx="6126480" cy="1417320"/>
          </a:xfrm>
          <a:prstGeom prst="rect">
            <a:avLst/>
          </a:prstGeom>
          <a:noFill/>
        </p:spPr>
        <p:txBody>
          <a:bodyPr wrap="square" lIns="0" rIns="0" tIns="0" bIns="0" anchor="t">
            <a:spAutoFit/>
          </a:bodyPr>
          <a:lstStyle/>
          <a:p>
            <a:pPr algn="l">
              <a:lnSpc>
                <a:spcPct val="106000"/>
              </a:lnSpc>
              <a:spcBef>
                <a:spcPts val="0"/>
              </a:spcBef>
              <a:spcAft>
                <a:spcPts val="0"/>
              </a:spcAft>
            </a:pPr>
            <a:r>
              <a:rPr sz="3800" b="1">
                <a:solidFill>
                  <a:srgbClr val="0E2A47"/>
                </a:solidFill>
                <a:latin typeface="Georgia"/>
              </a:rPr>
              <a:t>Reverse-Engineering</a:t>
            </a:r>
          </a:p>
          <a:p>
            <a:pPr algn="l">
              <a:lnSpc>
                <a:spcPct val="106000"/>
              </a:lnSpc>
              <a:spcBef>
                <a:spcPts val="0"/>
              </a:spcBef>
              <a:spcAft>
                <a:spcPts val="0"/>
              </a:spcAft>
            </a:pPr>
            <a:r>
              <a:rPr sz="3800" b="1">
                <a:solidFill>
                  <a:srgbClr val="0E2A47"/>
                </a:solidFill>
                <a:latin typeface="Georgia"/>
              </a:rPr>
              <a:t>LinkedIn</a:t>
            </a:r>
          </a:p>
        </p:txBody>
      </p:sp>
      <p:sp>
        <p:nvSpPr>
          <p:cNvPr id="5" name="TextBox 4"/>
          <p:cNvSpPr txBox="1"/>
          <p:nvPr/>
        </p:nvSpPr>
        <p:spPr>
          <a:xfrm>
            <a:off x="685800" y="2615184"/>
            <a:ext cx="5806440" cy="822960"/>
          </a:xfrm>
          <a:prstGeom prst="rect">
            <a:avLst/>
          </a:prstGeom>
          <a:noFill/>
        </p:spPr>
        <p:txBody>
          <a:bodyPr wrap="square" lIns="0" rIns="0" tIns="0" bIns="0" anchor="t">
            <a:spAutoFit/>
          </a:bodyPr>
          <a:lstStyle/>
          <a:p>
            <a:pPr algn="l">
              <a:lnSpc>
                <a:spcPct val="125000"/>
              </a:lnSpc>
              <a:spcBef>
                <a:spcPts val="0"/>
              </a:spcBef>
              <a:spcAft>
                <a:spcPts val="0"/>
              </a:spcAft>
            </a:pPr>
            <a:r>
              <a:rPr sz="1250" b="0">
                <a:solidFill>
                  <a:srgbClr val="5A6B7B"/>
                </a:solidFill>
                <a:latin typeface="Segoe UI"/>
              </a:rPr>
              <a:t>The hiring loop as a relational schema: twelve tables,</a:t>
            </a:r>
          </a:p>
          <a:p>
            <a:pPr algn="l">
              <a:lnSpc>
                <a:spcPct val="125000"/>
              </a:lnSpc>
              <a:spcBef>
                <a:spcPts val="0"/>
              </a:spcBef>
              <a:spcAft>
                <a:spcPts val="0"/>
              </a:spcAft>
            </a:pPr>
            <a:r>
              <a:rPr sz="1250" b="0">
                <a:solidFill>
                  <a:srgbClr val="5A6B7B"/>
                </a:solidFill>
                <a:latin typeface="Segoe UI"/>
              </a:rPr>
              <a:t>one closed loop, eighteen queries that the product answers but never shows.</a:t>
            </a:r>
          </a:p>
        </p:txBody>
      </p:sp>
      <p:sp>
        <p:nvSpPr>
          <p:cNvPr id="6" name="Rectangle 5"/>
          <p:cNvSpPr/>
          <p:nvPr/>
        </p:nvSpPr>
        <p:spPr>
          <a:xfrm>
            <a:off x="685800" y="3584448"/>
            <a:ext cx="2926080" cy="32004"/>
          </a:xfrm>
          <a:prstGeom prst="rect">
            <a:avLst/>
          </a:prstGeom>
          <a:solidFill>
            <a:srgbClr val="0A66C2"/>
          </a:solidFill>
          <a:ln>
            <a:noFill/>
          </a:ln>
          <a:effectLst/>
        </p:spPr>
        <p:txBody>
          <a:bodyPr rtlCol="0" anchor="ctr" wrap="square" lIns="0" rIns="0" tIns="0" bIns="0"/>
          <a:lstStyle/>
          <a:p>
            <a:pPr algn="ctr"/>
          </a:p>
        </p:txBody>
      </p:sp>
      <p:sp>
        <p:nvSpPr>
          <p:cNvPr id="7" name="TextBox 6"/>
          <p:cNvSpPr txBox="1"/>
          <p:nvPr/>
        </p:nvSpPr>
        <p:spPr>
          <a:xfrm>
            <a:off x="685800" y="3822191"/>
            <a:ext cx="54864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8A99A6"/>
                </a:solidFill>
                <a:latin typeface="Segoe UI"/>
              </a:rPr>
              <a:t>T E A M</a:t>
            </a:r>
          </a:p>
        </p:txBody>
      </p:sp>
      <p:sp>
        <p:nvSpPr>
          <p:cNvPr id="8" name="TextBox 7"/>
          <p:cNvSpPr txBox="1"/>
          <p:nvPr/>
        </p:nvSpPr>
        <p:spPr>
          <a:xfrm>
            <a:off x="685800" y="4096512"/>
            <a:ext cx="5852160" cy="731520"/>
          </a:xfrm>
          <a:prstGeom prst="rect">
            <a:avLst/>
          </a:prstGeom>
          <a:noFill/>
        </p:spPr>
        <p:txBody>
          <a:bodyPr wrap="square" lIns="0" rIns="0" tIns="0" bIns="0" anchor="t">
            <a:spAutoFit/>
          </a:bodyPr>
          <a:lstStyle/>
          <a:p>
            <a:pPr algn="l">
              <a:lnSpc>
                <a:spcPct val="135000"/>
              </a:lnSpc>
              <a:spcBef>
                <a:spcPts val="0"/>
              </a:spcBef>
              <a:spcAft>
                <a:spcPts val="0"/>
              </a:spcAft>
            </a:pPr>
            <a:r>
              <a:rPr sz="1100" b="0">
                <a:solidFill>
                  <a:srgbClr val="0E2A47"/>
                </a:solidFill>
                <a:latin typeface="Segoe UI"/>
              </a:rPr>
              <a:t>Xuanmo AN  ·  Yi HOU  ·  Zhao Han HUANG</a:t>
            </a:r>
          </a:p>
          <a:p>
            <a:pPr algn="l">
              <a:lnSpc>
                <a:spcPct val="135000"/>
              </a:lnSpc>
              <a:spcBef>
                <a:spcPts val="0"/>
              </a:spcBef>
              <a:spcAft>
                <a:spcPts val="0"/>
              </a:spcAft>
            </a:pPr>
            <a:r>
              <a:rPr sz="1100" b="0">
                <a:solidFill>
                  <a:srgbClr val="0E2A47"/>
                </a:solidFill>
                <a:latin typeface="Segoe UI"/>
              </a:rPr>
              <a:t>Jinyu LI  ·  Yitong NI  ·  Shujing YE  ·  Shiyao ZHANG</a:t>
            </a:r>
          </a:p>
        </p:txBody>
      </p:sp>
      <p:sp>
        <p:nvSpPr>
          <p:cNvPr id="9" name="TextBox 8"/>
          <p:cNvSpPr txBox="1"/>
          <p:nvPr/>
        </p:nvSpPr>
        <p:spPr>
          <a:xfrm>
            <a:off x="685800" y="4901184"/>
            <a:ext cx="54864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8A99A6"/>
                </a:solidFill>
                <a:latin typeface="Segoe UI"/>
              </a:rPr>
              <a:t>D A T E</a:t>
            </a:r>
          </a:p>
        </p:txBody>
      </p:sp>
      <p:sp>
        <p:nvSpPr>
          <p:cNvPr id="10" name="TextBox 9"/>
          <p:cNvSpPr txBox="1"/>
          <p:nvPr/>
        </p:nvSpPr>
        <p:spPr>
          <a:xfrm>
            <a:off x="685800" y="5175504"/>
            <a:ext cx="3657600" cy="274320"/>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0E2A47"/>
                </a:solidFill>
                <a:latin typeface="Segoe UI"/>
              </a:rPr>
              <a:t>November 2026</a:t>
            </a:r>
          </a:p>
        </p:txBody>
      </p:sp>
      <p:pic>
        <p:nvPicPr>
          <p:cNvPr id="11" name="Picture 10" descr="ERD_conceptual.png"/>
          <p:cNvPicPr>
            <a:picLocks noChangeAspect="1"/>
          </p:cNvPicPr>
          <p:nvPr/>
        </p:nvPicPr>
        <p:blipFill>
          <a:blip r:embed="rId2"/>
          <a:stretch>
            <a:fillRect/>
          </a:stretch>
        </p:blipFill>
        <p:spPr>
          <a:xfrm>
            <a:off x="6903720" y="932688"/>
            <a:ext cx="4709160" cy="3139440"/>
          </a:xfrm>
          <a:prstGeom prst="rect">
            <a:avLst/>
          </a:prstGeom>
        </p:spPr>
      </p:pic>
      <p:sp>
        <p:nvSpPr>
          <p:cNvPr id="12" name="TextBox 11"/>
          <p:cNvSpPr txBox="1"/>
          <p:nvPr/>
        </p:nvSpPr>
        <p:spPr>
          <a:xfrm>
            <a:off x="6903720" y="4224528"/>
            <a:ext cx="4709160" cy="237744"/>
          </a:xfrm>
          <a:prstGeom prst="rect">
            <a:avLst/>
          </a:prstGeom>
          <a:noFill/>
        </p:spPr>
        <p:txBody>
          <a:bodyPr wrap="square" lIns="0" rIns="0" tIns="0" bIns="0" anchor="t">
            <a:spAutoFit/>
          </a:bodyPr>
          <a:lstStyle/>
          <a:p>
            <a:pPr algn="ctr">
              <a:lnSpc>
                <a:spcPct val="100000"/>
              </a:lnSpc>
              <a:spcBef>
                <a:spcPts val="0"/>
              </a:spcBef>
              <a:spcAft>
                <a:spcPts val="0"/>
              </a:spcAft>
            </a:pPr>
            <a:r>
              <a:rPr sz="800" b="0">
                <a:solidFill>
                  <a:srgbClr val="8A99A6"/>
                </a:solidFill>
                <a:latin typeface="Segoe UI"/>
              </a:rPr>
              <a:t>Conceptual model — Chen notation</a:t>
            </a:r>
          </a:p>
        </p:txBody>
      </p:sp>
      <p:sp>
        <p:nvSpPr>
          <p:cNvPr id="13" name="Rounded Rectangle 12"/>
          <p:cNvSpPr/>
          <p:nvPr/>
        </p:nvSpPr>
        <p:spPr>
          <a:xfrm>
            <a:off x="6903720" y="4590288"/>
            <a:ext cx="14173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4" name="TextBox 13"/>
          <p:cNvSpPr txBox="1"/>
          <p:nvPr/>
        </p:nvSpPr>
        <p:spPr>
          <a:xfrm>
            <a:off x="7104888" y="4663440"/>
            <a:ext cx="11430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12</a:t>
            </a:r>
          </a:p>
        </p:txBody>
      </p:sp>
      <p:sp>
        <p:nvSpPr>
          <p:cNvPr id="15" name="TextBox 14"/>
          <p:cNvSpPr txBox="1"/>
          <p:nvPr/>
        </p:nvSpPr>
        <p:spPr>
          <a:xfrm>
            <a:off x="7104888" y="4992624"/>
            <a:ext cx="1143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RELATIONS</a:t>
            </a:r>
          </a:p>
        </p:txBody>
      </p:sp>
      <p:sp>
        <p:nvSpPr>
          <p:cNvPr id="16" name="Rounded Rectangle 15"/>
          <p:cNvSpPr/>
          <p:nvPr/>
        </p:nvSpPr>
        <p:spPr>
          <a:xfrm>
            <a:off x="8430768" y="4590288"/>
            <a:ext cx="14173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7" name="TextBox 16"/>
          <p:cNvSpPr txBox="1"/>
          <p:nvPr/>
        </p:nvSpPr>
        <p:spPr>
          <a:xfrm>
            <a:off x="8631936" y="4663440"/>
            <a:ext cx="11430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17</a:t>
            </a:r>
          </a:p>
        </p:txBody>
      </p:sp>
      <p:sp>
        <p:nvSpPr>
          <p:cNvPr id="18" name="TextBox 17"/>
          <p:cNvSpPr txBox="1"/>
          <p:nvPr/>
        </p:nvSpPr>
        <p:spPr>
          <a:xfrm>
            <a:off x="8631936" y="4992624"/>
            <a:ext cx="1143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FOREIGN KEYS</a:t>
            </a:r>
          </a:p>
        </p:txBody>
      </p:sp>
      <p:sp>
        <p:nvSpPr>
          <p:cNvPr id="19" name="Rounded Rectangle 18"/>
          <p:cNvSpPr/>
          <p:nvPr/>
        </p:nvSpPr>
        <p:spPr>
          <a:xfrm>
            <a:off x="9957816" y="4590288"/>
            <a:ext cx="146304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0" name="TextBox 19"/>
          <p:cNvSpPr txBox="1"/>
          <p:nvPr/>
        </p:nvSpPr>
        <p:spPr>
          <a:xfrm>
            <a:off x="10158984" y="4663440"/>
            <a:ext cx="11887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18</a:t>
            </a:r>
          </a:p>
        </p:txBody>
      </p:sp>
      <p:sp>
        <p:nvSpPr>
          <p:cNvPr id="21" name="TextBox 20"/>
          <p:cNvSpPr txBox="1"/>
          <p:nvPr/>
        </p:nvSpPr>
        <p:spPr>
          <a:xfrm>
            <a:off x="10158984" y="4992624"/>
            <a:ext cx="118872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QUERIES</a:t>
            </a:r>
          </a:p>
        </p:txBody>
      </p:sp>
      <p:sp>
        <p:nvSpPr>
          <p:cNvPr id="22" name="TextBox 21"/>
          <p:cNvSpPr txBox="1"/>
          <p:nvPr/>
        </p:nvSpPr>
        <p:spPr>
          <a:xfrm>
            <a:off x="6903720" y="5449824"/>
            <a:ext cx="4709160" cy="548640"/>
          </a:xfrm>
          <a:prstGeom prst="rect">
            <a:avLst/>
          </a:prstGeom>
          <a:noFill/>
        </p:spPr>
        <p:txBody>
          <a:bodyPr wrap="square" lIns="0" rIns="0" tIns="0" bIns="0" anchor="t">
            <a:spAutoFit/>
          </a:bodyPr>
          <a:lstStyle/>
          <a:p>
            <a:pPr algn="l">
              <a:lnSpc>
                <a:spcPct val="120000"/>
              </a:lnSpc>
              <a:spcBef>
                <a:spcPts val="0"/>
              </a:spcBef>
              <a:spcAft>
                <a:spcPts val="0"/>
              </a:spcAft>
            </a:pPr>
            <a:r>
              <a:rPr sz="860" b="0">
                <a:solidFill>
                  <a:srgbClr val="5A6B7B"/>
                </a:solidFill>
                <a:latin typeface="Segoe UI"/>
              </a:rPr>
              <a:t>A schema reverse-engineered from behaviour: every table</a:t>
            </a:r>
          </a:p>
          <a:p>
            <a:pPr algn="l">
              <a:lnSpc>
                <a:spcPct val="120000"/>
              </a:lnSpc>
              <a:spcBef>
                <a:spcPts val="0"/>
              </a:spcBef>
              <a:spcAft>
                <a:spcPts val="0"/>
              </a:spcAft>
            </a:pPr>
            <a:r>
              <a:rPr sz="860" b="0">
                <a:solidFill>
                  <a:srgbClr val="5A6B7B"/>
                </a:solidFill>
                <a:latin typeface="Segoe UI"/>
              </a:rPr>
              <a:t>exists because a product screen implies it.</a:t>
            </a:r>
          </a:p>
        </p:txBody>
      </p:sp>
      <p:sp>
        <p:nvSpPr>
          <p:cNvPr id="23" name="Rectangle 2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24" name="TextBox 2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25" name="TextBox 2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02  ·  M  O  T  I  V  A  T  I  O  N</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The visible product is the tip of an invisible record</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Every screen LinkedIn shows is the output of a join that the user never sees.</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2084831"/>
            <a:ext cx="384048" cy="31089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01</a:t>
            </a:r>
          </a:p>
        </p:txBody>
      </p:sp>
      <p:sp>
        <p:nvSpPr>
          <p:cNvPr id="7" name="TextBox 6"/>
          <p:cNvSpPr txBox="1"/>
          <p:nvPr/>
        </p:nvSpPr>
        <p:spPr>
          <a:xfrm>
            <a:off x="1115568" y="2066543"/>
            <a:ext cx="5852160" cy="274320"/>
          </a:xfrm>
          <a:prstGeom prst="rect">
            <a:avLst/>
          </a:prstGeom>
          <a:noFill/>
        </p:spPr>
        <p:txBody>
          <a:bodyPr wrap="square" lIns="0" rIns="0" tIns="0" bIns="0" anchor="t">
            <a:spAutoFit/>
          </a:bodyPr>
          <a:lstStyle/>
          <a:p>
            <a:pPr algn="l">
              <a:lnSpc>
                <a:spcPct val="100000"/>
              </a:lnSpc>
              <a:spcBef>
                <a:spcPts val="0"/>
              </a:spcBef>
              <a:spcAft>
                <a:spcPts val="0"/>
              </a:spcAft>
            </a:pPr>
            <a:r>
              <a:rPr sz="1350" b="1">
                <a:solidFill>
                  <a:srgbClr val="0E2A47"/>
                </a:solidFill>
                <a:latin typeface="Segoe UI"/>
              </a:rPr>
              <a:t>Outcomes are visible, process is not</a:t>
            </a:r>
          </a:p>
        </p:txBody>
      </p:sp>
      <p:sp>
        <p:nvSpPr>
          <p:cNvPr id="8" name="TextBox 7"/>
          <p:cNvSpPr txBox="1"/>
          <p:nvPr/>
        </p:nvSpPr>
        <p:spPr>
          <a:xfrm>
            <a:off x="1115568" y="2359151"/>
            <a:ext cx="5760720" cy="713232"/>
          </a:xfrm>
          <a:prstGeom prst="rect">
            <a:avLst/>
          </a:prstGeom>
          <a:noFill/>
        </p:spPr>
        <p:txBody>
          <a:bodyPr wrap="square" lIns="0" rIns="0" tIns="0" bIns="0" anchor="t">
            <a:spAutoFit/>
          </a:bodyPr>
          <a:lstStyle/>
          <a:p>
            <a:pPr algn="l">
              <a:lnSpc>
                <a:spcPct val="118000"/>
              </a:lnSpc>
              <a:spcBef>
                <a:spcPts val="0"/>
              </a:spcBef>
              <a:spcAft>
                <a:spcPts val="0"/>
              </a:spcAft>
            </a:pPr>
            <a:r>
              <a:rPr sz="950" b="0">
                <a:solidFill>
                  <a:srgbClr val="5A6B7B"/>
                </a:solidFill>
                <a:latin typeface="Segoe UI"/>
              </a:rPr>
              <a:t>A filled role is a badge. The 250 applications, 210 interviews and 12 legal status</a:t>
            </a:r>
          </a:p>
          <a:p>
            <a:pPr algn="l">
              <a:lnSpc>
                <a:spcPct val="118000"/>
              </a:lnSpc>
              <a:spcBef>
                <a:spcPts val="0"/>
              </a:spcBef>
              <a:spcAft>
                <a:spcPts val="0"/>
              </a:spcAft>
            </a:pPr>
            <a:r>
              <a:rPr sz="950" b="0">
                <a:solidFill>
                  <a:srgbClr val="5A6B7B"/>
                </a:solidFill>
                <a:latin typeface="Segoe UI"/>
              </a:rPr>
              <a:t>transitions behind it are not shown anywhere — and they are the interesting data.</a:t>
            </a:r>
          </a:p>
        </p:txBody>
      </p:sp>
      <p:sp>
        <p:nvSpPr>
          <p:cNvPr id="9" name="TextBox 8"/>
          <p:cNvSpPr txBox="1"/>
          <p:nvPr/>
        </p:nvSpPr>
        <p:spPr>
          <a:xfrm>
            <a:off x="685800" y="3255263"/>
            <a:ext cx="384048" cy="31089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02</a:t>
            </a:r>
          </a:p>
        </p:txBody>
      </p:sp>
      <p:sp>
        <p:nvSpPr>
          <p:cNvPr id="10" name="TextBox 9"/>
          <p:cNvSpPr txBox="1"/>
          <p:nvPr/>
        </p:nvSpPr>
        <p:spPr>
          <a:xfrm>
            <a:off x="1115568" y="3236975"/>
            <a:ext cx="5852160" cy="274320"/>
          </a:xfrm>
          <a:prstGeom prst="rect">
            <a:avLst/>
          </a:prstGeom>
          <a:noFill/>
        </p:spPr>
        <p:txBody>
          <a:bodyPr wrap="square" lIns="0" rIns="0" tIns="0" bIns="0" anchor="t">
            <a:spAutoFit/>
          </a:bodyPr>
          <a:lstStyle/>
          <a:p>
            <a:pPr algn="l">
              <a:lnSpc>
                <a:spcPct val="100000"/>
              </a:lnSpc>
              <a:spcBef>
                <a:spcPts val="0"/>
              </a:spcBef>
              <a:spcAft>
                <a:spcPts val="0"/>
              </a:spcAft>
            </a:pPr>
            <a:r>
              <a:rPr sz="1350" b="1">
                <a:solidFill>
                  <a:srgbClr val="0E2A47"/>
                </a:solidFill>
                <a:latin typeface="Segoe UI"/>
              </a:rPr>
              <a:t>Referrals are praised, rarely measured</a:t>
            </a:r>
          </a:p>
        </p:txBody>
      </p:sp>
      <p:sp>
        <p:nvSpPr>
          <p:cNvPr id="11" name="TextBox 10"/>
          <p:cNvSpPr txBox="1"/>
          <p:nvPr/>
        </p:nvSpPr>
        <p:spPr>
          <a:xfrm>
            <a:off x="1115568" y="3529583"/>
            <a:ext cx="5760720" cy="713232"/>
          </a:xfrm>
          <a:prstGeom prst="rect">
            <a:avLst/>
          </a:prstGeom>
          <a:noFill/>
        </p:spPr>
        <p:txBody>
          <a:bodyPr wrap="square" lIns="0" rIns="0" tIns="0" bIns="0" anchor="t">
            <a:spAutoFit/>
          </a:bodyPr>
          <a:lstStyle/>
          <a:p>
            <a:pPr algn="l">
              <a:lnSpc>
                <a:spcPct val="118000"/>
              </a:lnSpc>
              <a:spcBef>
                <a:spcPts val="0"/>
              </a:spcBef>
              <a:spcAft>
                <a:spcPts val="0"/>
              </a:spcAft>
            </a:pPr>
            <a:r>
              <a:rPr sz="950" b="0">
                <a:solidFill>
                  <a:srgbClr val="5A6B7B"/>
                </a:solidFill>
                <a:latin typeface="Segoe UI"/>
              </a:rPr>
              <a:t>Every recruiter says referrals convert. Without a channel column on the application,</a:t>
            </a:r>
          </a:p>
          <a:p>
            <a:pPr algn="l">
              <a:lnSpc>
                <a:spcPct val="118000"/>
              </a:lnSpc>
              <a:spcBef>
                <a:spcPts val="0"/>
              </a:spcBef>
              <a:spcAft>
                <a:spcPts val="0"/>
              </a:spcAft>
            </a:pPr>
            <a:r>
              <a:rPr sz="950" b="0">
                <a:solidFill>
                  <a:srgbClr val="5A6B7B"/>
                </a:solidFill>
                <a:latin typeface="Segoe UI"/>
              </a:rPr>
              <a:t>the claim cannot be tested. Here it can: 16.7% versus 5.3% end-to-end.</a:t>
            </a:r>
          </a:p>
        </p:txBody>
      </p:sp>
      <p:sp>
        <p:nvSpPr>
          <p:cNvPr id="12" name="TextBox 11"/>
          <p:cNvSpPr txBox="1"/>
          <p:nvPr/>
        </p:nvSpPr>
        <p:spPr>
          <a:xfrm>
            <a:off x="685800" y="4425696"/>
            <a:ext cx="384048" cy="31089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03</a:t>
            </a:r>
          </a:p>
        </p:txBody>
      </p:sp>
      <p:sp>
        <p:nvSpPr>
          <p:cNvPr id="13" name="TextBox 12"/>
          <p:cNvSpPr txBox="1"/>
          <p:nvPr/>
        </p:nvSpPr>
        <p:spPr>
          <a:xfrm>
            <a:off x="1115568" y="4407408"/>
            <a:ext cx="5852160" cy="274320"/>
          </a:xfrm>
          <a:prstGeom prst="rect">
            <a:avLst/>
          </a:prstGeom>
          <a:noFill/>
        </p:spPr>
        <p:txBody>
          <a:bodyPr wrap="square" lIns="0" rIns="0" tIns="0" bIns="0" anchor="t">
            <a:spAutoFit/>
          </a:bodyPr>
          <a:lstStyle/>
          <a:p>
            <a:pPr algn="l">
              <a:lnSpc>
                <a:spcPct val="100000"/>
              </a:lnSpc>
              <a:spcBef>
                <a:spcPts val="0"/>
              </a:spcBef>
              <a:spcAft>
                <a:spcPts val="0"/>
              </a:spcAft>
            </a:pPr>
            <a:r>
              <a:rPr sz="1350" b="1">
                <a:solidFill>
                  <a:srgbClr val="0E2A47"/>
                </a:solidFill>
                <a:latin typeface="Segoe UI"/>
              </a:rPr>
              <a:t>Skill shortages are asserted, not computed</a:t>
            </a:r>
          </a:p>
        </p:txBody>
      </p:sp>
      <p:sp>
        <p:nvSpPr>
          <p:cNvPr id="14" name="TextBox 13"/>
          <p:cNvSpPr txBox="1"/>
          <p:nvPr/>
        </p:nvSpPr>
        <p:spPr>
          <a:xfrm>
            <a:off x="1115568" y="4700016"/>
            <a:ext cx="5760720" cy="713232"/>
          </a:xfrm>
          <a:prstGeom prst="rect">
            <a:avLst/>
          </a:prstGeom>
          <a:noFill/>
        </p:spPr>
        <p:txBody>
          <a:bodyPr wrap="square" lIns="0" rIns="0" tIns="0" bIns="0" anchor="t">
            <a:spAutoFit/>
          </a:bodyPr>
          <a:lstStyle/>
          <a:p>
            <a:pPr algn="l">
              <a:lnSpc>
                <a:spcPct val="118000"/>
              </a:lnSpc>
              <a:spcBef>
                <a:spcPts val="0"/>
              </a:spcBef>
              <a:spcAft>
                <a:spcPts val="0"/>
              </a:spcAft>
            </a:pPr>
            <a:r>
              <a:rPr sz="950" b="0">
                <a:solidFill>
                  <a:srgbClr val="5A6B7B"/>
                </a:solidFill>
                <a:latin typeface="Segoe UI"/>
              </a:rPr>
              <a:t>Postings state requirements; profiles state holdings. Put both in one schema and the</a:t>
            </a:r>
          </a:p>
          <a:p>
            <a:pPr algn="l">
              <a:lnSpc>
                <a:spcPct val="118000"/>
              </a:lnSpc>
              <a:spcBef>
                <a:spcPts val="0"/>
              </a:spcBef>
              <a:spcAft>
                <a:spcPts val="0"/>
              </a:spcAft>
            </a:pPr>
            <a:r>
              <a:rPr sz="950" b="0">
                <a:solidFill>
                  <a:srgbClr val="5A6B7B"/>
                </a:solidFill>
                <a:latin typeface="Segoe UI"/>
              </a:rPr>
              <a:t>gap becomes a join, not an opinion.</a:t>
            </a:r>
          </a:p>
        </p:txBody>
      </p:sp>
      <p:sp>
        <p:nvSpPr>
          <p:cNvPr id="15" name="Rounded Rectangle 14"/>
          <p:cNvSpPr/>
          <p:nvPr/>
        </p:nvSpPr>
        <p:spPr>
          <a:xfrm>
            <a:off x="7269480" y="2139696"/>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6" name="TextBox 15"/>
          <p:cNvSpPr txBox="1"/>
          <p:nvPr/>
        </p:nvSpPr>
        <p:spPr>
          <a:xfrm>
            <a:off x="7470648" y="2212848"/>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250</a:t>
            </a:r>
          </a:p>
        </p:txBody>
      </p:sp>
      <p:sp>
        <p:nvSpPr>
          <p:cNvPr id="17" name="TextBox 16"/>
          <p:cNvSpPr txBox="1"/>
          <p:nvPr/>
        </p:nvSpPr>
        <p:spPr>
          <a:xfrm>
            <a:off x="7470648" y="2542032"/>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APPLICATIONS SEEDED</a:t>
            </a:r>
          </a:p>
        </p:txBody>
      </p:sp>
      <p:sp>
        <p:nvSpPr>
          <p:cNvPr id="18" name="Rounded Rectangle 17"/>
          <p:cNvSpPr/>
          <p:nvPr/>
        </p:nvSpPr>
        <p:spPr>
          <a:xfrm>
            <a:off x="9418320" y="2139696"/>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9" name="TextBox 18"/>
          <p:cNvSpPr txBox="1"/>
          <p:nvPr/>
        </p:nvSpPr>
        <p:spPr>
          <a:xfrm>
            <a:off x="9619488" y="2212848"/>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8.4%</a:t>
            </a:r>
          </a:p>
        </p:txBody>
      </p:sp>
      <p:sp>
        <p:nvSpPr>
          <p:cNvPr id="20" name="TextBox 19"/>
          <p:cNvSpPr txBox="1"/>
          <p:nvPr/>
        </p:nvSpPr>
        <p:spPr>
          <a:xfrm>
            <a:off x="9619488" y="2542032"/>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REACH HIRE</a:t>
            </a:r>
          </a:p>
        </p:txBody>
      </p:sp>
      <p:sp>
        <p:nvSpPr>
          <p:cNvPr id="21" name="Rounded Rectangle 20"/>
          <p:cNvSpPr/>
          <p:nvPr/>
        </p:nvSpPr>
        <p:spPr>
          <a:xfrm>
            <a:off x="7269480" y="2944368"/>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2" name="TextBox 21"/>
          <p:cNvSpPr txBox="1"/>
          <p:nvPr/>
        </p:nvSpPr>
        <p:spPr>
          <a:xfrm>
            <a:off x="7470648" y="3017520"/>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3.1×</a:t>
            </a:r>
          </a:p>
        </p:txBody>
      </p:sp>
      <p:sp>
        <p:nvSpPr>
          <p:cNvPr id="23" name="TextBox 22"/>
          <p:cNvSpPr txBox="1"/>
          <p:nvPr/>
        </p:nvSpPr>
        <p:spPr>
          <a:xfrm>
            <a:off x="7470648" y="3346704"/>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REFERRAL ADVANTAGE</a:t>
            </a:r>
          </a:p>
        </p:txBody>
      </p:sp>
      <p:sp>
        <p:nvSpPr>
          <p:cNvPr id="24" name="Rounded Rectangle 23"/>
          <p:cNvSpPr/>
          <p:nvPr/>
        </p:nvSpPr>
        <p:spPr>
          <a:xfrm>
            <a:off x="9418320" y="2944368"/>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5" name="TextBox 24"/>
          <p:cNvSpPr txBox="1"/>
          <p:nvPr/>
        </p:nvSpPr>
        <p:spPr>
          <a:xfrm>
            <a:off x="9619488" y="3017520"/>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6.0</a:t>
            </a:r>
          </a:p>
        </p:txBody>
      </p:sp>
      <p:sp>
        <p:nvSpPr>
          <p:cNvPr id="26" name="TextBox 25"/>
          <p:cNvSpPr txBox="1"/>
          <p:nvPr/>
        </p:nvSpPr>
        <p:spPr>
          <a:xfrm>
            <a:off x="9619488" y="3346704"/>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MONTHS OF HISTORY</a:t>
            </a:r>
          </a:p>
        </p:txBody>
      </p:sp>
      <p:sp>
        <p:nvSpPr>
          <p:cNvPr id="27" name="TextBox 26"/>
          <p:cNvSpPr txBox="1"/>
          <p:nvPr/>
        </p:nvSpPr>
        <p:spPr>
          <a:xfrm>
            <a:off x="7269480" y="3931920"/>
            <a:ext cx="4160520" cy="219456"/>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Segoe UI"/>
              </a:rPr>
              <a:t>W H A T   W E   B U I L T</a:t>
            </a:r>
          </a:p>
        </p:txBody>
      </p:sp>
      <p:sp>
        <p:nvSpPr>
          <p:cNvPr id="28" name="TextBox 27"/>
          <p:cNvSpPr txBox="1"/>
          <p:nvPr/>
        </p:nvSpPr>
        <p:spPr>
          <a:xfrm>
            <a:off x="7269480" y="4206240"/>
            <a:ext cx="4160520" cy="1737360"/>
          </a:xfrm>
          <a:prstGeom prst="rect">
            <a:avLst/>
          </a:prstGeom>
          <a:noFill/>
        </p:spPr>
        <p:txBody>
          <a:bodyPr wrap="square" lIns="0" rIns="0" tIns="0" bIns="0" anchor="t">
            <a:spAutoFit/>
          </a:bodyPr>
          <a:lstStyle/>
          <a:p>
            <a:pPr algn="l">
              <a:lnSpc>
                <a:spcPct val="125000"/>
              </a:lnSpc>
              <a:spcBef>
                <a:spcPts val="0"/>
              </a:spcBef>
              <a:spcAft>
                <a:spcPts val="0"/>
              </a:spcAft>
            </a:pPr>
            <a:r>
              <a:rPr sz="950" b="0">
                <a:solidFill>
                  <a:srgbClr val="5A6B7B"/>
                </a:solidFill>
                <a:latin typeface="Segoe UI"/>
              </a:rPr>
              <a:t>A logical schema derived from the product's behaviour, a deterministic instance of it, and eighteen queries. The schema is in third normal form; the instance passes 22 cross-table consistency checks; every query runs standalone in Navicat.</a:t>
            </a:r>
          </a:p>
        </p:txBody>
      </p:sp>
      <p:sp>
        <p:nvSpPr>
          <p:cNvPr id="29" name="Rectangle 28"/>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30" name="TextBox 29"/>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31" name="TextBox 30"/>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03  ·  B  U  S  I  N  E  S  S     C  O  N  T  E  X  T</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How a hire happens — and which row each step writes</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Six steps, three channels, one state machine. The schema follows the rows, not the screens.</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Rectangle 5"/>
          <p:cNvSpPr/>
          <p:nvPr/>
        </p:nvSpPr>
        <p:spPr>
          <a:xfrm>
            <a:off x="859536" y="2377440"/>
            <a:ext cx="10972" cy="566928"/>
          </a:xfrm>
          <a:prstGeom prst="rect">
            <a:avLst/>
          </a:prstGeom>
          <a:solidFill>
            <a:srgbClr val="D8E0E8"/>
          </a:solidFill>
          <a:ln>
            <a:noFill/>
          </a:ln>
          <a:effectLst/>
        </p:spPr>
        <p:txBody>
          <a:bodyPr rtlCol="0" anchor="ctr" wrap="square" lIns="0" rIns="0" tIns="0" bIns="0"/>
          <a:lstStyle/>
          <a:p>
            <a:pPr algn="ctr"/>
          </a:p>
        </p:txBody>
      </p:sp>
      <p:sp>
        <p:nvSpPr>
          <p:cNvPr id="7" name="Oval 6"/>
          <p:cNvSpPr/>
          <p:nvPr/>
        </p:nvSpPr>
        <p:spPr>
          <a:xfrm>
            <a:off x="704088" y="2066544"/>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1</a:t>
            </a:r>
          </a:p>
        </p:txBody>
      </p:sp>
      <p:sp>
        <p:nvSpPr>
          <p:cNvPr id="8" name="TextBox 7"/>
          <p:cNvSpPr txBox="1"/>
          <p:nvPr/>
        </p:nvSpPr>
        <p:spPr>
          <a:xfrm>
            <a:off x="1170432" y="2048256"/>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COMPANY POSTS</a:t>
            </a:r>
          </a:p>
        </p:txBody>
      </p:sp>
      <p:sp>
        <p:nvSpPr>
          <p:cNvPr id="9" name="TextBox 8"/>
          <p:cNvSpPr txBox="1"/>
          <p:nvPr/>
        </p:nvSpPr>
        <p:spPr>
          <a:xfrm>
            <a:off x="1170432" y="2276856"/>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job_posting + job_skill</a:t>
            </a:r>
          </a:p>
          <a:p>
            <a:pPr algn="l">
              <a:lnSpc>
                <a:spcPct val="115000"/>
              </a:lnSpc>
              <a:spcBef>
                <a:spcPts val="0"/>
              </a:spcBef>
              <a:spcAft>
                <a:spcPts val="0"/>
              </a:spcAft>
            </a:pPr>
            <a:r>
              <a:rPr sz="850" b="0">
                <a:solidFill>
                  <a:srgbClr val="5A6B7B"/>
                </a:solidFill>
                <a:latin typeface="Segoe UI"/>
              </a:rPr>
              <a:t>skills, seniority, band, openings</a:t>
            </a:r>
          </a:p>
        </p:txBody>
      </p:sp>
      <p:sp>
        <p:nvSpPr>
          <p:cNvPr id="10" name="Rectangle 9"/>
          <p:cNvSpPr/>
          <p:nvPr/>
        </p:nvSpPr>
        <p:spPr>
          <a:xfrm>
            <a:off x="859536" y="3090672"/>
            <a:ext cx="10972" cy="566928"/>
          </a:xfrm>
          <a:prstGeom prst="rect">
            <a:avLst/>
          </a:prstGeom>
          <a:solidFill>
            <a:srgbClr val="D8E0E8"/>
          </a:solidFill>
          <a:ln>
            <a:noFill/>
          </a:ln>
          <a:effectLst/>
        </p:spPr>
        <p:txBody>
          <a:bodyPr rtlCol="0" anchor="ctr" wrap="square" lIns="0" rIns="0" tIns="0" bIns="0"/>
          <a:lstStyle/>
          <a:p>
            <a:pPr algn="ctr"/>
          </a:p>
        </p:txBody>
      </p:sp>
      <p:sp>
        <p:nvSpPr>
          <p:cNvPr id="11" name="Oval 10"/>
          <p:cNvSpPr/>
          <p:nvPr/>
        </p:nvSpPr>
        <p:spPr>
          <a:xfrm>
            <a:off x="704088" y="2779776"/>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2</a:t>
            </a:r>
          </a:p>
        </p:txBody>
      </p:sp>
      <p:sp>
        <p:nvSpPr>
          <p:cNvPr id="12" name="TextBox 11"/>
          <p:cNvSpPr txBox="1"/>
          <p:nvPr/>
        </p:nvSpPr>
        <p:spPr>
          <a:xfrm>
            <a:off x="1170432" y="2761488"/>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MEMBER APPLIES</a:t>
            </a:r>
          </a:p>
        </p:txBody>
      </p:sp>
      <p:sp>
        <p:nvSpPr>
          <p:cNvPr id="13" name="TextBox 12"/>
          <p:cNvSpPr txBox="1"/>
          <p:nvPr/>
        </p:nvSpPr>
        <p:spPr>
          <a:xfrm>
            <a:off x="1170432" y="2990088"/>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application</a:t>
            </a:r>
          </a:p>
          <a:p>
            <a:pPr algn="l">
              <a:lnSpc>
                <a:spcPct val="115000"/>
              </a:lnSpc>
              <a:spcBef>
                <a:spcPts val="0"/>
              </a:spcBef>
              <a:spcAft>
                <a:spcPts val="0"/>
              </a:spcAft>
            </a:pPr>
            <a:r>
              <a:rPr sz="850" b="0">
                <a:solidFill>
                  <a:srgbClr val="5A6B7B"/>
                </a:solidFill>
                <a:latin typeface="Segoe UI"/>
              </a:rPr>
              <a:t>channel ∈ {direct, referral, sourcing}</a:t>
            </a:r>
          </a:p>
        </p:txBody>
      </p:sp>
      <p:sp>
        <p:nvSpPr>
          <p:cNvPr id="14" name="Rectangle 13"/>
          <p:cNvSpPr/>
          <p:nvPr/>
        </p:nvSpPr>
        <p:spPr>
          <a:xfrm>
            <a:off x="859536" y="3803904"/>
            <a:ext cx="10972" cy="566928"/>
          </a:xfrm>
          <a:prstGeom prst="rect">
            <a:avLst/>
          </a:prstGeom>
          <a:solidFill>
            <a:srgbClr val="D8E0E8"/>
          </a:solidFill>
          <a:ln>
            <a:noFill/>
          </a:ln>
          <a:effectLst/>
        </p:spPr>
        <p:txBody>
          <a:bodyPr rtlCol="0" anchor="ctr" wrap="square" lIns="0" rIns="0" tIns="0" bIns="0"/>
          <a:lstStyle/>
          <a:p>
            <a:pPr algn="ctr"/>
          </a:p>
        </p:txBody>
      </p:sp>
      <p:sp>
        <p:nvSpPr>
          <p:cNvPr id="15" name="Oval 14"/>
          <p:cNvSpPr/>
          <p:nvPr/>
        </p:nvSpPr>
        <p:spPr>
          <a:xfrm>
            <a:off x="704088" y="3493008"/>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3</a:t>
            </a:r>
          </a:p>
        </p:txBody>
      </p:sp>
      <p:sp>
        <p:nvSpPr>
          <p:cNvPr id="16" name="TextBox 15"/>
          <p:cNvSpPr txBox="1"/>
          <p:nvPr/>
        </p:nvSpPr>
        <p:spPr>
          <a:xfrm>
            <a:off x="1170432" y="3474720"/>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RECRUITER SCREENS</a:t>
            </a:r>
          </a:p>
        </p:txBody>
      </p:sp>
      <p:sp>
        <p:nvSpPr>
          <p:cNvPr id="17" name="TextBox 16"/>
          <p:cNvSpPr txBox="1"/>
          <p:nvPr/>
        </p:nvSpPr>
        <p:spPr>
          <a:xfrm>
            <a:off x="1170432" y="3703320"/>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application.status = SCREENING</a:t>
            </a:r>
          </a:p>
          <a:p>
            <a:pPr algn="l">
              <a:lnSpc>
                <a:spcPct val="115000"/>
              </a:lnSpc>
              <a:spcBef>
                <a:spcPts val="0"/>
              </a:spcBef>
              <a:spcAft>
                <a:spcPts val="0"/>
              </a:spcAft>
            </a:pPr>
            <a:r>
              <a:rPr sz="850" b="0">
                <a:solidFill>
                  <a:srgbClr val="5A6B7B"/>
                </a:solidFill>
                <a:latin typeface="Segoe UI"/>
              </a:rPr>
              <a:t>or REJECTED / WITHDRAWN</a:t>
            </a:r>
          </a:p>
        </p:txBody>
      </p:sp>
      <p:sp>
        <p:nvSpPr>
          <p:cNvPr id="18" name="Rectangle 17"/>
          <p:cNvSpPr/>
          <p:nvPr/>
        </p:nvSpPr>
        <p:spPr>
          <a:xfrm>
            <a:off x="859536" y="4517136"/>
            <a:ext cx="10972" cy="566928"/>
          </a:xfrm>
          <a:prstGeom prst="rect">
            <a:avLst/>
          </a:prstGeom>
          <a:solidFill>
            <a:srgbClr val="D8E0E8"/>
          </a:solidFill>
          <a:ln>
            <a:noFill/>
          </a:ln>
          <a:effectLst/>
        </p:spPr>
        <p:txBody>
          <a:bodyPr rtlCol="0" anchor="ctr" wrap="square" lIns="0" rIns="0" tIns="0" bIns="0"/>
          <a:lstStyle/>
          <a:p>
            <a:pPr algn="ctr"/>
          </a:p>
        </p:txBody>
      </p:sp>
      <p:sp>
        <p:nvSpPr>
          <p:cNvPr id="19" name="Oval 18"/>
          <p:cNvSpPr/>
          <p:nvPr/>
        </p:nvSpPr>
        <p:spPr>
          <a:xfrm>
            <a:off x="704088" y="4206240"/>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4</a:t>
            </a:r>
          </a:p>
        </p:txBody>
      </p:sp>
      <p:sp>
        <p:nvSpPr>
          <p:cNvPr id="20" name="TextBox 19"/>
          <p:cNvSpPr txBox="1"/>
          <p:nvPr/>
        </p:nvSpPr>
        <p:spPr>
          <a:xfrm>
            <a:off x="1170432" y="4187952"/>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INTERVIEWS RUN</a:t>
            </a:r>
          </a:p>
        </p:txBody>
      </p:sp>
      <p:sp>
        <p:nvSpPr>
          <p:cNvPr id="21" name="TextBox 20"/>
          <p:cNvSpPr txBox="1"/>
          <p:nvPr/>
        </p:nvSpPr>
        <p:spPr>
          <a:xfrm>
            <a:off x="1170432" y="4416552"/>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interview, rounds 1..n</a:t>
            </a:r>
          </a:p>
          <a:p>
            <a:pPr algn="l">
              <a:lnSpc>
                <a:spcPct val="115000"/>
              </a:lnSpc>
              <a:spcBef>
                <a:spcPts val="0"/>
              </a:spcBef>
              <a:spcAft>
                <a:spcPts val="0"/>
              </a:spcAft>
            </a:pPr>
            <a:r>
              <a:rPr sz="850" b="0">
                <a:solidFill>
                  <a:srgbClr val="5A6B7B"/>
                </a:solidFill>
                <a:latin typeface="Segoe UI"/>
              </a:rPr>
              <a:t>interviewer, outcome, score</a:t>
            </a:r>
          </a:p>
        </p:txBody>
      </p:sp>
      <p:sp>
        <p:nvSpPr>
          <p:cNvPr id="22" name="Rectangle 21"/>
          <p:cNvSpPr/>
          <p:nvPr/>
        </p:nvSpPr>
        <p:spPr>
          <a:xfrm>
            <a:off x="859536" y="5230368"/>
            <a:ext cx="10972" cy="566928"/>
          </a:xfrm>
          <a:prstGeom prst="rect">
            <a:avLst/>
          </a:prstGeom>
          <a:solidFill>
            <a:srgbClr val="D8E0E8"/>
          </a:solidFill>
          <a:ln>
            <a:noFill/>
          </a:ln>
          <a:effectLst/>
        </p:spPr>
        <p:txBody>
          <a:bodyPr rtlCol="0" anchor="ctr" wrap="square" lIns="0" rIns="0" tIns="0" bIns="0"/>
          <a:lstStyle/>
          <a:p>
            <a:pPr algn="ctr"/>
          </a:p>
        </p:txBody>
      </p:sp>
      <p:sp>
        <p:nvSpPr>
          <p:cNvPr id="23" name="Oval 22"/>
          <p:cNvSpPr/>
          <p:nvPr/>
        </p:nvSpPr>
        <p:spPr>
          <a:xfrm>
            <a:off x="704088" y="4919472"/>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5</a:t>
            </a:r>
          </a:p>
        </p:txBody>
      </p:sp>
      <p:sp>
        <p:nvSpPr>
          <p:cNvPr id="24" name="TextBox 23"/>
          <p:cNvSpPr txBox="1"/>
          <p:nvPr/>
        </p:nvSpPr>
        <p:spPr>
          <a:xfrm>
            <a:off x="1170432" y="4901184"/>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OFFER AND DECISION</a:t>
            </a:r>
          </a:p>
        </p:txBody>
      </p:sp>
      <p:sp>
        <p:nvSpPr>
          <p:cNvPr id="25" name="TextBox 24"/>
          <p:cNvSpPr txBox="1"/>
          <p:nvPr/>
        </p:nvSpPr>
        <p:spPr>
          <a:xfrm>
            <a:off x="1170432" y="5129784"/>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status → OFFER → HIRED / REJECTED</a:t>
            </a:r>
          </a:p>
          <a:p>
            <a:pPr algn="l">
              <a:lnSpc>
                <a:spcPct val="115000"/>
              </a:lnSpc>
              <a:spcBef>
                <a:spcPts val="0"/>
              </a:spcBef>
              <a:spcAft>
                <a:spcPts val="0"/>
              </a:spcAft>
            </a:pPr>
            <a:r>
              <a:rPr sz="850" b="0">
                <a:solidFill>
                  <a:srgbClr val="5A6B7B"/>
                </a:solidFill>
                <a:latin typeface="Segoe UI"/>
              </a:rPr>
              <a:t>decided_at is stamped</a:t>
            </a:r>
          </a:p>
        </p:txBody>
      </p:sp>
      <p:sp>
        <p:nvSpPr>
          <p:cNvPr id="26" name="Oval 25"/>
          <p:cNvSpPr/>
          <p:nvPr/>
        </p:nvSpPr>
        <p:spPr>
          <a:xfrm>
            <a:off x="704088" y="5632704"/>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6</a:t>
            </a:r>
          </a:p>
        </p:txBody>
      </p:sp>
      <p:sp>
        <p:nvSpPr>
          <p:cNvPr id="27" name="TextBox 26"/>
          <p:cNvSpPr txBox="1"/>
          <p:nvPr/>
        </p:nvSpPr>
        <p:spPr>
          <a:xfrm>
            <a:off x="1170432" y="5614416"/>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REFERRAL SETTLES</a:t>
            </a:r>
          </a:p>
        </p:txBody>
      </p:sp>
      <p:sp>
        <p:nvSpPr>
          <p:cNvPr id="28" name="TextBox 27"/>
          <p:cNvSpPr txBox="1"/>
          <p:nvPr/>
        </p:nvSpPr>
        <p:spPr>
          <a:xfrm>
            <a:off x="1170432" y="5843016"/>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referral.bonus_status</a:t>
            </a:r>
          </a:p>
          <a:p>
            <a:pPr algn="l">
              <a:lnSpc>
                <a:spcPct val="115000"/>
              </a:lnSpc>
              <a:spcBef>
                <a:spcPts val="0"/>
              </a:spcBef>
              <a:spcAft>
                <a:spcPts val="0"/>
              </a:spcAft>
            </a:pPr>
            <a:r>
              <a:rPr sz="850" b="0">
                <a:solidFill>
                  <a:srgbClr val="5A6B7B"/>
                </a:solidFill>
                <a:latin typeface="Segoe UI"/>
              </a:rPr>
              <a:t>PENDING → PAID / FORFEITED</a:t>
            </a:r>
          </a:p>
        </p:txBody>
      </p:sp>
      <p:sp>
        <p:nvSpPr>
          <p:cNvPr id="29" name="Rounded Rectangle 28"/>
          <p:cNvSpPr/>
          <p:nvPr/>
        </p:nvSpPr>
        <p:spPr>
          <a:xfrm>
            <a:off x="5989320" y="2048256"/>
            <a:ext cx="5440680" cy="3822191"/>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30" name="TextBox 29"/>
          <p:cNvSpPr txBox="1"/>
          <p:nvPr/>
        </p:nvSpPr>
        <p:spPr>
          <a:xfrm>
            <a:off x="6263640" y="2212848"/>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Segoe UI"/>
              </a:rPr>
              <a:t>S T A T E   M A C H I N E   ·   A P P L I C A T I O N</a:t>
            </a:r>
          </a:p>
        </p:txBody>
      </p:sp>
      <p:sp>
        <p:nvSpPr>
          <p:cNvPr id="31" name="Rounded Rectangle 30"/>
          <p:cNvSpPr/>
          <p:nvPr/>
        </p:nvSpPr>
        <p:spPr>
          <a:xfrm>
            <a:off x="6263640" y="2523744"/>
            <a:ext cx="896112" cy="292608"/>
          </a:xfrm>
          <a:prstGeom prst="roundRect">
            <a:avLst>
              <a:gd name="adj" fmla="val 22000"/>
            </a:avLst>
          </a:prstGeom>
          <a:solidFill>
            <a:srgbClr val="0E2A47"/>
          </a:solidFill>
          <a:ln>
            <a:noFill/>
          </a:ln>
          <a:effectLst/>
        </p:spPr>
        <p:txBody>
          <a:bodyPr rtlCol="0" anchor="ctr" wrap="square" lIns="0" rIns="0" tIns="0" bIns="0"/>
          <a:lstStyle/>
          <a:p>
            <a:pPr algn="ctr"/>
          </a:p>
        </p:txBody>
      </p:sp>
      <p:sp>
        <p:nvSpPr>
          <p:cNvPr id="32" name="TextBox 31"/>
          <p:cNvSpPr txBox="1"/>
          <p:nvPr/>
        </p:nvSpPr>
        <p:spPr>
          <a:xfrm>
            <a:off x="6263640"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SUBMITTED</a:t>
            </a:r>
          </a:p>
        </p:txBody>
      </p:sp>
      <p:sp>
        <p:nvSpPr>
          <p:cNvPr id="33" name="TextBox 32"/>
          <p:cNvSpPr txBox="1"/>
          <p:nvPr/>
        </p:nvSpPr>
        <p:spPr>
          <a:xfrm>
            <a:off x="7168896"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34" name="Rounded Rectangle 33"/>
          <p:cNvSpPr/>
          <p:nvPr/>
        </p:nvSpPr>
        <p:spPr>
          <a:xfrm>
            <a:off x="7287768" y="2523744"/>
            <a:ext cx="969264" cy="292608"/>
          </a:xfrm>
          <a:prstGeom prst="roundRect">
            <a:avLst>
              <a:gd name="adj" fmla="val 22000"/>
            </a:avLst>
          </a:prstGeom>
          <a:solidFill>
            <a:srgbClr val="0E2A47"/>
          </a:solidFill>
          <a:ln>
            <a:noFill/>
          </a:ln>
          <a:effectLst/>
        </p:spPr>
        <p:txBody>
          <a:bodyPr rtlCol="0" anchor="ctr" wrap="square" lIns="0" rIns="0" tIns="0" bIns="0"/>
          <a:lstStyle/>
          <a:p>
            <a:pPr algn="ctr"/>
          </a:p>
        </p:txBody>
      </p:sp>
      <p:sp>
        <p:nvSpPr>
          <p:cNvPr id="35" name="TextBox 34"/>
          <p:cNvSpPr txBox="1"/>
          <p:nvPr/>
        </p:nvSpPr>
        <p:spPr>
          <a:xfrm>
            <a:off x="7287768" y="2583180"/>
            <a:ext cx="969264"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SCREENING</a:t>
            </a:r>
          </a:p>
        </p:txBody>
      </p:sp>
      <p:sp>
        <p:nvSpPr>
          <p:cNvPr id="36" name="TextBox 35"/>
          <p:cNvSpPr txBox="1"/>
          <p:nvPr/>
        </p:nvSpPr>
        <p:spPr>
          <a:xfrm>
            <a:off x="8266175"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37" name="Rounded Rectangle 36"/>
          <p:cNvSpPr/>
          <p:nvPr/>
        </p:nvSpPr>
        <p:spPr>
          <a:xfrm>
            <a:off x="8385048" y="2523744"/>
            <a:ext cx="896112" cy="292608"/>
          </a:xfrm>
          <a:prstGeom prst="roundRect">
            <a:avLst>
              <a:gd name="adj" fmla="val 22000"/>
            </a:avLst>
          </a:prstGeom>
          <a:solidFill>
            <a:srgbClr val="0E2A47"/>
          </a:solidFill>
          <a:ln>
            <a:noFill/>
          </a:ln>
          <a:effectLst/>
        </p:spPr>
        <p:txBody>
          <a:bodyPr rtlCol="0" anchor="ctr" wrap="square" lIns="0" rIns="0" tIns="0" bIns="0"/>
          <a:lstStyle/>
          <a:p>
            <a:pPr algn="ctr"/>
          </a:p>
        </p:txBody>
      </p:sp>
      <p:sp>
        <p:nvSpPr>
          <p:cNvPr id="38" name="TextBox 37"/>
          <p:cNvSpPr txBox="1"/>
          <p:nvPr/>
        </p:nvSpPr>
        <p:spPr>
          <a:xfrm>
            <a:off x="8385048"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INTERVIEW</a:t>
            </a:r>
          </a:p>
        </p:txBody>
      </p:sp>
      <p:sp>
        <p:nvSpPr>
          <p:cNvPr id="39" name="TextBox 38"/>
          <p:cNvSpPr txBox="1"/>
          <p:nvPr/>
        </p:nvSpPr>
        <p:spPr>
          <a:xfrm>
            <a:off x="9290304"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40" name="Rounded Rectangle 39"/>
          <p:cNvSpPr/>
          <p:nvPr/>
        </p:nvSpPr>
        <p:spPr>
          <a:xfrm>
            <a:off x="9409176" y="2523744"/>
            <a:ext cx="896112" cy="292608"/>
          </a:xfrm>
          <a:prstGeom prst="roundRect">
            <a:avLst>
              <a:gd name="adj" fmla="val 22000"/>
            </a:avLst>
          </a:prstGeom>
          <a:solidFill>
            <a:srgbClr val="0A66C2"/>
          </a:solidFill>
          <a:ln>
            <a:noFill/>
          </a:ln>
          <a:effectLst/>
        </p:spPr>
        <p:txBody>
          <a:bodyPr rtlCol="0" anchor="ctr" wrap="square" lIns="0" rIns="0" tIns="0" bIns="0"/>
          <a:lstStyle/>
          <a:p>
            <a:pPr algn="ctr"/>
          </a:p>
        </p:txBody>
      </p:sp>
      <p:sp>
        <p:nvSpPr>
          <p:cNvPr id="41" name="TextBox 40"/>
          <p:cNvSpPr txBox="1"/>
          <p:nvPr/>
        </p:nvSpPr>
        <p:spPr>
          <a:xfrm>
            <a:off x="9409176"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OFFER</a:t>
            </a:r>
          </a:p>
        </p:txBody>
      </p:sp>
      <p:sp>
        <p:nvSpPr>
          <p:cNvPr id="42" name="TextBox 41"/>
          <p:cNvSpPr txBox="1"/>
          <p:nvPr/>
        </p:nvSpPr>
        <p:spPr>
          <a:xfrm>
            <a:off x="10314432"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43" name="Rounded Rectangle 42"/>
          <p:cNvSpPr/>
          <p:nvPr/>
        </p:nvSpPr>
        <p:spPr>
          <a:xfrm>
            <a:off x="10433304" y="2523744"/>
            <a:ext cx="896112" cy="292608"/>
          </a:xfrm>
          <a:prstGeom prst="roundRect">
            <a:avLst>
              <a:gd name="adj" fmla="val 22000"/>
            </a:avLst>
          </a:prstGeom>
          <a:solidFill>
            <a:srgbClr val="0A66C2"/>
          </a:solidFill>
          <a:ln>
            <a:noFill/>
          </a:ln>
          <a:effectLst/>
        </p:spPr>
        <p:txBody>
          <a:bodyPr rtlCol="0" anchor="ctr" wrap="square" lIns="0" rIns="0" tIns="0" bIns="0"/>
          <a:lstStyle/>
          <a:p>
            <a:pPr algn="ctr"/>
          </a:p>
        </p:txBody>
      </p:sp>
      <p:sp>
        <p:nvSpPr>
          <p:cNvPr id="44" name="TextBox 43"/>
          <p:cNvSpPr txBox="1"/>
          <p:nvPr/>
        </p:nvSpPr>
        <p:spPr>
          <a:xfrm>
            <a:off x="10433304"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HIRED</a:t>
            </a:r>
          </a:p>
        </p:txBody>
      </p:sp>
      <p:sp>
        <p:nvSpPr>
          <p:cNvPr id="45" name="TextBox 44"/>
          <p:cNvSpPr txBox="1"/>
          <p:nvPr/>
        </p:nvSpPr>
        <p:spPr>
          <a:xfrm>
            <a:off x="6263640" y="2944368"/>
            <a:ext cx="4846320" cy="219456"/>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A6741F"/>
                </a:solidFill>
                <a:latin typeface="Segoe UI"/>
              </a:rPr>
              <a:t>exit at any stage →  REJECTED   or   WITHDRAWN</a:t>
            </a:r>
          </a:p>
        </p:txBody>
      </p:sp>
      <p:sp>
        <p:nvSpPr>
          <p:cNvPr id="46" name="Rectangle 45"/>
          <p:cNvSpPr/>
          <p:nvPr/>
        </p:nvSpPr>
        <p:spPr>
          <a:xfrm>
            <a:off x="6263640" y="3236976"/>
            <a:ext cx="4892040" cy="9144"/>
          </a:xfrm>
          <a:prstGeom prst="rect">
            <a:avLst/>
          </a:prstGeom>
          <a:solidFill>
            <a:srgbClr val="D8E0E8"/>
          </a:solidFill>
          <a:ln>
            <a:noFill/>
          </a:ln>
          <a:effectLst/>
        </p:spPr>
        <p:txBody>
          <a:bodyPr rtlCol="0" anchor="ctr" wrap="square" lIns="0" rIns="0" tIns="0" bIns="0"/>
          <a:lstStyle/>
          <a:p>
            <a:pPr algn="ctr"/>
          </a:p>
        </p:txBody>
      </p:sp>
      <p:sp>
        <p:nvSpPr>
          <p:cNvPr id="47" name="TextBox 46"/>
          <p:cNvSpPr txBox="1"/>
          <p:nvPr/>
        </p:nvSpPr>
        <p:spPr>
          <a:xfrm>
            <a:off x="6263640" y="3346704"/>
            <a:ext cx="23774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Segoe UI"/>
              </a:rPr>
              <a:t>WHAT THE DATABASE REFUSES</a:t>
            </a:r>
          </a:p>
        </p:txBody>
      </p:sp>
      <p:sp>
        <p:nvSpPr>
          <p:cNvPr id="48" name="TextBox 47"/>
          <p:cNvSpPr txBox="1"/>
          <p:nvPr/>
        </p:nvSpPr>
        <p:spPr>
          <a:xfrm>
            <a:off x="6263640" y="3621024"/>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49" name="TextBox 48"/>
          <p:cNvSpPr txBox="1"/>
          <p:nvPr/>
        </p:nvSpPr>
        <p:spPr>
          <a:xfrm>
            <a:off x="6446520" y="3621024"/>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Segoe UI"/>
              </a:rPr>
              <a:t>a jump from SUBMITTED straight to HIRED</a:t>
            </a:r>
          </a:p>
        </p:txBody>
      </p:sp>
      <p:sp>
        <p:nvSpPr>
          <p:cNvPr id="50" name="TextBox 49"/>
          <p:cNvSpPr txBox="1"/>
          <p:nvPr/>
        </p:nvSpPr>
        <p:spPr>
          <a:xfrm>
            <a:off x="6263640" y="3895344"/>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1" name="TextBox 50"/>
          <p:cNvSpPr txBox="1"/>
          <p:nvPr/>
        </p:nvSpPr>
        <p:spPr>
          <a:xfrm>
            <a:off x="6446520" y="3895344"/>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Segoe UI"/>
              </a:rPr>
              <a:t>an interview before the application</a:t>
            </a:r>
          </a:p>
        </p:txBody>
      </p:sp>
      <p:sp>
        <p:nvSpPr>
          <p:cNvPr id="52" name="TextBox 51"/>
          <p:cNvSpPr txBox="1"/>
          <p:nvPr/>
        </p:nvSpPr>
        <p:spPr>
          <a:xfrm>
            <a:off x="6263640" y="4169663"/>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3" name="TextBox 52"/>
          <p:cNvSpPr txBox="1"/>
          <p:nvPr/>
        </p:nvSpPr>
        <p:spPr>
          <a:xfrm>
            <a:off x="6446520" y="4169663"/>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Segoe UI"/>
              </a:rPr>
              <a:t>a second round numbered 2</a:t>
            </a:r>
          </a:p>
        </p:txBody>
      </p:sp>
      <p:sp>
        <p:nvSpPr>
          <p:cNvPr id="54" name="TextBox 53"/>
          <p:cNvSpPr txBox="1"/>
          <p:nvPr/>
        </p:nvSpPr>
        <p:spPr>
          <a:xfrm>
            <a:off x="6263640" y="4443983"/>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5" name="TextBox 54"/>
          <p:cNvSpPr txBox="1"/>
          <p:nvPr/>
        </p:nvSpPr>
        <p:spPr>
          <a:xfrm>
            <a:off x="6446520" y="4443983"/>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Segoe UI"/>
              </a:rPr>
              <a:t>a referral from outside the company</a:t>
            </a:r>
          </a:p>
        </p:txBody>
      </p:sp>
      <p:sp>
        <p:nvSpPr>
          <p:cNvPr id="56" name="TextBox 55"/>
          <p:cNvSpPr txBox="1"/>
          <p:nvPr/>
        </p:nvSpPr>
        <p:spPr>
          <a:xfrm>
            <a:off x="6263640" y="4718303"/>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7" name="TextBox 56"/>
          <p:cNvSpPr txBox="1"/>
          <p:nvPr/>
        </p:nvSpPr>
        <p:spPr>
          <a:xfrm>
            <a:off x="6446520" y="4718303"/>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Segoe UI"/>
              </a:rPr>
              <a:t>a terminal status without decided_at</a:t>
            </a:r>
          </a:p>
        </p:txBody>
      </p:sp>
      <p:sp>
        <p:nvSpPr>
          <p:cNvPr id="58" name="TextBox 57"/>
          <p:cNvSpPr txBox="1"/>
          <p:nvPr/>
        </p:nvSpPr>
        <p:spPr>
          <a:xfrm>
            <a:off x="6263640" y="5084064"/>
            <a:ext cx="4892040" cy="566928"/>
          </a:xfrm>
          <a:prstGeom prst="rect">
            <a:avLst/>
          </a:prstGeom>
          <a:noFill/>
        </p:spPr>
        <p:txBody>
          <a:bodyPr wrap="square" lIns="0" rIns="0" tIns="0" bIns="0" anchor="t">
            <a:spAutoFit/>
          </a:bodyPr>
          <a:lstStyle/>
          <a:p>
            <a:pPr algn="l">
              <a:lnSpc>
                <a:spcPct val="120000"/>
              </a:lnSpc>
              <a:spcBef>
                <a:spcPts val="0"/>
              </a:spcBef>
              <a:spcAft>
                <a:spcPts val="0"/>
              </a:spcAft>
            </a:pPr>
            <a:r>
              <a:rPr sz="850" b="0">
                <a:solidFill>
                  <a:srgbClr val="0A66C2"/>
                </a:solidFill>
                <a:latin typeface="Segoe UI"/>
              </a:rPr>
              <a:t>One BEFORE UPDATE trigger enforces all twelve legal transitions;</a:t>
            </a:r>
          </a:p>
          <a:p>
            <a:pPr algn="l">
              <a:lnSpc>
                <a:spcPct val="120000"/>
              </a:lnSpc>
              <a:spcBef>
                <a:spcPts val="0"/>
              </a:spcBef>
              <a:spcAft>
                <a:spcPts val="0"/>
              </a:spcAft>
            </a:pPr>
            <a:r>
              <a:rPr sz="850" b="0">
                <a:solidFill>
                  <a:srgbClr val="0A66C2"/>
                </a:solidFill>
                <a:latin typeface="Segoe UI"/>
              </a:rPr>
              <a:t>three further triggers carry the cross-table rules.</a:t>
            </a:r>
          </a:p>
        </p:txBody>
      </p:sp>
      <p:sp>
        <p:nvSpPr>
          <p:cNvPr id="59" name="Rectangle 58"/>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0" name="TextBox 59"/>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61" name="TextBox 60"/>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04  ·  D  A  T  A     M  O  D  E  L</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Twelve relations, one hinge</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Member and company describe the parties; application is the hinge that every query joins through.</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logical_full.png"/>
          <p:cNvPicPr>
            <a:picLocks noChangeAspect="1"/>
          </p:cNvPicPr>
          <p:nvPr/>
        </p:nvPicPr>
        <p:blipFill>
          <a:blip r:embed="rId2"/>
          <a:stretch>
            <a:fillRect/>
          </a:stretch>
        </p:blipFill>
        <p:spPr>
          <a:xfrm>
            <a:off x="685800" y="1993392"/>
            <a:ext cx="4156290" cy="4224528"/>
          </a:xfrm>
          <a:prstGeom prst="rect">
            <a:avLst/>
          </a:prstGeom>
        </p:spPr>
      </p:pic>
      <p:sp>
        <p:nvSpPr>
          <p:cNvPr id="7" name="TextBox 6"/>
          <p:cNvSpPr txBox="1"/>
          <p:nvPr/>
        </p:nvSpPr>
        <p:spPr>
          <a:xfrm>
            <a:off x="685800" y="6254496"/>
            <a:ext cx="4206240" cy="164592"/>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ERD_logical_full — PK bold, FK italic, crow's foot at the many side</a:t>
            </a:r>
          </a:p>
        </p:txBody>
      </p:sp>
      <p:sp>
        <p:nvSpPr>
          <p:cNvPr id="8" name="TextBox 7"/>
          <p:cNvSpPr txBox="1"/>
          <p:nvPr/>
        </p:nvSpPr>
        <p:spPr>
          <a:xfrm>
            <a:off x="5230368" y="1993392"/>
            <a:ext cx="6217920" cy="237744"/>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Segoe UI"/>
              </a:rPr>
              <a:t>W H A T   T H E   D I A G R A M   S A Y S</a:t>
            </a:r>
          </a:p>
        </p:txBody>
      </p:sp>
      <p:sp>
        <p:nvSpPr>
          <p:cNvPr id="9" name="TextBox 8"/>
          <p:cNvSpPr txBox="1"/>
          <p:nvPr/>
        </p:nvSpPr>
        <p:spPr>
          <a:xfrm>
            <a:off x="5230368" y="2304288"/>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0" name="TextBox 9"/>
          <p:cNvSpPr txBox="1"/>
          <p:nvPr/>
        </p:nvSpPr>
        <p:spPr>
          <a:xfrm>
            <a:off x="5431536" y="2286000"/>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Segoe UI"/>
              </a:rPr>
              <a:t>Two parties, one hinge</a:t>
            </a:r>
          </a:p>
        </p:txBody>
      </p:sp>
      <p:sp>
        <p:nvSpPr>
          <p:cNvPr id="11" name="TextBox 10"/>
          <p:cNvSpPr txBox="1"/>
          <p:nvPr/>
        </p:nvSpPr>
        <p:spPr>
          <a:xfrm>
            <a:off x="5431536" y="2542032"/>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Segoe UI"/>
              </a:rPr>
              <a:t>member and company are the only entities that exist before a hire; application is the</a:t>
            </a:r>
          </a:p>
          <a:p>
            <a:pPr algn="l">
              <a:lnSpc>
                <a:spcPct val="115000"/>
              </a:lnSpc>
              <a:spcBef>
                <a:spcPts val="0"/>
              </a:spcBef>
              <a:spcAft>
                <a:spcPts val="0"/>
              </a:spcAft>
            </a:pPr>
            <a:r>
              <a:rPr sz="880" b="0">
                <a:solidFill>
                  <a:srgbClr val="5A6B7B"/>
                </a:solidFill>
                <a:latin typeface="Segoe UI"/>
              </a:rPr>
              <a:t>associative entity that records the encounter between them.</a:t>
            </a:r>
          </a:p>
        </p:txBody>
      </p:sp>
      <p:sp>
        <p:nvSpPr>
          <p:cNvPr id="12" name="TextBox 11"/>
          <p:cNvSpPr txBox="1"/>
          <p:nvPr/>
        </p:nvSpPr>
        <p:spPr>
          <a:xfrm>
            <a:off x="5230368" y="3163824"/>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3" name="TextBox 12"/>
          <p:cNvSpPr txBox="1"/>
          <p:nvPr/>
        </p:nvSpPr>
        <p:spPr>
          <a:xfrm>
            <a:off x="5431536" y="3145536"/>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Segoe UI"/>
              </a:rPr>
              <a:t>The current employer is derived</a:t>
            </a:r>
          </a:p>
        </p:txBody>
      </p:sp>
      <p:sp>
        <p:nvSpPr>
          <p:cNvPr id="14" name="TextBox 13"/>
          <p:cNvSpPr txBox="1"/>
          <p:nvPr/>
        </p:nvSpPr>
        <p:spPr>
          <a:xfrm>
            <a:off x="5431536" y="3401568"/>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Segoe UI"/>
              </a:rPr>
              <a:t>no member.current_company_id: experience.is_current plus a unique index over a</a:t>
            </a:r>
          </a:p>
          <a:p>
            <a:pPr algn="l">
              <a:lnSpc>
                <a:spcPct val="115000"/>
              </a:lnSpc>
              <a:spcBef>
                <a:spcPts val="0"/>
              </a:spcBef>
              <a:spcAft>
                <a:spcPts val="0"/>
              </a:spcAft>
            </a:pPr>
            <a:r>
              <a:rPr sz="880" b="0">
                <a:solidFill>
                  <a:srgbClr val="5A6B7B"/>
                </a:solidFill>
                <a:latin typeface="Segoe UI"/>
              </a:rPr>
              <a:t>generated column guarantees exactly one live position per member.</a:t>
            </a:r>
          </a:p>
        </p:txBody>
      </p:sp>
      <p:sp>
        <p:nvSpPr>
          <p:cNvPr id="15" name="TextBox 14"/>
          <p:cNvSpPr txBox="1"/>
          <p:nvPr/>
        </p:nvSpPr>
        <p:spPr>
          <a:xfrm>
            <a:off x="5230368" y="4023360"/>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6" name="TextBox 15"/>
          <p:cNvSpPr txBox="1"/>
          <p:nvPr/>
        </p:nvSpPr>
        <p:spPr>
          <a:xfrm>
            <a:off x="5431536" y="4005072"/>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Segoe UI"/>
              </a:rPr>
              <a:t>Skills are relations, not text</a:t>
            </a:r>
          </a:p>
        </p:txBody>
      </p:sp>
      <p:sp>
        <p:nvSpPr>
          <p:cNvPr id="17" name="TextBox 16"/>
          <p:cNvSpPr txBox="1"/>
          <p:nvPr/>
        </p:nvSpPr>
        <p:spPr>
          <a:xfrm>
            <a:off x="5431536" y="4261104"/>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Segoe UI"/>
              </a:rPr>
              <a:t>member_skill and job_skill carry proficiency and importance, which is what turns a</a:t>
            </a:r>
          </a:p>
          <a:p>
            <a:pPr algn="l">
              <a:lnSpc>
                <a:spcPct val="115000"/>
              </a:lnSpc>
              <a:spcBef>
                <a:spcPts val="0"/>
              </a:spcBef>
              <a:spcAft>
                <a:spcPts val="0"/>
              </a:spcAft>
            </a:pPr>
            <a:r>
              <a:rPr sz="880" b="0">
                <a:solidFill>
                  <a:srgbClr val="5A6B7B"/>
                </a:solidFill>
                <a:latin typeface="Segoe UI"/>
              </a:rPr>
              <a:t>keyword into a match score.</a:t>
            </a:r>
          </a:p>
        </p:txBody>
      </p:sp>
      <p:sp>
        <p:nvSpPr>
          <p:cNvPr id="18" name="TextBox 17"/>
          <p:cNvSpPr txBox="1"/>
          <p:nvPr/>
        </p:nvSpPr>
        <p:spPr>
          <a:xfrm>
            <a:off x="5230368" y="4882896"/>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9" name="TextBox 18"/>
          <p:cNvSpPr txBox="1"/>
          <p:nvPr/>
        </p:nvSpPr>
        <p:spPr>
          <a:xfrm>
            <a:off x="5431536" y="4864608"/>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Segoe UI"/>
              </a:rPr>
              <a:t>Referral is 1:1 with its application</a:t>
            </a:r>
          </a:p>
        </p:txBody>
      </p:sp>
      <p:sp>
        <p:nvSpPr>
          <p:cNvPr id="20" name="TextBox 19"/>
          <p:cNvSpPr txBox="1"/>
          <p:nvPr/>
        </p:nvSpPr>
        <p:spPr>
          <a:xfrm>
            <a:off x="5431536" y="5120640"/>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Segoe UI"/>
              </a:rPr>
              <a:t>the referral table stores only the referrer and the bonus; the candidate and the posting</a:t>
            </a:r>
          </a:p>
          <a:p>
            <a:pPr algn="l">
              <a:lnSpc>
                <a:spcPct val="115000"/>
              </a:lnSpc>
              <a:spcBef>
                <a:spcPts val="0"/>
              </a:spcBef>
              <a:spcAft>
                <a:spcPts val="0"/>
              </a:spcAft>
            </a:pPr>
            <a:r>
              <a:rPr sz="880" b="0">
                <a:solidFill>
                  <a:srgbClr val="5A6B7B"/>
                </a:solidFill>
                <a:latin typeface="Segoe UI"/>
              </a:rPr>
              <a:t>are read through the application, so they cannot disagree.</a:t>
            </a:r>
          </a:p>
        </p:txBody>
      </p:sp>
      <p:sp>
        <p:nvSpPr>
          <p:cNvPr id="21" name="Rounded Rectangle 20"/>
          <p:cNvSpPr/>
          <p:nvPr/>
        </p:nvSpPr>
        <p:spPr>
          <a:xfrm>
            <a:off x="5230368" y="5687568"/>
            <a:ext cx="129844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2" name="TextBox 21"/>
          <p:cNvSpPr txBox="1"/>
          <p:nvPr/>
        </p:nvSpPr>
        <p:spPr>
          <a:xfrm>
            <a:off x="5431536" y="5760720"/>
            <a:ext cx="102412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12</a:t>
            </a:r>
          </a:p>
        </p:txBody>
      </p:sp>
      <p:sp>
        <p:nvSpPr>
          <p:cNvPr id="23" name="TextBox 22"/>
          <p:cNvSpPr txBox="1"/>
          <p:nvPr/>
        </p:nvSpPr>
        <p:spPr>
          <a:xfrm>
            <a:off x="5431536" y="6089904"/>
            <a:ext cx="102412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RELATIONS</a:t>
            </a:r>
          </a:p>
        </p:txBody>
      </p:sp>
      <p:sp>
        <p:nvSpPr>
          <p:cNvPr id="24" name="Rounded Rectangle 23"/>
          <p:cNvSpPr/>
          <p:nvPr/>
        </p:nvSpPr>
        <p:spPr>
          <a:xfrm>
            <a:off x="6620256" y="5687568"/>
            <a:ext cx="129844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5" name="TextBox 24"/>
          <p:cNvSpPr txBox="1"/>
          <p:nvPr/>
        </p:nvSpPr>
        <p:spPr>
          <a:xfrm>
            <a:off x="6821424" y="5760720"/>
            <a:ext cx="102412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17</a:t>
            </a:r>
          </a:p>
        </p:txBody>
      </p:sp>
      <p:sp>
        <p:nvSpPr>
          <p:cNvPr id="26" name="TextBox 25"/>
          <p:cNvSpPr txBox="1"/>
          <p:nvPr/>
        </p:nvSpPr>
        <p:spPr>
          <a:xfrm>
            <a:off x="6821424" y="6089904"/>
            <a:ext cx="102412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FOREIGN KEYS</a:t>
            </a:r>
          </a:p>
        </p:txBody>
      </p:sp>
      <p:sp>
        <p:nvSpPr>
          <p:cNvPr id="27" name="Rounded Rectangle 26"/>
          <p:cNvSpPr/>
          <p:nvPr/>
        </p:nvSpPr>
        <p:spPr>
          <a:xfrm>
            <a:off x="8010144" y="5687568"/>
            <a:ext cx="129844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8" name="TextBox 27"/>
          <p:cNvSpPr txBox="1"/>
          <p:nvPr/>
        </p:nvSpPr>
        <p:spPr>
          <a:xfrm>
            <a:off x="8211312" y="5760720"/>
            <a:ext cx="102412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25</a:t>
            </a:r>
          </a:p>
        </p:txBody>
      </p:sp>
      <p:sp>
        <p:nvSpPr>
          <p:cNvPr id="29" name="TextBox 28"/>
          <p:cNvSpPr txBox="1"/>
          <p:nvPr/>
        </p:nvSpPr>
        <p:spPr>
          <a:xfrm>
            <a:off x="8211312" y="6089904"/>
            <a:ext cx="102412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CHECK</a:t>
            </a:r>
          </a:p>
        </p:txBody>
      </p:sp>
      <p:sp>
        <p:nvSpPr>
          <p:cNvPr id="30" name="Rounded Rectangle 29"/>
          <p:cNvSpPr/>
          <p:nvPr/>
        </p:nvSpPr>
        <p:spPr>
          <a:xfrm>
            <a:off x="9400032" y="5687568"/>
            <a:ext cx="14173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31" name="TextBox 30"/>
          <p:cNvSpPr txBox="1"/>
          <p:nvPr/>
        </p:nvSpPr>
        <p:spPr>
          <a:xfrm>
            <a:off x="9601200" y="5760720"/>
            <a:ext cx="11430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3NF</a:t>
            </a:r>
          </a:p>
        </p:txBody>
      </p:sp>
      <p:sp>
        <p:nvSpPr>
          <p:cNvPr id="32" name="TextBox 31"/>
          <p:cNvSpPr txBox="1"/>
          <p:nvPr/>
        </p:nvSpPr>
        <p:spPr>
          <a:xfrm>
            <a:off x="9601200" y="6089904"/>
            <a:ext cx="1143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PROVEN PER TABLE</a:t>
            </a:r>
          </a:p>
        </p:txBody>
      </p:sp>
      <p:sp>
        <p:nvSpPr>
          <p:cNvPr id="33" name="Rectangle 3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34" name="TextBox 3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35" name="TextBox 3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05  ·  M  O  D  U  L  E     A</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Identity: one person, four records around them</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Profile, credentials, history and graph — everything the product knows before a job exists.</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module_identity.png"/>
          <p:cNvPicPr>
            <a:picLocks noChangeAspect="1"/>
          </p:cNvPicPr>
          <p:nvPr/>
        </p:nvPicPr>
        <p:blipFill>
          <a:blip r:embed="rId2"/>
          <a:stretch>
            <a:fillRect/>
          </a:stretch>
        </p:blipFill>
        <p:spPr>
          <a:xfrm>
            <a:off x="685800" y="2048256"/>
            <a:ext cx="6903720" cy="3473570"/>
          </a:xfrm>
          <a:prstGeom prst="rect">
            <a:avLst/>
          </a:prstGeom>
        </p:spPr>
      </p:pic>
      <p:sp>
        <p:nvSpPr>
          <p:cNvPr id="7" name="TextBox 6"/>
          <p:cNvSpPr txBox="1"/>
          <p:nvPr/>
        </p:nvSpPr>
        <p:spPr>
          <a:xfrm>
            <a:off x="685800" y="5504688"/>
            <a:ext cx="6903720" cy="164592"/>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ERD_module_identity</a:t>
            </a:r>
          </a:p>
        </p:txBody>
      </p:sp>
      <p:sp>
        <p:nvSpPr>
          <p:cNvPr id="8" name="Rounded Rectangle 7"/>
          <p:cNvSpPr/>
          <p:nvPr/>
        </p:nvSpPr>
        <p:spPr>
          <a:xfrm>
            <a:off x="7882127" y="2029968"/>
            <a:ext cx="3611880" cy="3931920"/>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9" name="TextBox 8"/>
          <p:cNvSpPr txBox="1"/>
          <p:nvPr/>
        </p:nvSpPr>
        <p:spPr>
          <a:xfrm>
            <a:off x="8138159" y="2194560"/>
            <a:ext cx="31089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T H E   O N E   R E A L   D E C I S I O N</a:t>
            </a:r>
          </a:p>
        </p:txBody>
      </p:sp>
      <p:sp>
        <p:nvSpPr>
          <p:cNvPr id="10" name="TextBox 9"/>
          <p:cNvSpPr txBox="1"/>
          <p:nvPr/>
        </p:nvSpPr>
        <p:spPr>
          <a:xfrm>
            <a:off x="8138159" y="2450592"/>
            <a:ext cx="3108960"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a:solidFill>
                  <a:srgbClr val="0E2A47"/>
                </a:solidFill>
                <a:latin typeface="Georgia"/>
              </a:rPr>
              <a:t>No current employer</a:t>
            </a:r>
          </a:p>
          <a:p>
            <a:pPr algn="l">
              <a:lnSpc>
                <a:spcPct val="110000"/>
              </a:lnSpc>
              <a:spcBef>
                <a:spcPts val="0"/>
              </a:spcBef>
              <a:spcAft>
                <a:spcPts val="0"/>
              </a:spcAft>
            </a:pPr>
            <a:r>
              <a:rPr sz="1250" b="1">
                <a:solidFill>
                  <a:srgbClr val="0E2A47"/>
                </a:solidFill>
                <a:latin typeface="Georgia"/>
              </a:rPr>
              <a:t>column</a:t>
            </a:r>
          </a:p>
        </p:txBody>
      </p:sp>
      <p:sp>
        <p:nvSpPr>
          <p:cNvPr id="11" name="TextBox 10"/>
          <p:cNvSpPr txBox="1"/>
          <p:nvPr/>
        </p:nvSpPr>
        <p:spPr>
          <a:xfrm>
            <a:off x="8138159" y="3072384"/>
            <a:ext cx="3127248" cy="1600200"/>
          </a:xfrm>
          <a:prstGeom prst="rect">
            <a:avLst/>
          </a:prstGeom>
          <a:noFill/>
        </p:spPr>
        <p:txBody>
          <a:bodyPr wrap="square" lIns="0" rIns="0" tIns="0" bIns="0" anchor="t">
            <a:spAutoFit/>
          </a:bodyPr>
          <a:lstStyle/>
          <a:p>
            <a:pPr algn="l">
              <a:lnSpc>
                <a:spcPct val="122000"/>
              </a:lnSpc>
              <a:spcBef>
                <a:spcPts val="0"/>
              </a:spcBef>
              <a:spcAft>
                <a:spcPts val="0"/>
              </a:spcAft>
            </a:pPr>
            <a:r>
              <a:rPr sz="860" b="0">
                <a:solidFill>
                  <a:srgbClr val="5A6B7B"/>
                </a:solidFill>
                <a:latin typeface="Segoe UI"/>
              </a:rPr>
              <a:t>It is already implied by experience. Storing both creates a redundancy the DBMS cannot police: two rows, one fact, silent disagreement after an edit.</a:t>
            </a:r>
          </a:p>
        </p:txBody>
      </p:sp>
      <p:sp>
        <p:nvSpPr>
          <p:cNvPr id="12" name="Rectangle 11"/>
          <p:cNvSpPr/>
          <p:nvPr/>
        </p:nvSpPr>
        <p:spPr>
          <a:xfrm>
            <a:off x="8138159" y="4041648"/>
            <a:ext cx="3108960" cy="9144"/>
          </a:xfrm>
          <a:prstGeom prst="rect">
            <a:avLst/>
          </a:prstGeom>
          <a:solidFill>
            <a:srgbClr val="D8E0E8"/>
          </a:solidFill>
          <a:ln>
            <a:noFill/>
          </a:ln>
          <a:effectLst/>
        </p:spPr>
        <p:txBody>
          <a:bodyPr rtlCol="0" anchor="ctr" wrap="square" lIns="0" rIns="0" tIns="0" bIns="0"/>
          <a:lstStyle/>
          <a:p>
            <a:pPr algn="ctr"/>
          </a:p>
        </p:txBody>
      </p:sp>
      <p:sp>
        <p:nvSpPr>
          <p:cNvPr id="13" name="TextBox 12"/>
          <p:cNvSpPr txBox="1"/>
          <p:nvPr/>
        </p:nvSpPr>
        <p:spPr>
          <a:xfrm>
            <a:off x="8138159" y="4151376"/>
            <a:ext cx="3072384"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IN STEAD</a:t>
            </a:r>
          </a:p>
        </p:txBody>
      </p:sp>
      <p:sp>
        <p:nvSpPr>
          <p:cNvPr id="14" name="TextBox 13"/>
          <p:cNvSpPr txBox="1"/>
          <p:nvPr/>
        </p:nvSpPr>
        <p:spPr>
          <a:xfrm>
            <a:off x="8138159" y="4389120"/>
            <a:ext cx="3127248" cy="868680"/>
          </a:xfrm>
          <a:prstGeom prst="rect">
            <a:avLst/>
          </a:prstGeom>
          <a:noFill/>
        </p:spPr>
        <p:txBody>
          <a:bodyPr wrap="square" lIns="0" rIns="0" tIns="0" bIns="0" anchor="t">
            <a:spAutoFit/>
          </a:bodyPr>
          <a:lstStyle/>
          <a:p>
            <a:pPr algn="l">
              <a:lnSpc>
                <a:spcPct val="120000"/>
              </a:lnSpc>
              <a:spcBef>
                <a:spcPts val="0"/>
              </a:spcBef>
              <a:spcAft>
                <a:spcPts val="0"/>
              </a:spcAft>
            </a:pPr>
            <a:r>
              <a:rPr sz="840" b="0">
                <a:solidFill>
                  <a:srgbClr val="0A66C2"/>
                </a:solidFill>
                <a:latin typeface="Segoe UI"/>
              </a:rPr>
              <a:t>is_current = 1</a:t>
            </a:r>
          </a:p>
          <a:p>
            <a:pPr algn="l">
              <a:lnSpc>
                <a:spcPct val="120000"/>
              </a:lnSpc>
              <a:spcBef>
                <a:spcPts val="0"/>
              </a:spcBef>
              <a:spcAft>
                <a:spcPts val="0"/>
              </a:spcAft>
            </a:pPr>
            <a:r>
              <a:rPr sz="840" b="0">
                <a:solidFill>
                  <a:srgbClr val="0A66C2"/>
                </a:solidFill>
                <a:latin typeface="Segoe UI"/>
              </a:rPr>
              <a:t>+ unique index on a generated column</a:t>
            </a:r>
          </a:p>
          <a:p>
            <a:pPr algn="l">
              <a:lnSpc>
                <a:spcPct val="120000"/>
              </a:lnSpc>
              <a:spcBef>
                <a:spcPts val="0"/>
              </a:spcBef>
              <a:spcAft>
                <a:spcPts val="0"/>
              </a:spcAft>
            </a:pPr>
            <a:r>
              <a:rPr sz="840" b="0">
                <a:solidFill>
                  <a:srgbClr val="0A66C2"/>
                </a:solidFill>
                <a:latin typeface="Segoe UI"/>
              </a:rPr>
              <a:t>→ at most one live position</a:t>
            </a:r>
          </a:p>
        </p:txBody>
      </p:sp>
      <p:sp>
        <p:nvSpPr>
          <p:cNvPr id="15" name="Rectangle 14"/>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16" name="TextBox 15"/>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17" name="TextBox 16"/>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06  ·  M  O  D  U  L  E  S     B     A  N  D     C</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Demand and decision: where the two halves meet</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A posting is a request for skills; an application is the answer to it.</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module_demand.png"/>
          <p:cNvPicPr>
            <a:picLocks noChangeAspect="1"/>
          </p:cNvPicPr>
          <p:nvPr/>
        </p:nvPicPr>
        <p:blipFill>
          <a:blip r:embed="rId2"/>
          <a:stretch>
            <a:fillRect/>
          </a:stretch>
        </p:blipFill>
        <p:spPr>
          <a:xfrm>
            <a:off x="685800" y="2084831"/>
            <a:ext cx="5349240" cy="3036686"/>
          </a:xfrm>
          <a:prstGeom prst="rect">
            <a:avLst/>
          </a:prstGeom>
        </p:spPr>
      </p:pic>
      <p:sp>
        <p:nvSpPr>
          <p:cNvPr id="7" name="TextBox 6"/>
          <p:cNvSpPr txBox="1"/>
          <p:nvPr/>
        </p:nvSpPr>
        <p:spPr>
          <a:xfrm>
            <a:off x="685800" y="5230368"/>
            <a:ext cx="5349240" cy="182880"/>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ERD_module_demand — company, posting, skills</a:t>
            </a:r>
          </a:p>
        </p:txBody>
      </p:sp>
      <p:sp>
        <p:nvSpPr>
          <p:cNvPr id="8" name="TextBox 7"/>
          <p:cNvSpPr txBox="1"/>
          <p:nvPr/>
        </p:nvSpPr>
        <p:spPr>
          <a:xfrm>
            <a:off x="685800" y="5468112"/>
            <a:ext cx="5349240" cy="868680"/>
          </a:xfrm>
          <a:prstGeom prst="rect">
            <a:avLst/>
          </a:prstGeom>
          <a:noFill/>
        </p:spPr>
        <p:txBody>
          <a:bodyPr wrap="square" lIns="0" rIns="0" tIns="0" bIns="0" anchor="t">
            <a:spAutoFit/>
          </a:bodyPr>
          <a:lstStyle/>
          <a:p>
            <a:pPr algn="l">
              <a:lnSpc>
                <a:spcPct val="120000"/>
              </a:lnSpc>
              <a:spcBef>
                <a:spcPts val="0"/>
              </a:spcBef>
              <a:spcAft>
                <a:spcPts val="0"/>
              </a:spcAft>
            </a:pPr>
            <a:r>
              <a:rPr sz="860" b="0">
                <a:solidFill>
                  <a:srgbClr val="5A6B7B"/>
                </a:solidFill>
                <a:latin typeface="Segoe UI"/>
              </a:rPr>
              <a:t>importance lives on the pair, not on the skill: the same skill is REQUIRED here and</a:t>
            </a:r>
          </a:p>
          <a:p>
            <a:pPr algn="l">
              <a:lnSpc>
                <a:spcPct val="120000"/>
              </a:lnSpc>
              <a:spcBef>
                <a:spcPts val="0"/>
              </a:spcBef>
              <a:spcAft>
                <a:spcPts val="0"/>
              </a:spcAft>
            </a:pPr>
            <a:r>
              <a:rPr sz="860" b="0">
                <a:solidFill>
                  <a:srgbClr val="5A6B7B"/>
                </a:solidFill>
                <a:latin typeface="Segoe UI"/>
              </a:rPr>
              <a:t>PREFERRED there. That single attribute is what makes a match score defensible.</a:t>
            </a:r>
          </a:p>
        </p:txBody>
      </p:sp>
      <p:pic>
        <p:nvPicPr>
          <p:cNvPr id="9" name="Picture 8" descr="ERD_module_hiring_loop.png"/>
          <p:cNvPicPr>
            <a:picLocks noChangeAspect="1"/>
          </p:cNvPicPr>
          <p:nvPr/>
        </p:nvPicPr>
        <p:blipFill>
          <a:blip r:embed="rId3"/>
          <a:stretch>
            <a:fillRect/>
          </a:stretch>
        </p:blipFill>
        <p:spPr>
          <a:xfrm>
            <a:off x="6355080" y="2084831"/>
            <a:ext cx="5166360" cy="3083272"/>
          </a:xfrm>
          <a:prstGeom prst="rect">
            <a:avLst/>
          </a:prstGeom>
        </p:spPr>
      </p:pic>
      <p:sp>
        <p:nvSpPr>
          <p:cNvPr id="10" name="TextBox 9"/>
          <p:cNvSpPr txBox="1"/>
          <p:nvPr/>
        </p:nvSpPr>
        <p:spPr>
          <a:xfrm>
            <a:off x="6355080" y="5230368"/>
            <a:ext cx="5166360" cy="182880"/>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ERD_module_hiring_loop — application, interview, referral</a:t>
            </a:r>
          </a:p>
        </p:txBody>
      </p:sp>
      <p:sp>
        <p:nvSpPr>
          <p:cNvPr id="11" name="TextBox 10"/>
          <p:cNvSpPr txBox="1"/>
          <p:nvPr/>
        </p:nvSpPr>
        <p:spPr>
          <a:xfrm>
            <a:off x="6355080" y="5468112"/>
            <a:ext cx="5166360" cy="868680"/>
          </a:xfrm>
          <a:prstGeom prst="rect">
            <a:avLst/>
          </a:prstGeom>
          <a:noFill/>
        </p:spPr>
        <p:txBody>
          <a:bodyPr wrap="square" lIns="0" rIns="0" tIns="0" bIns="0" anchor="t">
            <a:spAutoFit/>
          </a:bodyPr>
          <a:lstStyle/>
          <a:p>
            <a:pPr algn="l">
              <a:lnSpc>
                <a:spcPct val="120000"/>
              </a:lnSpc>
              <a:spcBef>
                <a:spcPts val="0"/>
              </a:spcBef>
              <a:spcAft>
                <a:spcPts val="0"/>
              </a:spcAft>
            </a:pPr>
            <a:r>
              <a:rPr sz="860" b="0">
                <a:solidFill>
                  <a:srgbClr val="5A6B7B"/>
                </a:solidFill>
                <a:latin typeface="Segoe UI"/>
              </a:rPr>
              <a:t>interviews are numbered per application, not per posting; the referral is 1:1 with the</a:t>
            </a:r>
          </a:p>
          <a:p>
            <a:pPr algn="l">
              <a:lnSpc>
                <a:spcPct val="120000"/>
              </a:lnSpc>
              <a:spcBef>
                <a:spcPts val="0"/>
              </a:spcBef>
              <a:spcAft>
                <a:spcPts val="0"/>
              </a:spcAft>
            </a:pPr>
            <a:r>
              <a:rPr sz="860" b="0">
                <a:solidFill>
                  <a:srgbClr val="5A6B7B"/>
                </a:solidFill>
                <a:latin typeface="Segoe UI"/>
              </a:rPr>
              <a:t>application it produced, so its candidate and job cannot contradict it.</a:t>
            </a:r>
          </a:p>
        </p:txBody>
      </p:sp>
      <p:sp>
        <p:nvSpPr>
          <p:cNvPr id="12" name="Rectangle 11"/>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13" name="TextBox 12"/>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14" name="TextBox 13"/>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07  ·  T  H  E     T  A  B  L  E  S</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Twelve relations, three groups, one purpose each</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Counts are the seeded instance: large enough for distributions, small enough to audit by hand.</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2029968"/>
            <a:ext cx="3063239"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IDENTITY   ·   4 tables</a:t>
            </a:r>
          </a:p>
        </p:txBody>
      </p:sp>
      <p:sp>
        <p:nvSpPr>
          <p:cNvPr id="7" name="Rounded Rectangle 6"/>
          <p:cNvSpPr/>
          <p:nvPr/>
        </p:nvSpPr>
        <p:spPr>
          <a:xfrm>
            <a:off x="685800" y="2286000"/>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8" name="TextBox 7"/>
          <p:cNvSpPr txBox="1"/>
          <p:nvPr/>
        </p:nvSpPr>
        <p:spPr>
          <a:xfrm>
            <a:off x="832104" y="2368296"/>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member</a:t>
            </a:r>
          </a:p>
        </p:txBody>
      </p:sp>
      <p:sp>
        <p:nvSpPr>
          <p:cNvPr id="9" name="TextBox 8"/>
          <p:cNvSpPr txBox="1"/>
          <p:nvPr/>
        </p:nvSpPr>
        <p:spPr>
          <a:xfrm>
            <a:off x="3035808" y="2368296"/>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300</a:t>
            </a:r>
          </a:p>
        </p:txBody>
      </p:sp>
      <p:sp>
        <p:nvSpPr>
          <p:cNvPr id="10" name="TextBox 9"/>
          <p:cNvSpPr txBox="1"/>
          <p:nvPr/>
        </p:nvSpPr>
        <p:spPr>
          <a:xfrm>
            <a:off x="832104" y="2615184"/>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the person; roles are relationships, not subtypes</a:t>
            </a:r>
          </a:p>
        </p:txBody>
      </p:sp>
      <p:sp>
        <p:nvSpPr>
          <p:cNvPr id="11" name="Rounded Rectangle 10"/>
          <p:cNvSpPr/>
          <p:nvPr/>
        </p:nvSpPr>
        <p:spPr>
          <a:xfrm>
            <a:off x="685800" y="3072384"/>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12" name="TextBox 11"/>
          <p:cNvSpPr txBox="1"/>
          <p:nvPr/>
        </p:nvSpPr>
        <p:spPr>
          <a:xfrm>
            <a:off x="832104" y="3154679"/>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education</a:t>
            </a:r>
          </a:p>
        </p:txBody>
      </p:sp>
      <p:sp>
        <p:nvSpPr>
          <p:cNvPr id="13" name="TextBox 12"/>
          <p:cNvSpPr txBox="1"/>
          <p:nvPr/>
        </p:nvSpPr>
        <p:spPr>
          <a:xfrm>
            <a:off x="3035808" y="3154679"/>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393</a:t>
            </a:r>
          </a:p>
        </p:txBody>
      </p:sp>
      <p:sp>
        <p:nvSpPr>
          <p:cNvPr id="14" name="TextBox 13"/>
          <p:cNvSpPr txBox="1"/>
          <p:nvPr/>
        </p:nvSpPr>
        <p:spPr>
          <a:xfrm>
            <a:off x="832104" y="3401568"/>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degrees, 1:N from member</a:t>
            </a:r>
          </a:p>
        </p:txBody>
      </p:sp>
      <p:sp>
        <p:nvSpPr>
          <p:cNvPr id="15" name="Rounded Rectangle 14"/>
          <p:cNvSpPr/>
          <p:nvPr/>
        </p:nvSpPr>
        <p:spPr>
          <a:xfrm>
            <a:off x="685800" y="3858768"/>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16" name="TextBox 15"/>
          <p:cNvSpPr txBox="1"/>
          <p:nvPr/>
        </p:nvSpPr>
        <p:spPr>
          <a:xfrm>
            <a:off x="832104" y="3941063"/>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experience</a:t>
            </a:r>
          </a:p>
        </p:txBody>
      </p:sp>
      <p:sp>
        <p:nvSpPr>
          <p:cNvPr id="17" name="TextBox 16"/>
          <p:cNvSpPr txBox="1"/>
          <p:nvPr/>
        </p:nvSpPr>
        <p:spPr>
          <a:xfrm>
            <a:off x="3035808" y="3941063"/>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492</a:t>
            </a:r>
          </a:p>
        </p:txBody>
      </p:sp>
      <p:sp>
        <p:nvSpPr>
          <p:cNvPr id="18" name="TextBox 17"/>
          <p:cNvSpPr txBox="1"/>
          <p:nvPr/>
        </p:nvSpPr>
        <p:spPr>
          <a:xfrm>
            <a:off x="832104" y="4187952"/>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employment history; one live row per member</a:t>
            </a:r>
          </a:p>
        </p:txBody>
      </p:sp>
      <p:sp>
        <p:nvSpPr>
          <p:cNvPr id="19" name="Rounded Rectangle 18"/>
          <p:cNvSpPr/>
          <p:nvPr/>
        </p:nvSpPr>
        <p:spPr>
          <a:xfrm>
            <a:off x="685800" y="4645152"/>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20" name="TextBox 19"/>
          <p:cNvSpPr txBox="1"/>
          <p:nvPr/>
        </p:nvSpPr>
        <p:spPr>
          <a:xfrm>
            <a:off x="832104" y="4727448"/>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connection</a:t>
            </a:r>
          </a:p>
        </p:txBody>
      </p:sp>
      <p:sp>
        <p:nvSpPr>
          <p:cNvPr id="21" name="TextBox 20"/>
          <p:cNvSpPr txBox="1"/>
          <p:nvPr/>
        </p:nvSpPr>
        <p:spPr>
          <a:xfrm>
            <a:off x="3035808" y="4727448"/>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1 065</a:t>
            </a:r>
          </a:p>
        </p:txBody>
      </p:sp>
      <p:sp>
        <p:nvSpPr>
          <p:cNvPr id="22" name="TextBox 21"/>
          <p:cNvSpPr txBox="1"/>
          <p:nvPr/>
        </p:nvSpPr>
        <p:spPr>
          <a:xfrm>
            <a:off x="832104" y="4974336"/>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undirected social edge, stored once</a:t>
            </a:r>
          </a:p>
        </p:txBody>
      </p:sp>
      <p:sp>
        <p:nvSpPr>
          <p:cNvPr id="23" name="TextBox 22"/>
          <p:cNvSpPr txBox="1"/>
          <p:nvPr/>
        </p:nvSpPr>
        <p:spPr>
          <a:xfrm>
            <a:off x="3931920" y="2029968"/>
            <a:ext cx="3063239"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DEMAND   ·   3 tables</a:t>
            </a:r>
          </a:p>
        </p:txBody>
      </p:sp>
      <p:sp>
        <p:nvSpPr>
          <p:cNvPr id="24" name="Rounded Rectangle 23"/>
          <p:cNvSpPr/>
          <p:nvPr/>
        </p:nvSpPr>
        <p:spPr>
          <a:xfrm>
            <a:off x="3931920" y="2286000"/>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25" name="TextBox 24"/>
          <p:cNvSpPr txBox="1"/>
          <p:nvPr/>
        </p:nvSpPr>
        <p:spPr>
          <a:xfrm>
            <a:off x="4078224" y="2368296"/>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company</a:t>
            </a:r>
          </a:p>
        </p:txBody>
      </p:sp>
      <p:sp>
        <p:nvSpPr>
          <p:cNvPr id="26" name="TextBox 25"/>
          <p:cNvSpPr txBox="1"/>
          <p:nvPr/>
        </p:nvSpPr>
        <p:spPr>
          <a:xfrm>
            <a:off x="6281927" y="2368296"/>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60</a:t>
            </a:r>
          </a:p>
        </p:txBody>
      </p:sp>
      <p:sp>
        <p:nvSpPr>
          <p:cNvPr id="27" name="TextBox 26"/>
          <p:cNvSpPr txBox="1"/>
          <p:nvPr/>
        </p:nvSpPr>
        <p:spPr>
          <a:xfrm>
            <a:off x="4078224" y="2615184"/>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employer facts stated once</a:t>
            </a:r>
          </a:p>
        </p:txBody>
      </p:sp>
      <p:sp>
        <p:nvSpPr>
          <p:cNvPr id="28" name="Rounded Rectangle 27"/>
          <p:cNvSpPr/>
          <p:nvPr/>
        </p:nvSpPr>
        <p:spPr>
          <a:xfrm>
            <a:off x="3931920" y="3072384"/>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29" name="TextBox 28"/>
          <p:cNvSpPr txBox="1"/>
          <p:nvPr/>
        </p:nvSpPr>
        <p:spPr>
          <a:xfrm>
            <a:off x="4078224" y="3154679"/>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job_posting</a:t>
            </a:r>
          </a:p>
        </p:txBody>
      </p:sp>
      <p:sp>
        <p:nvSpPr>
          <p:cNvPr id="30" name="TextBox 29"/>
          <p:cNvSpPr txBox="1"/>
          <p:nvPr/>
        </p:nvSpPr>
        <p:spPr>
          <a:xfrm>
            <a:off x="6281927" y="3154679"/>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120</a:t>
            </a:r>
          </a:p>
        </p:txBody>
      </p:sp>
      <p:sp>
        <p:nvSpPr>
          <p:cNvPr id="31" name="TextBox 30"/>
          <p:cNvSpPr txBox="1"/>
          <p:nvPr/>
        </p:nvSpPr>
        <p:spPr>
          <a:xfrm>
            <a:off x="4078224" y="3401568"/>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one advertised opening, 4 lifecycle states</a:t>
            </a:r>
          </a:p>
        </p:txBody>
      </p:sp>
      <p:sp>
        <p:nvSpPr>
          <p:cNvPr id="32" name="Rounded Rectangle 31"/>
          <p:cNvSpPr/>
          <p:nvPr/>
        </p:nvSpPr>
        <p:spPr>
          <a:xfrm>
            <a:off x="3931920" y="3858768"/>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33" name="TextBox 32"/>
          <p:cNvSpPr txBox="1"/>
          <p:nvPr/>
        </p:nvSpPr>
        <p:spPr>
          <a:xfrm>
            <a:off x="4078224" y="3941063"/>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skill</a:t>
            </a:r>
          </a:p>
        </p:txBody>
      </p:sp>
      <p:sp>
        <p:nvSpPr>
          <p:cNvPr id="34" name="TextBox 33"/>
          <p:cNvSpPr txBox="1"/>
          <p:nvPr/>
        </p:nvSpPr>
        <p:spPr>
          <a:xfrm>
            <a:off x="6281927" y="3941063"/>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60</a:t>
            </a:r>
          </a:p>
        </p:txBody>
      </p:sp>
      <p:sp>
        <p:nvSpPr>
          <p:cNvPr id="35" name="TextBox 34"/>
          <p:cNvSpPr txBox="1"/>
          <p:nvPr/>
        </p:nvSpPr>
        <p:spPr>
          <a:xfrm>
            <a:off x="4078224" y="4187952"/>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controlled vocabulary in 8 families</a:t>
            </a:r>
          </a:p>
        </p:txBody>
      </p:sp>
      <p:sp>
        <p:nvSpPr>
          <p:cNvPr id="36" name="TextBox 35"/>
          <p:cNvSpPr txBox="1"/>
          <p:nvPr/>
        </p:nvSpPr>
        <p:spPr>
          <a:xfrm>
            <a:off x="7178040" y="2029968"/>
            <a:ext cx="3977639"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MATCHING &amp; LOOP   ·   5 tables</a:t>
            </a:r>
          </a:p>
        </p:txBody>
      </p:sp>
      <p:sp>
        <p:nvSpPr>
          <p:cNvPr id="37" name="Rounded Rectangle 36"/>
          <p:cNvSpPr/>
          <p:nvPr/>
        </p:nvSpPr>
        <p:spPr>
          <a:xfrm>
            <a:off x="7178040" y="2286000"/>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38" name="TextBox 37"/>
          <p:cNvSpPr txBox="1"/>
          <p:nvPr/>
        </p:nvSpPr>
        <p:spPr>
          <a:xfrm>
            <a:off x="7324344" y="2368296"/>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member_skill</a:t>
            </a:r>
          </a:p>
        </p:txBody>
      </p:sp>
      <p:sp>
        <p:nvSpPr>
          <p:cNvPr id="39" name="TextBox 38"/>
          <p:cNvSpPr txBox="1"/>
          <p:nvPr/>
        </p:nvSpPr>
        <p:spPr>
          <a:xfrm>
            <a:off x="10442447" y="2368296"/>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1 329</a:t>
            </a:r>
          </a:p>
        </p:txBody>
      </p:sp>
      <p:sp>
        <p:nvSpPr>
          <p:cNvPr id="40" name="TextBox 39"/>
          <p:cNvSpPr txBox="1"/>
          <p:nvPr/>
        </p:nvSpPr>
        <p:spPr>
          <a:xfrm>
            <a:off x="7324344" y="2615184"/>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proficiency 1–5, endorsements, years</a:t>
            </a:r>
          </a:p>
        </p:txBody>
      </p:sp>
      <p:sp>
        <p:nvSpPr>
          <p:cNvPr id="41" name="Rounded Rectangle 40"/>
          <p:cNvSpPr/>
          <p:nvPr/>
        </p:nvSpPr>
        <p:spPr>
          <a:xfrm>
            <a:off x="7178040" y="3008376"/>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42" name="TextBox 41"/>
          <p:cNvSpPr txBox="1"/>
          <p:nvPr/>
        </p:nvSpPr>
        <p:spPr>
          <a:xfrm>
            <a:off x="7324344" y="3090672"/>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job_skill</a:t>
            </a:r>
          </a:p>
        </p:txBody>
      </p:sp>
      <p:sp>
        <p:nvSpPr>
          <p:cNvPr id="43" name="TextBox 42"/>
          <p:cNvSpPr txBox="1"/>
          <p:nvPr/>
        </p:nvSpPr>
        <p:spPr>
          <a:xfrm>
            <a:off x="10442447" y="3090672"/>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504</a:t>
            </a:r>
          </a:p>
        </p:txBody>
      </p:sp>
      <p:sp>
        <p:nvSpPr>
          <p:cNvPr id="44" name="TextBox 43"/>
          <p:cNvSpPr txBox="1"/>
          <p:nvPr/>
        </p:nvSpPr>
        <p:spPr>
          <a:xfrm>
            <a:off x="7324344" y="3337560"/>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REQUIRED vs PREFERRED, minimum level</a:t>
            </a:r>
          </a:p>
        </p:txBody>
      </p:sp>
      <p:sp>
        <p:nvSpPr>
          <p:cNvPr id="45" name="Rounded Rectangle 44"/>
          <p:cNvSpPr/>
          <p:nvPr/>
        </p:nvSpPr>
        <p:spPr>
          <a:xfrm>
            <a:off x="7178040" y="3730752"/>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46" name="TextBox 45"/>
          <p:cNvSpPr txBox="1"/>
          <p:nvPr/>
        </p:nvSpPr>
        <p:spPr>
          <a:xfrm>
            <a:off x="7324344" y="3813048"/>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application</a:t>
            </a:r>
          </a:p>
        </p:txBody>
      </p:sp>
      <p:sp>
        <p:nvSpPr>
          <p:cNvPr id="47" name="TextBox 46"/>
          <p:cNvSpPr txBox="1"/>
          <p:nvPr/>
        </p:nvSpPr>
        <p:spPr>
          <a:xfrm>
            <a:off x="10442447" y="3813048"/>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250</a:t>
            </a:r>
          </a:p>
        </p:txBody>
      </p:sp>
      <p:sp>
        <p:nvSpPr>
          <p:cNvPr id="48" name="TextBox 47"/>
          <p:cNvSpPr txBox="1"/>
          <p:nvPr/>
        </p:nvSpPr>
        <p:spPr>
          <a:xfrm>
            <a:off x="7324344" y="4059936"/>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the state machine and its timestamps</a:t>
            </a:r>
          </a:p>
        </p:txBody>
      </p:sp>
      <p:sp>
        <p:nvSpPr>
          <p:cNvPr id="49" name="Rounded Rectangle 48"/>
          <p:cNvSpPr/>
          <p:nvPr/>
        </p:nvSpPr>
        <p:spPr>
          <a:xfrm>
            <a:off x="7178040" y="4453128"/>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50" name="TextBox 49"/>
          <p:cNvSpPr txBox="1"/>
          <p:nvPr/>
        </p:nvSpPr>
        <p:spPr>
          <a:xfrm>
            <a:off x="7324344" y="4535424"/>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interview</a:t>
            </a:r>
          </a:p>
        </p:txBody>
      </p:sp>
      <p:sp>
        <p:nvSpPr>
          <p:cNvPr id="51" name="TextBox 50"/>
          <p:cNvSpPr txBox="1"/>
          <p:nvPr/>
        </p:nvSpPr>
        <p:spPr>
          <a:xfrm>
            <a:off x="10442447" y="4535424"/>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210</a:t>
            </a:r>
          </a:p>
        </p:txBody>
      </p:sp>
      <p:sp>
        <p:nvSpPr>
          <p:cNvPr id="52" name="TextBox 51"/>
          <p:cNvSpPr txBox="1"/>
          <p:nvPr/>
        </p:nvSpPr>
        <p:spPr>
          <a:xfrm>
            <a:off x="7324344" y="4782312"/>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rounds 1..n, outcome and score</a:t>
            </a:r>
          </a:p>
        </p:txBody>
      </p:sp>
      <p:sp>
        <p:nvSpPr>
          <p:cNvPr id="53" name="Rounded Rectangle 52"/>
          <p:cNvSpPr/>
          <p:nvPr/>
        </p:nvSpPr>
        <p:spPr>
          <a:xfrm>
            <a:off x="7178040" y="5175504"/>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54" name="TextBox 53"/>
          <p:cNvSpPr txBox="1"/>
          <p:nvPr/>
        </p:nvSpPr>
        <p:spPr>
          <a:xfrm>
            <a:off x="7324344" y="5257800"/>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referral</a:t>
            </a:r>
          </a:p>
        </p:txBody>
      </p:sp>
      <p:sp>
        <p:nvSpPr>
          <p:cNvPr id="55" name="TextBox 54"/>
          <p:cNvSpPr txBox="1"/>
          <p:nvPr/>
        </p:nvSpPr>
        <p:spPr>
          <a:xfrm>
            <a:off x="10442447" y="5257800"/>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60</a:t>
            </a:r>
          </a:p>
        </p:txBody>
      </p:sp>
      <p:sp>
        <p:nvSpPr>
          <p:cNvPr id="56" name="TextBox 55"/>
          <p:cNvSpPr txBox="1"/>
          <p:nvPr/>
        </p:nvSpPr>
        <p:spPr>
          <a:xfrm>
            <a:off x="7324344" y="5504688"/>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Segoe UI"/>
              </a:rPr>
              <a:t>1:1 with the application; bonus state</a:t>
            </a:r>
          </a:p>
        </p:txBody>
      </p:sp>
      <p:sp>
        <p:nvSpPr>
          <p:cNvPr id="57" name="Rectangle 56"/>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58" name="TextBox 57"/>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59" name="TextBox 58"/>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08  ·  E  V  I  D  E  N  C  E     I</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Referral is not a nicer channel — it is a different funnel</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Same interview rate, three times the hire rate: the difference sits after the interview.</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93392"/>
            <a:ext cx="52120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Q07   ·   FUNNEL BY SOURCE CHANNEL</a:t>
            </a:r>
          </a:p>
        </p:txBody>
      </p:sp>
      <p:sp>
        <p:nvSpPr>
          <p:cNvPr id="7" name="Rectangle 6"/>
          <p:cNvSpPr/>
          <p:nvPr/>
        </p:nvSpPr>
        <p:spPr>
          <a:xfrm>
            <a:off x="685800" y="2249424"/>
            <a:ext cx="5486400" cy="329184"/>
          </a:xfrm>
          <a:prstGeom prst="rect">
            <a:avLst/>
          </a:prstGeom>
          <a:solidFill>
            <a:srgbClr val="0E2A47"/>
          </a:solidFill>
          <a:ln>
            <a:noFill/>
          </a:ln>
          <a:effectLst/>
        </p:spPr>
        <p:txBody>
          <a:bodyPr rtlCol="0" anchor="ctr" wrap="square" lIns="0" rIns="0" tIns="0" bIns="0"/>
          <a:lstStyle/>
          <a:p>
            <a:pPr algn="ctr"/>
          </a:p>
        </p:txBody>
      </p:sp>
      <p:sp>
        <p:nvSpPr>
          <p:cNvPr id="8" name="TextBox 7"/>
          <p:cNvSpPr txBox="1"/>
          <p:nvPr/>
        </p:nvSpPr>
        <p:spPr>
          <a:xfrm>
            <a:off x="777240" y="231343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Channel</a:t>
            </a:r>
          </a:p>
        </p:txBody>
      </p:sp>
      <p:sp>
        <p:nvSpPr>
          <p:cNvPr id="9" name="TextBox 8"/>
          <p:cNvSpPr txBox="1"/>
          <p:nvPr/>
        </p:nvSpPr>
        <p:spPr>
          <a:xfrm>
            <a:off x="2194560" y="2313432"/>
            <a:ext cx="108813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Applications</a:t>
            </a:r>
          </a:p>
        </p:txBody>
      </p:sp>
      <p:sp>
        <p:nvSpPr>
          <p:cNvPr id="10" name="TextBox 9"/>
          <p:cNvSpPr txBox="1"/>
          <p:nvPr/>
        </p:nvSpPr>
        <p:spPr>
          <a:xfrm>
            <a:off x="3429000" y="231343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Interview rate</a:t>
            </a:r>
          </a:p>
        </p:txBody>
      </p:sp>
      <p:sp>
        <p:nvSpPr>
          <p:cNvPr id="11" name="TextBox 10"/>
          <p:cNvSpPr txBox="1"/>
          <p:nvPr/>
        </p:nvSpPr>
        <p:spPr>
          <a:xfrm>
            <a:off x="4846320" y="231343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Hired</a:t>
            </a:r>
          </a:p>
        </p:txBody>
      </p:sp>
      <p:sp>
        <p:nvSpPr>
          <p:cNvPr id="12" name="TextBox 11"/>
          <p:cNvSpPr txBox="1"/>
          <p:nvPr/>
        </p:nvSpPr>
        <p:spPr>
          <a:xfrm>
            <a:off x="777240" y="2647188"/>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900" b="1">
                <a:solidFill>
                  <a:srgbClr val="0E2A47"/>
                </a:solidFill>
                <a:latin typeface="Segoe UI"/>
              </a:rPr>
              <a:t>Referral</a:t>
            </a:r>
          </a:p>
        </p:txBody>
      </p:sp>
      <p:sp>
        <p:nvSpPr>
          <p:cNvPr id="13" name="TextBox 12"/>
          <p:cNvSpPr txBox="1"/>
          <p:nvPr/>
        </p:nvSpPr>
        <p:spPr>
          <a:xfrm>
            <a:off x="2194560" y="2647188"/>
            <a:ext cx="108813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60</a:t>
            </a:r>
          </a:p>
        </p:txBody>
      </p:sp>
      <p:sp>
        <p:nvSpPr>
          <p:cNvPr id="14" name="TextBox 13"/>
          <p:cNvSpPr txBox="1"/>
          <p:nvPr/>
        </p:nvSpPr>
        <p:spPr>
          <a:xfrm>
            <a:off x="3429000" y="2647188"/>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46.7%</a:t>
            </a:r>
          </a:p>
        </p:txBody>
      </p:sp>
      <p:sp>
        <p:nvSpPr>
          <p:cNvPr id="15" name="TextBox 14"/>
          <p:cNvSpPr txBox="1"/>
          <p:nvPr/>
        </p:nvSpPr>
        <p:spPr>
          <a:xfrm>
            <a:off x="4846320" y="2647188"/>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16.7%</a:t>
            </a:r>
          </a:p>
        </p:txBody>
      </p:sp>
      <p:sp>
        <p:nvSpPr>
          <p:cNvPr id="16" name="Rectangle 15"/>
          <p:cNvSpPr/>
          <p:nvPr/>
        </p:nvSpPr>
        <p:spPr>
          <a:xfrm>
            <a:off x="685800" y="2907791"/>
            <a:ext cx="5486400" cy="329184"/>
          </a:xfrm>
          <a:prstGeom prst="rect">
            <a:avLst/>
          </a:prstGeom>
          <a:solidFill>
            <a:srgbClr val="F3F7FA"/>
          </a:solidFill>
          <a:ln>
            <a:noFill/>
          </a:ln>
          <a:effectLst/>
        </p:spPr>
        <p:txBody>
          <a:bodyPr rtlCol="0" anchor="ctr" wrap="square" lIns="0" rIns="0" tIns="0" bIns="0"/>
          <a:lstStyle/>
          <a:p>
            <a:pPr algn="ctr"/>
          </a:p>
        </p:txBody>
      </p:sp>
      <p:sp>
        <p:nvSpPr>
          <p:cNvPr id="17" name="TextBox 16"/>
          <p:cNvSpPr txBox="1"/>
          <p:nvPr/>
        </p:nvSpPr>
        <p:spPr>
          <a:xfrm>
            <a:off x="777240" y="297637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900" b="1">
                <a:solidFill>
                  <a:srgbClr val="0E2A47"/>
                </a:solidFill>
                <a:latin typeface="Segoe UI"/>
              </a:rPr>
              <a:t>Sourcing</a:t>
            </a:r>
          </a:p>
        </p:txBody>
      </p:sp>
      <p:sp>
        <p:nvSpPr>
          <p:cNvPr id="18" name="TextBox 17"/>
          <p:cNvSpPr txBox="1"/>
          <p:nvPr/>
        </p:nvSpPr>
        <p:spPr>
          <a:xfrm>
            <a:off x="2194560" y="2976372"/>
            <a:ext cx="108813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40</a:t>
            </a:r>
          </a:p>
        </p:txBody>
      </p:sp>
      <p:sp>
        <p:nvSpPr>
          <p:cNvPr id="19" name="TextBox 18"/>
          <p:cNvSpPr txBox="1"/>
          <p:nvPr/>
        </p:nvSpPr>
        <p:spPr>
          <a:xfrm>
            <a:off x="3429000" y="2976372"/>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42.5%</a:t>
            </a:r>
          </a:p>
        </p:txBody>
      </p:sp>
      <p:sp>
        <p:nvSpPr>
          <p:cNvPr id="20" name="TextBox 19"/>
          <p:cNvSpPr txBox="1"/>
          <p:nvPr/>
        </p:nvSpPr>
        <p:spPr>
          <a:xfrm>
            <a:off x="4846320" y="2976372"/>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7.5%</a:t>
            </a:r>
          </a:p>
        </p:txBody>
      </p:sp>
      <p:sp>
        <p:nvSpPr>
          <p:cNvPr id="21" name="TextBox 20"/>
          <p:cNvSpPr txBox="1"/>
          <p:nvPr/>
        </p:nvSpPr>
        <p:spPr>
          <a:xfrm>
            <a:off x="777240" y="3305556"/>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900" b="1">
                <a:solidFill>
                  <a:srgbClr val="0E2A47"/>
                </a:solidFill>
                <a:latin typeface="Segoe UI"/>
              </a:rPr>
              <a:t>Direct</a:t>
            </a:r>
          </a:p>
        </p:txBody>
      </p:sp>
      <p:sp>
        <p:nvSpPr>
          <p:cNvPr id="22" name="TextBox 21"/>
          <p:cNvSpPr txBox="1"/>
          <p:nvPr/>
        </p:nvSpPr>
        <p:spPr>
          <a:xfrm>
            <a:off x="2194560" y="3305556"/>
            <a:ext cx="108813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150</a:t>
            </a:r>
          </a:p>
        </p:txBody>
      </p:sp>
      <p:sp>
        <p:nvSpPr>
          <p:cNvPr id="23" name="TextBox 22"/>
          <p:cNvSpPr txBox="1"/>
          <p:nvPr/>
        </p:nvSpPr>
        <p:spPr>
          <a:xfrm>
            <a:off x="3429000" y="3305556"/>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44.7%</a:t>
            </a:r>
          </a:p>
        </p:txBody>
      </p:sp>
      <p:sp>
        <p:nvSpPr>
          <p:cNvPr id="24" name="TextBox 23"/>
          <p:cNvSpPr txBox="1"/>
          <p:nvPr/>
        </p:nvSpPr>
        <p:spPr>
          <a:xfrm>
            <a:off x="4846320" y="3305556"/>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5.3%</a:t>
            </a:r>
          </a:p>
        </p:txBody>
      </p:sp>
      <p:sp>
        <p:nvSpPr>
          <p:cNvPr id="25" name="TextBox 24"/>
          <p:cNvSpPr txBox="1"/>
          <p:nvPr/>
        </p:nvSpPr>
        <p:spPr>
          <a:xfrm>
            <a:off x="685800" y="3639312"/>
            <a:ext cx="5212080" cy="502920"/>
          </a:xfrm>
          <a:prstGeom prst="rect">
            <a:avLst/>
          </a:prstGeom>
          <a:noFill/>
        </p:spPr>
        <p:txBody>
          <a:bodyPr wrap="square" lIns="0" rIns="0" tIns="0" bIns="0" anchor="t">
            <a:spAutoFit/>
          </a:bodyPr>
          <a:lstStyle/>
          <a:p>
            <a:pPr algn="l">
              <a:lnSpc>
                <a:spcPct val="120000"/>
              </a:lnSpc>
              <a:spcBef>
                <a:spcPts val="0"/>
              </a:spcBef>
              <a:spcAft>
                <a:spcPts val="0"/>
              </a:spcAft>
            </a:pPr>
            <a:r>
              <a:rPr sz="880" b="0">
                <a:solidFill>
                  <a:srgbClr val="5A6B7B"/>
                </a:solidFill>
                <a:latin typeface="Segoe UI"/>
              </a:rPr>
              <a:t>Interview rates differ by 4 points. Hire rates differ by 11.</a:t>
            </a:r>
          </a:p>
          <a:p>
            <a:pPr algn="l">
              <a:lnSpc>
                <a:spcPct val="120000"/>
              </a:lnSpc>
              <a:spcBef>
                <a:spcPts val="0"/>
              </a:spcBef>
              <a:spcAft>
                <a:spcPts val="0"/>
              </a:spcAft>
            </a:pPr>
            <a:r>
              <a:rPr sz="880" b="0">
                <a:solidFill>
                  <a:srgbClr val="5A6B7B"/>
                </a:solidFill>
                <a:latin typeface="Segoe UI"/>
              </a:rPr>
              <a:t>The leverage is in the interview-to-offer step, not in sourcing volume.</a:t>
            </a:r>
          </a:p>
        </p:txBody>
      </p:sp>
      <p:sp>
        <p:nvSpPr>
          <p:cNvPr id="26" name="Rectangle 25"/>
          <p:cNvSpPr/>
          <p:nvPr/>
        </p:nvSpPr>
        <p:spPr>
          <a:xfrm>
            <a:off x="685800" y="4169663"/>
            <a:ext cx="5212080" cy="9144"/>
          </a:xfrm>
          <a:prstGeom prst="rect">
            <a:avLst/>
          </a:prstGeom>
          <a:solidFill>
            <a:srgbClr val="D8E0E8"/>
          </a:solidFill>
          <a:ln>
            <a:noFill/>
          </a:ln>
          <a:effectLst/>
        </p:spPr>
        <p:txBody>
          <a:bodyPr rtlCol="0" anchor="ctr" wrap="square" lIns="0" rIns="0" tIns="0" bIns="0"/>
          <a:lstStyle/>
          <a:p>
            <a:pPr algn="ctr"/>
          </a:p>
        </p:txBody>
      </p:sp>
      <p:sp>
        <p:nvSpPr>
          <p:cNvPr id="27" name="TextBox 26"/>
          <p:cNvSpPr txBox="1"/>
          <p:nvPr/>
        </p:nvSpPr>
        <p:spPr>
          <a:xfrm>
            <a:off x="685800" y="4261104"/>
            <a:ext cx="52120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Q08   ·   REFERRER LEADERBOARD (TOP 4)</a:t>
            </a:r>
          </a:p>
        </p:txBody>
      </p:sp>
      <p:sp>
        <p:nvSpPr>
          <p:cNvPr id="28" name="Rectangle 27"/>
          <p:cNvSpPr/>
          <p:nvPr/>
        </p:nvSpPr>
        <p:spPr>
          <a:xfrm>
            <a:off x="685800" y="4462272"/>
            <a:ext cx="5257800" cy="310896"/>
          </a:xfrm>
          <a:prstGeom prst="rect">
            <a:avLst/>
          </a:prstGeom>
          <a:solidFill>
            <a:srgbClr val="0E2A47"/>
          </a:solidFill>
          <a:ln>
            <a:noFill/>
          </a:ln>
          <a:effectLst/>
        </p:spPr>
        <p:txBody>
          <a:bodyPr rtlCol="0" anchor="ctr" wrap="square" lIns="0" rIns="0" tIns="0" bIns="0"/>
          <a:lstStyle/>
          <a:p>
            <a:pPr algn="ctr"/>
          </a:p>
        </p:txBody>
      </p:sp>
      <p:sp>
        <p:nvSpPr>
          <p:cNvPr id="29" name="TextBox 28"/>
          <p:cNvSpPr txBox="1"/>
          <p:nvPr/>
        </p:nvSpPr>
        <p:spPr>
          <a:xfrm>
            <a:off x="777240" y="4526280"/>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Segoe UI"/>
              </a:rPr>
              <a:t>Referrer · employer</a:t>
            </a:r>
          </a:p>
        </p:txBody>
      </p:sp>
      <p:sp>
        <p:nvSpPr>
          <p:cNvPr id="30" name="TextBox 29"/>
          <p:cNvSpPr txBox="1"/>
          <p:nvPr/>
        </p:nvSpPr>
        <p:spPr>
          <a:xfrm>
            <a:off x="2743200" y="4526280"/>
            <a:ext cx="63093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Segoe UI"/>
              </a:rPr>
              <a:t>Refs</a:t>
            </a:r>
          </a:p>
        </p:txBody>
      </p:sp>
      <p:sp>
        <p:nvSpPr>
          <p:cNvPr id="31" name="TextBox 30"/>
          <p:cNvSpPr txBox="1"/>
          <p:nvPr/>
        </p:nvSpPr>
        <p:spPr>
          <a:xfrm>
            <a:off x="3520440" y="4526280"/>
            <a:ext cx="53949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Segoe UI"/>
              </a:rPr>
              <a:t>Hires</a:t>
            </a:r>
          </a:p>
        </p:txBody>
      </p:sp>
      <p:sp>
        <p:nvSpPr>
          <p:cNvPr id="32" name="TextBox 31"/>
          <p:cNvSpPr txBox="1"/>
          <p:nvPr/>
        </p:nvSpPr>
        <p:spPr>
          <a:xfrm>
            <a:off x="4206240" y="4526280"/>
            <a:ext cx="722375"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Segoe UI"/>
              </a:rPr>
              <a:t>Rate</a:t>
            </a:r>
          </a:p>
        </p:txBody>
      </p:sp>
      <p:sp>
        <p:nvSpPr>
          <p:cNvPr id="33" name="TextBox 32"/>
          <p:cNvSpPr txBox="1"/>
          <p:nvPr/>
        </p:nvSpPr>
        <p:spPr>
          <a:xfrm>
            <a:off x="5074920" y="4526280"/>
            <a:ext cx="81381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Segoe UI"/>
              </a:rPr>
              <a:t>Paid</a:t>
            </a:r>
          </a:p>
        </p:txBody>
      </p:sp>
      <p:sp>
        <p:nvSpPr>
          <p:cNvPr id="34" name="TextBox 33"/>
          <p:cNvSpPr txBox="1"/>
          <p:nvPr/>
        </p:nvSpPr>
        <p:spPr>
          <a:xfrm>
            <a:off x="777240" y="4841748"/>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Noah Zhu · Oracle</a:t>
            </a:r>
          </a:p>
        </p:txBody>
      </p:sp>
      <p:sp>
        <p:nvSpPr>
          <p:cNvPr id="35" name="TextBox 34"/>
          <p:cNvSpPr txBox="1"/>
          <p:nvPr/>
        </p:nvSpPr>
        <p:spPr>
          <a:xfrm>
            <a:off x="2743200" y="4841748"/>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3</a:t>
            </a:r>
          </a:p>
        </p:txBody>
      </p:sp>
      <p:sp>
        <p:nvSpPr>
          <p:cNvPr id="36" name="TextBox 35"/>
          <p:cNvSpPr txBox="1"/>
          <p:nvPr/>
        </p:nvSpPr>
        <p:spPr>
          <a:xfrm>
            <a:off x="3520440" y="4841748"/>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2</a:t>
            </a:r>
          </a:p>
        </p:txBody>
      </p:sp>
      <p:sp>
        <p:nvSpPr>
          <p:cNvPr id="37" name="TextBox 36"/>
          <p:cNvSpPr txBox="1"/>
          <p:nvPr/>
        </p:nvSpPr>
        <p:spPr>
          <a:xfrm>
            <a:off x="4206240" y="4841748"/>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66.7%</a:t>
            </a:r>
          </a:p>
        </p:txBody>
      </p:sp>
      <p:sp>
        <p:nvSpPr>
          <p:cNvPr id="38" name="TextBox 37"/>
          <p:cNvSpPr txBox="1"/>
          <p:nvPr/>
        </p:nvSpPr>
        <p:spPr>
          <a:xfrm>
            <a:off x="5074920" y="4841748"/>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$8 500</a:t>
            </a:r>
          </a:p>
        </p:txBody>
      </p:sp>
      <p:sp>
        <p:nvSpPr>
          <p:cNvPr id="39" name="Rectangle 38"/>
          <p:cNvSpPr/>
          <p:nvPr/>
        </p:nvSpPr>
        <p:spPr>
          <a:xfrm>
            <a:off x="685800" y="5084064"/>
            <a:ext cx="5257800" cy="310896"/>
          </a:xfrm>
          <a:prstGeom prst="rect">
            <a:avLst/>
          </a:prstGeom>
          <a:solidFill>
            <a:srgbClr val="F3F7FA"/>
          </a:solidFill>
          <a:ln>
            <a:noFill/>
          </a:ln>
          <a:effectLst/>
        </p:spPr>
        <p:txBody>
          <a:bodyPr rtlCol="0" anchor="ctr" wrap="square" lIns="0" rIns="0" tIns="0" bIns="0"/>
          <a:lstStyle/>
          <a:p>
            <a:pPr algn="ctr"/>
          </a:p>
        </p:txBody>
      </p:sp>
      <p:sp>
        <p:nvSpPr>
          <p:cNvPr id="40" name="TextBox 39"/>
          <p:cNvSpPr txBox="1"/>
          <p:nvPr/>
        </p:nvSpPr>
        <p:spPr>
          <a:xfrm>
            <a:off x="777240" y="5152644"/>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Nina Choi · OCBC</a:t>
            </a:r>
          </a:p>
        </p:txBody>
      </p:sp>
      <p:sp>
        <p:nvSpPr>
          <p:cNvPr id="41" name="TextBox 40"/>
          <p:cNvSpPr txBox="1"/>
          <p:nvPr/>
        </p:nvSpPr>
        <p:spPr>
          <a:xfrm>
            <a:off x="2743200" y="5152644"/>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2</a:t>
            </a:r>
          </a:p>
        </p:txBody>
      </p:sp>
      <p:sp>
        <p:nvSpPr>
          <p:cNvPr id="42" name="TextBox 41"/>
          <p:cNvSpPr txBox="1"/>
          <p:nvPr/>
        </p:nvSpPr>
        <p:spPr>
          <a:xfrm>
            <a:off x="3520440" y="5152644"/>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43" name="TextBox 42"/>
          <p:cNvSpPr txBox="1"/>
          <p:nvPr/>
        </p:nvSpPr>
        <p:spPr>
          <a:xfrm>
            <a:off x="4206240" y="5152644"/>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50.0%</a:t>
            </a:r>
          </a:p>
        </p:txBody>
      </p:sp>
      <p:sp>
        <p:nvSpPr>
          <p:cNvPr id="44" name="TextBox 43"/>
          <p:cNvSpPr txBox="1"/>
          <p:nvPr/>
        </p:nvSpPr>
        <p:spPr>
          <a:xfrm>
            <a:off x="5074920" y="5152644"/>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$2 500</a:t>
            </a:r>
          </a:p>
        </p:txBody>
      </p:sp>
      <p:sp>
        <p:nvSpPr>
          <p:cNvPr id="45" name="TextBox 44"/>
          <p:cNvSpPr txBox="1"/>
          <p:nvPr/>
        </p:nvSpPr>
        <p:spPr>
          <a:xfrm>
            <a:off x="777240" y="5463540"/>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Vikram Lin · Ping An</a:t>
            </a:r>
          </a:p>
        </p:txBody>
      </p:sp>
      <p:sp>
        <p:nvSpPr>
          <p:cNvPr id="46" name="TextBox 45"/>
          <p:cNvSpPr txBox="1"/>
          <p:nvPr/>
        </p:nvSpPr>
        <p:spPr>
          <a:xfrm>
            <a:off x="2743200" y="5463540"/>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47" name="TextBox 46"/>
          <p:cNvSpPr txBox="1"/>
          <p:nvPr/>
        </p:nvSpPr>
        <p:spPr>
          <a:xfrm>
            <a:off x="3520440" y="5463540"/>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48" name="TextBox 47"/>
          <p:cNvSpPr txBox="1"/>
          <p:nvPr/>
        </p:nvSpPr>
        <p:spPr>
          <a:xfrm>
            <a:off x="4206240" y="5463540"/>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100%</a:t>
            </a:r>
          </a:p>
        </p:txBody>
      </p:sp>
      <p:sp>
        <p:nvSpPr>
          <p:cNvPr id="49" name="TextBox 48"/>
          <p:cNvSpPr txBox="1"/>
          <p:nvPr/>
        </p:nvSpPr>
        <p:spPr>
          <a:xfrm>
            <a:off x="5074920" y="5463540"/>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$3 500</a:t>
            </a:r>
          </a:p>
        </p:txBody>
      </p:sp>
      <p:sp>
        <p:nvSpPr>
          <p:cNvPr id="50" name="Rectangle 49"/>
          <p:cNvSpPr/>
          <p:nvPr/>
        </p:nvSpPr>
        <p:spPr>
          <a:xfrm>
            <a:off x="685800" y="5705855"/>
            <a:ext cx="5257800" cy="310896"/>
          </a:xfrm>
          <a:prstGeom prst="rect">
            <a:avLst/>
          </a:prstGeom>
          <a:solidFill>
            <a:srgbClr val="F3F7FA"/>
          </a:solidFill>
          <a:ln>
            <a:noFill/>
          </a:ln>
          <a:effectLst/>
        </p:spPr>
        <p:txBody>
          <a:bodyPr rtlCol="0" anchor="ctr" wrap="square" lIns="0" rIns="0" tIns="0" bIns="0"/>
          <a:lstStyle/>
          <a:p>
            <a:pPr algn="ctr"/>
          </a:p>
        </p:txBody>
      </p:sp>
      <p:sp>
        <p:nvSpPr>
          <p:cNvPr id="51" name="TextBox 50"/>
          <p:cNvSpPr txBox="1"/>
          <p:nvPr/>
        </p:nvSpPr>
        <p:spPr>
          <a:xfrm>
            <a:off x="777240" y="5774436"/>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James Yang · Sea</a:t>
            </a:r>
          </a:p>
        </p:txBody>
      </p:sp>
      <p:sp>
        <p:nvSpPr>
          <p:cNvPr id="52" name="TextBox 51"/>
          <p:cNvSpPr txBox="1"/>
          <p:nvPr/>
        </p:nvSpPr>
        <p:spPr>
          <a:xfrm>
            <a:off x="2743200" y="5774436"/>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53" name="TextBox 52"/>
          <p:cNvSpPr txBox="1"/>
          <p:nvPr/>
        </p:nvSpPr>
        <p:spPr>
          <a:xfrm>
            <a:off x="3520440" y="5774436"/>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54" name="TextBox 53"/>
          <p:cNvSpPr txBox="1"/>
          <p:nvPr/>
        </p:nvSpPr>
        <p:spPr>
          <a:xfrm>
            <a:off x="4206240" y="5774436"/>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100%</a:t>
            </a:r>
          </a:p>
        </p:txBody>
      </p:sp>
      <p:sp>
        <p:nvSpPr>
          <p:cNvPr id="55" name="TextBox 54"/>
          <p:cNvSpPr txBox="1"/>
          <p:nvPr/>
        </p:nvSpPr>
        <p:spPr>
          <a:xfrm>
            <a:off x="5074920" y="5774436"/>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$0</a:t>
            </a:r>
          </a:p>
        </p:txBody>
      </p:sp>
      <p:sp>
        <p:nvSpPr>
          <p:cNvPr id="56" name="Rounded Rectangle 55"/>
          <p:cNvSpPr/>
          <p:nvPr/>
        </p:nvSpPr>
        <p:spPr>
          <a:xfrm>
            <a:off x="6263640" y="1993392"/>
            <a:ext cx="5230368" cy="2103120"/>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57" name="TextBox 56"/>
          <p:cNvSpPr txBox="1"/>
          <p:nvPr/>
        </p:nvSpPr>
        <p:spPr>
          <a:xfrm>
            <a:off x="6510528" y="2139696"/>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W H Y   I T   M A T T E R S</a:t>
            </a:r>
          </a:p>
        </p:txBody>
      </p:sp>
      <p:sp>
        <p:nvSpPr>
          <p:cNvPr id="58" name="TextBox 57"/>
          <p:cNvSpPr txBox="1"/>
          <p:nvPr/>
        </p:nvSpPr>
        <p:spPr>
          <a:xfrm>
            <a:off x="6510528" y="2377440"/>
            <a:ext cx="4754880" cy="1572768"/>
          </a:xfrm>
          <a:prstGeom prst="rect">
            <a:avLst/>
          </a:prstGeom>
          <a:noFill/>
        </p:spPr>
        <p:txBody>
          <a:bodyPr wrap="square" lIns="0" rIns="0" tIns="0" bIns="0" anchor="t">
            <a:spAutoFit/>
          </a:bodyPr>
          <a:lstStyle/>
          <a:p>
            <a:pPr algn="l">
              <a:lnSpc>
                <a:spcPct val="120000"/>
              </a:lnSpc>
              <a:spcBef>
                <a:spcPts val="0"/>
              </a:spcBef>
              <a:spcAft>
                <a:spcPts val="0"/>
              </a:spcAft>
            </a:pPr>
            <a:r>
              <a:rPr sz="919" b="0">
                <a:solidFill>
                  <a:srgbClr val="5A6B7B"/>
                </a:solidFill>
                <a:latin typeface="Segoe UI"/>
              </a:rPr>
              <a:t>A referral is pre-screened by someone whose own reputation is at stake. The data shows where that advantage lands: referred candidates are not more likely to be interviewed, they are more likely to be offered once interviewed.</a:t>
            </a:r>
          </a:p>
          <a:p>
            <a:pPr algn="l">
              <a:lnSpc>
                <a:spcPct val="120000"/>
              </a:lnSpc>
              <a:spcBef>
                <a:spcPts val="0"/>
              </a:spcBef>
              <a:spcAft>
                <a:spcPts val="0"/>
              </a:spcAft>
            </a:pPr>
            <a:r>
              <a:rPr sz="919" b="0">
                <a:solidFill>
                  <a:srgbClr val="5A6B7B"/>
                </a:solidFill>
                <a:latin typeface="Segoe UI"/>
              </a:rPr>
              <a:t/>
            </a:r>
          </a:p>
          <a:p>
            <a:pPr algn="l">
              <a:lnSpc>
                <a:spcPct val="120000"/>
              </a:lnSpc>
              <a:spcBef>
                <a:spcPts val="0"/>
              </a:spcBef>
              <a:spcAft>
                <a:spcPts val="0"/>
              </a:spcAft>
            </a:pPr>
            <a:r>
              <a:rPr sz="919" b="0">
                <a:solidFill>
                  <a:srgbClr val="5A6B7B"/>
                </a:solidFill>
                <a:latin typeface="Segoe UI"/>
              </a:rPr>
              <a:t>That distinction is only visible because the channel is a column on the application and the interview is its own relation. One flat 'hired' flag would have hidden it.</a:t>
            </a:r>
          </a:p>
        </p:txBody>
      </p:sp>
      <p:sp>
        <p:nvSpPr>
          <p:cNvPr id="59" name="Rounded Rectangle 58"/>
          <p:cNvSpPr/>
          <p:nvPr/>
        </p:nvSpPr>
        <p:spPr>
          <a:xfrm>
            <a:off x="6263640" y="4279392"/>
            <a:ext cx="5230368" cy="1783080"/>
          </a:xfrm>
          <a:prstGeom prst="roundRect">
            <a:avLst>
              <a:gd name="adj" fmla="val 3000"/>
            </a:avLst>
          </a:prstGeom>
          <a:solidFill>
            <a:srgbClr val="FFFFFF"/>
          </a:solidFill>
          <a:ln>
            <a:noFill/>
          </a:ln>
          <a:effectLst/>
        </p:spPr>
        <p:txBody>
          <a:bodyPr rtlCol="0" anchor="ctr" wrap="square" lIns="0" rIns="0" tIns="0" bIns="0"/>
          <a:lstStyle/>
          <a:p>
            <a:pPr algn="ctr"/>
          </a:p>
        </p:txBody>
      </p:sp>
      <p:sp>
        <p:nvSpPr>
          <p:cNvPr id="60" name="Rectangle 59"/>
          <p:cNvSpPr/>
          <p:nvPr/>
        </p:nvSpPr>
        <p:spPr>
          <a:xfrm>
            <a:off x="6263640" y="4279392"/>
            <a:ext cx="45720" cy="1783080"/>
          </a:xfrm>
          <a:prstGeom prst="rect">
            <a:avLst/>
          </a:prstGeom>
          <a:solidFill>
            <a:srgbClr val="0A66C2"/>
          </a:solidFill>
          <a:ln>
            <a:noFill/>
          </a:ln>
          <a:effectLst/>
        </p:spPr>
        <p:txBody>
          <a:bodyPr rtlCol="0" anchor="ctr" wrap="square" lIns="0" rIns="0" tIns="0" bIns="0"/>
          <a:lstStyle/>
          <a:p>
            <a:pPr algn="ctr"/>
          </a:p>
        </p:txBody>
      </p:sp>
      <p:sp>
        <p:nvSpPr>
          <p:cNvPr id="61" name="TextBox 60"/>
          <p:cNvSpPr txBox="1"/>
          <p:nvPr/>
        </p:nvSpPr>
        <p:spPr>
          <a:xfrm>
            <a:off x="6492240" y="4425696"/>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Segoe UI"/>
              </a:rPr>
              <a:t>THE COST OF THE PROGRAMME</a:t>
            </a:r>
          </a:p>
        </p:txBody>
      </p:sp>
      <p:sp>
        <p:nvSpPr>
          <p:cNvPr id="62" name="TextBox 61"/>
          <p:cNvSpPr txBox="1"/>
          <p:nvPr/>
        </p:nvSpPr>
        <p:spPr>
          <a:xfrm>
            <a:off x="6492240" y="4681728"/>
            <a:ext cx="4800600" cy="1188720"/>
          </a:xfrm>
          <a:prstGeom prst="rect">
            <a:avLst/>
          </a:prstGeom>
          <a:noFill/>
        </p:spPr>
        <p:txBody>
          <a:bodyPr wrap="square" lIns="0" rIns="0" tIns="0" bIns="0" anchor="t">
            <a:spAutoFit/>
          </a:bodyPr>
          <a:lstStyle/>
          <a:p>
            <a:pPr algn="l">
              <a:lnSpc>
                <a:spcPct val="124000"/>
              </a:lnSpc>
              <a:spcBef>
                <a:spcPts val="0"/>
              </a:spcBef>
              <a:spcAft>
                <a:spcPts val="0"/>
              </a:spcAft>
            </a:pPr>
            <a:r>
              <a:rPr sz="880" b="0">
                <a:solidFill>
                  <a:srgbClr val="0E2A47"/>
                </a:solidFill>
                <a:latin typeface="Segoe UI"/>
              </a:rPr>
              <a:t>$26,500 paid and $38,000 pending across 60 referrals — and two hires whose bonus is still pending. Bonus policy is a decision the schema can price, and those two hires are the evidence that it is a choice rather than a rule.</a:t>
            </a:r>
          </a:p>
        </p:txBody>
      </p:sp>
      <p:sp>
        <p:nvSpPr>
          <p:cNvPr id="63" name="Rectangle 6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4" name="TextBox 6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65" name="TextBox 6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09  ·  E  V  I  D  E  N  C  E     I  I</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Skill-gap matching: name the missing skill</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Q09 · one candidate, twenty-eight half-matching roles, one actionable list.</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75104"/>
            <a:ext cx="676656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Q09   ·   OPEN ROLES WHERE THE CANDIDATE MEETS ≥ 50% OF HARD REQUIREMENTS</a:t>
            </a:r>
          </a:p>
        </p:txBody>
      </p:sp>
      <p:sp>
        <p:nvSpPr>
          <p:cNvPr id="7" name="Rectangle 6"/>
          <p:cNvSpPr/>
          <p:nvPr/>
        </p:nvSpPr>
        <p:spPr>
          <a:xfrm>
            <a:off x="685800" y="2231136"/>
            <a:ext cx="6931152" cy="310896"/>
          </a:xfrm>
          <a:prstGeom prst="rect">
            <a:avLst/>
          </a:prstGeom>
          <a:solidFill>
            <a:srgbClr val="0E2A47"/>
          </a:solidFill>
          <a:ln>
            <a:noFill/>
          </a:ln>
          <a:effectLst/>
        </p:spPr>
        <p:txBody>
          <a:bodyPr rtlCol="0" anchor="ctr" wrap="square" lIns="0" rIns="0" tIns="0" bIns="0"/>
          <a:lstStyle/>
          <a:p>
            <a:pPr algn="ctr"/>
          </a:p>
        </p:txBody>
      </p:sp>
      <p:sp>
        <p:nvSpPr>
          <p:cNvPr id="8" name="TextBox 7"/>
          <p:cNvSpPr txBox="1"/>
          <p:nvPr/>
        </p:nvSpPr>
        <p:spPr>
          <a:xfrm>
            <a:off x="777240" y="2295144"/>
            <a:ext cx="35661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Segoe UI"/>
              </a:rPr>
              <a:t>Job</a:t>
            </a:r>
          </a:p>
        </p:txBody>
      </p:sp>
      <p:sp>
        <p:nvSpPr>
          <p:cNvPr id="9" name="TextBox 8"/>
          <p:cNvSpPr txBox="1"/>
          <p:nvPr/>
        </p:nvSpPr>
        <p:spPr>
          <a:xfrm>
            <a:off x="1280160" y="2295144"/>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Segoe UI"/>
              </a:rPr>
              <a:t>Title</a:t>
            </a:r>
          </a:p>
        </p:txBody>
      </p:sp>
      <p:sp>
        <p:nvSpPr>
          <p:cNvPr id="10" name="TextBox 9"/>
          <p:cNvSpPr txBox="1"/>
          <p:nvPr/>
        </p:nvSpPr>
        <p:spPr>
          <a:xfrm>
            <a:off x="2971800" y="2295144"/>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Segoe UI"/>
              </a:rPr>
              <a:t>Company</a:t>
            </a:r>
          </a:p>
        </p:txBody>
      </p:sp>
      <p:sp>
        <p:nvSpPr>
          <p:cNvPr id="11" name="TextBox 10"/>
          <p:cNvSpPr txBox="1"/>
          <p:nvPr/>
        </p:nvSpPr>
        <p:spPr>
          <a:xfrm>
            <a:off x="4572000" y="2295144"/>
            <a:ext cx="58521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Segoe UI"/>
              </a:rPr>
              <a:t>Held</a:t>
            </a:r>
          </a:p>
        </p:txBody>
      </p:sp>
      <p:sp>
        <p:nvSpPr>
          <p:cNvPr id="12" name="TextBox 11"/>
          <p:cNvSpPr txBox="1"/>
          <p:nvPr/>
        </p:nvSpPr>
        <p:spPr>
          <a:xfrm>
            <a:off x="5303520" y="2295144"/>
            <a:ext cx="722375"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Segoe UI"/>
              </a:rPr>
              <a:t>Match</a:t>
            </a:r>
          </a:p>
        </p:txBody>
      </p:sp>
      <p:sp>
        <p:nvSpPr>
          <p:cNvPr id="13" name="TextBox 12"/>
          <p:cNvSpPr txBox="1"/>
          <p:nvPr/>
        </p:nvSpPr>
        <p:spPr>
          <a:xfrm>
            <a:off x="6172200" y="2295144"/>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Segoe UI"/>
              </a:rPr>
              <a:t>Missing</a:t>
            </a:r>
          </a:p>
        </p:txBody>
      </p:sp>
      <p:sp>
        <p:nvSpPr>
          <p:cNvPr id="14" name="TextBox 13"/>
          <p:cNvSpPr txBox="1"/>
          <p:nvPr/>
        </p:nvSpPr>
        <p:spPr>
          <a:xfrm>
            <a:off x="777240" y="2610612"/>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a:t>
            </a:r>
          </a:p>
        </p:txBody>
      </p:sp>
      <p:sp>
        <p:nvSpPr>
          <p:cNvPr id="15" name="TextBox 14"/>
          <p:cNvSpPr txBox="1"/>
          <p:nvPr/>
        </p:nvSpPr>
        <p:spPr>
          <a:xfrm>
            <a:off x="1280160" y="2610612"/>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Merchant Manager</a:t>
            </a:r>
          </a:p>
        </p:txBody>
      </p:sp>
      <p:sp>
        <p:nvSpPr>
          <p:cNvPr id="16" name="TextBox 15"/>
          <p:cNvSpPr txBox="1"/>
          <p:nvPr/>
        </p:nvSpPr>
        <p:spPr>
          <a:xfrm>
            <a:off x="2971800" y="2610612"/>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Amazon</a:t>
            </a:r>
          </a:p>
        </p:txBody>
      </p:sp>
      <p:sp>
        <p:nvSpPr>
          <p:cNvPr id="17" name="TextBox 16"/>
          <p:cNvSpPr txBox="1"/>
          <p:nvPr/>
        </p:nvSpPr>
        <p:spPr>
          <a:xfrm>
            <a:off x="4572000" y="2610612"/>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18" name="TextBox 17"/>
          <p:cNvSpPr txBox="1"/>
          <p:nvPr/>
        </p:nvSpPr>
        <p:spPr>
          <a:xfrm>
            <a:off x="5303520" y="2610612"/>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19" name="TextBox 18"/>
          <p:cNvSpPr txBox="1"/>
          <p:nvPr/>
        </p:nvSpPr>
        <p:spPr>
          <a:xfrm>
            <a:off x="6172200" y="2610612"/>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Negotiation</a:t>
            </a:r>
          </a:p>
        </p:txBody>
      </p:sp>
      <p:sp>
        <p:nvSpPr>
          <p:cNvPr id="20" name="Rectangle 19"/>
          <p:cNvSpPr/>
          <p:nvPr/>
        </p:nvSpPr>
        <p:spPr>
          <a:xfrm>
            <a:off x="685800" y="2852927"/>
            <a:ext cx="6931152" cy="310896"/>
          </a:xfrm>
          <a:prstGeom prst="rect">
            <a:avLst/>
          </a:prstGeom>
          <a:solidFill>
            <a:srgbClr val="F3F7FA"/>
          </a:solidFill>
          <a:ln>
            <a:noFill/>
          </a:ln>
          <a:effectLst/>
        </p:spPr>
        <p:txBody>
          <a:bodyPr rtlCol="0" anchor="ctr" wrap="square" lIns="0" rIns="0" tIns="0" bIns="0"/>
          <a:lstStyle/>
          <a:p>
            <a:pPr algn="ctr"/>
          </a:p>
        </p:txBody>
      </p:sp>
      <p:sp>
        <p:nvSpPr>
          <p:cNvPr id="21" name="TextBox 20"/>
          <p:cNvSpPr txBox="1"/>
          <p:nvPr/>
        </p:nvSpPr>
        <p:spPr>
          <a:xfrm>
            <a:off x="777240" y="2921508"/>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31</a:t>
            </a:r>
          </a:p>
        </p:txBody>
      </p:sp>
      <p:sp>
        <p:nvSpPr>
          <p:cNvPr id="22" name="TextBox 21"/>
          <p:cNvSpPr txBox="1"/>
          <p:nvPr/>
        </p:nvSpPr>
        <p:spPr>
          <a:xfrm>
            <a:off x="1280160" y="2921508"/>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Growth Analyst</a:t>
            </a:r>
          </a:p>
        </p:txBody>
      </p:sp>
      <p:sp>
        <p:nvSpPr>
          <p:cNvPr id="23" name="TextBox 22"/>
          <p:cNvSpPr txBox="1"/>
          <p:nvPr/>
        </p:nvSpPr>
        <p:spPr>
          <a:xfrm>
            <a:off x="2971800" y="2921508"/>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Tencent</a:t>
            </a:r>
          </a:p>
        </p:txBody>
      </p:sp>
      <p:sp>
        <p:nvSpPr>
          <p:cNvPr id="24" name="TextBox 23"/>
          <p:cNvSpPr txBox="1"/>
          <p:nvPr/>
        </p:nvSpPr>
        <p:spPr>
          <a:xfrm>
            <a:off x="4572000" y="2921508"/>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25" name="TextBox 24"/>
          <p:cNvSpPr txBox="1"/>
          <p:nvPr/>
        </p:nvSpPr>
        <p:spPr>
          <a:xfrm>
            <a:off x="5303520" y="2921508"/>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26" name="TextBox 25"/>
          <p:cNvSpPr txBox="1"/>
          <p:nvPr/>
        </p:nvSpPr>
        <p:spPr>
          <a:xfrm>
            <a:off x="6172200" y="2921508"/>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Statistical Analysis</a:t>
            </a:r>
          </a:p>
        </p:txBody>
      </p:sp>
      <p:sp>
        <p:nvSpPr>
          <p:cNvPr id="27" name="TextBox 26"/>
          <p:cNvSpPr txBox="1"/>
          <p:nvPr/>
        </p:nvSpPr>
        <p:spPr>
          <a:xfrm>
            <a:off x="777240" y="3232403"/>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40</a:t>
            </a:r>
          </a:p>
        </p:txBody>
      </p:sp>
      <p:sp>
        <p:nvSpPr>
          <p:cNvPr id="28" name="TextBox 27"/>
          <p:cNvSpPr txBox="1"/>
          <p:nvPr/>
        </p:nvSpPr>
        <p:spPr>
          <a:xfrm>
            <a:off x="1280160" y="3232403"/>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Consultant</a:t>
            </a:r>
          </a:p>
        </p:txBody>
      </p:sp>
      <p:sp>
        <p:nvSpPr>
          <p:cNvPr id="29" name="TextBox 28"/>
          <p:cNvSpPr txBox="1"/>
          <p:nvPr/>
        </p:nvSpPr>
        <p:spPr>
          <a:xfrm>
            <a:off x="2971800" y="3232403"/>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McKinsey</a:t>
            </a:r>
          </a:p>
        </p:txBody>
      </p:sp>
      <p:sp>
        <p:nvSpPr>
          <p:cNvPr id="30" name="TextBox 29"/>
          <p:cNvSpPr txBox="1"/>
          <p:nvPr/>
        </p:nvSpPr>
        <p:spPr>
          <a:xfrm>
            <a:off x="4572000" y="3232403"/>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31" name="TextBox 30"/>
          <p:cNvSpPr txBox="1"/>
          <p:nvPr/>
        </p:nvSpPr>
        <p:spPr>
          <a:xfrm>
            <a:off x="5303520" y="3232403"/>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32" name="TextBox 31"/>
          <p:cNvSpPr txBox="1"/>
          <p:nvPr/>
        </p:nvSpPr>
        <p:spPr>
          <a:xfrm>
            <a:off x="6172200" y="3232403"/>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Data Modelling</a:t>
            </a:r>
          </a:p>
        </p:txBody>
      </p:sp>
      <p:sp>
        <p:nvSpPr>
          <p:cNvPr id="33" name="Rectangle 32"/>
          <p:cNvSpPr/>
          <p:nvPr/>
        </p:nvSpPr>
        <p:spPr>
          <a:xfrm>
            <a:off x="685800" y="3474719"/>
            <a:ext cx="6931152" cy="310896"/>
          </a:xfrm>
          <a:prstGeom prst="rect">
            <a:avLst/>
          </a:prstGeom>
          <a:solidFill>
            <a:srgbClr val="F3F7FA"/>
          </a:solidFill>
          <a:ln>
            <a:noFill/>
          </a:ln>
          <a:effectLst/>
        </p:spPr>
        <p:txBody>
          <a:bodyPr rtlCol="0" anchor="ctr" wrap="square" lIns="0" rIns="0" tIns="0" bIns="0"/>
          <a:lstStyle/>
          <a:p>
            <a:pPr algn="ctr"/>
          </a:p>
        </p:txBody>
      </p:sp>
      <p:sp>
        <p:nvSpPr>
          <p:cNvPr id="34" name="TextBox 33"/>
          <p:cNvSpPr txBox="1"/>
          <p:nvPr/>
        </p:nvSpPr>
        <p:spPr>
          <a:xfrm>
            <a:off x="777240" y="3543299"/>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43</a:t>
            </a:r>
          </a:p>
        </p:txBody>
      </p:sp>
      <p:sp>
        <p:nvSpPr>
          <p:cNvPr id="35" name="TextBox 34"/>
          <p:cNvSpPr txBox="1"/>
          <p:nvPr/>
        </p:nvSpPr>
        <p:spPr>
          <a:xfrm>
            <a:off x="1280160" y="3543299"/>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Technology Auditor</a:t>
            </a:r>
          </a:p>
        </p:txBody>
      </p:sp>
      <p:sp>
        <p:nvSpPr>
          <p:cNvPr id="36" name="TextBox 35"/>
          <p:cNvSpPr txBox="1"/>
          <p:nvPr/>
        </p:nvSpPr>
        <p:spPr>
          <a:xfrm>
            <a:off x="2971800" y="3543299"/>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Goldman Sachs</a:t>
            </a:r>
          </a:p>
        </p:txBody>
      </p:sp>
      <p:sp>
        <p:nvSpPr>
          <p:cNvPr id="37" name="TextBox 36"/>
          <p:cNvSpPr txBox="1"/>
          <p:nvPr/>
        </p:nvSpPr>
        <p:spPr>
          <a:xfrm>
            <a:off x="4572000" y="3543299"/>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38" name="TextBox 37"/>
          <p:cNvSpPr txBox="1"/>
          <p:nvPr/>
        </p:nvSpPr>
        <p:spPr>
          <a:xfrm>
            <a:off x="5303520" y="3543299"/>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39" name="TextBox 38"/>
          <p:cNvSpPr txBox="1"/>
          <p:nvPr/>
        </p:nvSpPr>
        <p:spPr>
          <a:xfrm>
            <a:off x="6172200" y="3543299"/>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Python</a:t>
            </a:r>
          </a:p>
        </p:txBody>
      </p:sp>
      <p:sp>
        <p:nvSpPr>
          <p:cNvPr id="40" name="TextBox 39"/>
          <p:cNvSpPr txBox="1"/>
          <p:nvPr/>
        </p:nvSpPr>
        <p:spPr>
          <a:xfrm>
            <a:off x="777240" y="3854196"/>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44</a:t>
            </a:r>
          </a:p>
        </p:txBody>
      </p:sp>
      <p:sp>
        <p:nvSpPr>
          <p:cNvPr id="41" name="TextBox 40"/>
          <p:cNvSpPr txBox="1"/>
          <p:nvPr/>
        </p:nvSpPr>
        <p:spPr>
          <a:xfrm>
            <a:off x="1280160" y="3854196"/>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Analyst</a:t>
            </a:r>
          </a:p>
        </p:txBody>
      </p:sp>
      <p:sp>
        <p:nvSpPr>
          <p:cNvPr id="42" name="TextBox 41"/>
          <p:cNvSpPr txBox="1"/>
          <p:nvPr/>
        </p:nvSpPr>
        <p:spPr>
          <a:xfrm>
            <a:off x="2971800" y="3854196"/>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JPMorgan Chase</a:t>
            </a:r>
          </a:p>
        </p:txBody>
      </p:sp>
      <p:sp>
        <p:nvSpPr>
          <p:cNvPr id="43" name="TextBox 42"/>
          <p:cNvSpPr txBox="1"/>
          <p:nvPr/>
        </p:nvSpPr>
        <p:spPr>
          <a:xfrm>
            <a:off x="4572000" y="3854196"/>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44" name="TextBox 43"/>
          <p:cNvSpPr txBox="1"/>
          <p:nvPr/>
        </p:nvSpPr>
        <p:spPr>
          <a:xfrm>
            <a:off x="5303520" y="3854196"/>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45" name="TextBox 44"/>
          <p:cNvSpPr txBox="1"/>
          <p:nvPr/>
        </p:nvSpPr>
        <p:spPr>
          <a:xfrm>
            <a:off x="6172200" y="3854196"/>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Statistical Analysis</a:t>
            </a:r>
          </a:p>
        </p:txBody>
      </p:sp>
      <p:sp>
        <p:nvSpPr>
          <p:cNvPr id="46" name="Rectangle 45"/>
          <p:cNvSpPr/>
          <p:nvPr/>
        </p:nvSpPr>
        <p:spPr>
          <a:xfrm>
            <a:off x="685800" y="4096511"/>
            <a:ext cx="6931152" cy="310896"/>
          </a:xfrm>
          <a:prstGeom prst="rect">
            <a:avLst/>
          </a:prstGeom>
          <a:solidFill>
            <a:srgbClr val="F3F7FA"/>
          </a:solidFill>
          <a:ln>
            <a:noFill/>
          </a:ln>
          <a:effectLst/>
        </p:spPr>
        <p:txBody>
          <a:bodyPr rtlCol="0" anchor="ctr" wrap="square" lIns="0" rIns="0" tIns="0" bIns="0"/>
          <a:lstStyle/>
          <a:p>
            <a:pPr algn="ctr"/>
          </a:p>
        </p:txBody>
      </p:sp>
      <p:sp>
        <p:nvSpPr>
          <p:cNvPr id="47" name="TextBox 46"/>
          <p:cNvSpPr txBox="1"/>
          <p:nvPr/>
        </p:nvSpPr>
        <p:spPr>
          <a:xfrm>
            <a:off x="777240" y="4165091"/>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47</a:t>
            </a:r>
          </a:p>
        </p:txBody>
      </p:sp>
      <p:sp>
        <p:nvSpPr>
          <p:cNvPr id="48" name="TextBox 47"/>
          <p:cNvSpPr txBox="1"/>
          <p:nvPr/>
        </p:nvSpPr>
        <p:spPr>
          <a:xfrm>
            <a:off x="1280160" y="4165091"/>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Analyst</a:t>
            </a:r>
          </a:p>
        </p:txBody>
      </p:sp>
      <p:sp>
        <p:nvSpPr>
          <p:cNvPr id="49" name="TextBox 48"/>
          <p:cNvSpPr txBox="1"/>
          <p:nvPr/>
        </p:nvSpPr>
        <p:spPr>
          <a:xfrm>
            <a:off x="2971800" y="4165091"/>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HSBC</a:t>
            </a:r>
          </a:p>
        </p:txBody>
      </p:sp>
      <p:sp>
        <p:nvSpPr>
          <p:cNvPr id="50" name="TextBox 49"/>
          <p:cNvSpPr txBox="1"/>
          <p:nvPr/>
        </p:nvSpPr>
        <p:spPr>
          <a:xfrm>
            <a:off x="4572000" y="4165091"/>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51" name="TextBox 50"/>
          <p:cNvSpPr txBox="1"/>
          <p:nvPr/>
        </p:nvSpPr>
        <p:spPr>
          <a:xfrm>
            <a:off x="5303520" y="4165091"/>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52" name="TextBox 51"/>
          <p:cNvSpPr txBox="1"/>
          <p:nvPr/>
        </p:nvSpPr>
        <p:spPr>
          <a:xfrm>
            <a:off x="6172200" y="4165091"/>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Statistical Analysis</a:t>
            </a:r>
          </a:p>
        </p:txBody>
      </p:sp>
      <p:sp>
        <p:nvSpPr>
          <p:cNvPr id="53" name="TextBox 52"/>
          <p:cNvSpPr txBox="1"/>
          <p:nvPr/>
        </p:nvSpPr>
        <p:spPr>
          <a:xfrm>
            <a:off x="685800" y="4443984"/>
            <a:ext cx="6766560" cy="201168"/>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9A6"/>
                </a:solidFill>
                <a:latin typeface="Segoe UI"/>
              </a:rPr>
              <a:t>Top 12 of the 28 qualifying roles, ordered by match percentage; the CSV holds these twelve rows</a:t>
            </a:r>
          </a:p>
        </p:txBody>
      </p:sp>
      <p:sp>
        <p:nvSpPr>
          <p:cNvPr id="54" name="Rounded Rectangle 53"/>
          <p:cNvSpPr/>
          <p:nvPr/>
        </p:nvSpPr>
        <p:spPr>
          <a:xfrm>
            <a:off x="685800" y="4773168"/>
            <a:ext cx="6766560" cy="1298448"/>
          </a:xfrm>
          <a:prstGeom prst="roundRect">
            <a:avLst>
              <a:gd name="adj" fmla="val 3000"/>
            </a:avLst>
          </a:prstGeom>
          <a:solidFill>
            <a:srgbClr val="FFFFFF"/>
          </a:solidFill>
          <a:ln>
            <a:noFill/>
          </a:ln>
          <a:effectLst/>
        </p:spPr>
        <p:txBody>
          <a:bodyPr rtlCol="0" anchor="ctr" wrap="square" lIns="0" rIns="0" tIns="0" bIns="0"/>
          <a:lstStyle/>
          <a:p>
            <a:pPr algn="ctr"/>
          </a:p>
        </p:txBody>
      </p:sp>
      <p:sp>
        <p:nvSpPr>
          <p:cNvPr id="55" name="Rectangle 54"/>
          <p:cNvSpPr/>
          <p:nvPr/>
        </p:nvSpPr>
        <p:spPr>
          <a:xfrm>
            <a:off x="685800" y="4773168"/>
            <a:ext cx="45720" cy="1298448"/>
          </a:xfrm>
          <a:prstGeom prst="rect">
            <a:avLst/>
          </a:prstGeom>
          <a:solidFill>
            <a:srgbClr val="0A66C2"/>
          </a:solidFill>
          <a:ln>
            <a:noFill/>
          </a:ln>
          <a:effectLst/>
        </p:spPr>
        <p:txBody>
          <a:bodyPr rtlCol="0" anchor="ctr" wrap="square" lIns="0" rIns="0" tIns="0" bIns="0"/>
          <a:lstStyle/>
          <a:p>
            <a:pPr algn="ctr"/>
          </a:p>
        </p:txBody>
      </p:sp>
      <p:sp>
        <p:nvSpPr>
          <p:cNvPr id="56" name="TextBox 55"/>
          <p:cNvSpPr txBox="1"/>
          <p:nvPr/>
        </p:nvSpPr>
        <p:spPr>
          <a:xfrm>
            <a:off x="932688" y="4901184"/>
            <a:ext cx="6309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T H E   G A P ,   I N   O N E   S E N T E N C E</a:t>
            </a:r>
          </a:p>
        </p:txBody>
      </p:sp>
      <p:sp>
        <p:nvSpPr>
          <p:cNvPr id="57" name="TextBox 56"/>
          <p:cNvSpPr txBox="1"/>
          <p:nvPr/>
        </p:nvSpPr>
        <p:spPr>
          <a:xfrm>
            <a:off x="932688" y="5157216"/>
            <a:ext cx="6355080" cy="822960"/>
          </a:xfrm>
          <a:prstGeom prst="rect">
            <a:avLst/>
          </a:prstGeom>
          <a:noFill/>
        </p:spPr>
        <p:txBody>
          <a:bodyPr wrap="square" lIns="0" rIns="0" tIns="0" bIns="0" anchor="t">
            <a:spAutoFit/>
          </a:bodyPr>
          <a:lstStyle/>
          <a:p>
            <a:pPr algn="l">
              <a:lnSpc>
                <a:spcPct val="124000"/>
              </a:lnSpc>
              <a:spcBef>
                <a:spcPts val="0"/>
              </a:spcBef>
              <a:spcAft>
                <a:spcPts val="0"/>
              </a:spcAft>
            </a:pPr>
            <a:r>
              <a:rPr sz="940" b="0">
                <a:solidFill>
                  <a:srgbClr val="0E2A47"/>
                </a:solidFill>
                <a:latin typeface="Segoe UI"/>
              </a:rPr>
              <a:t>Across the twelve closest roles, statistical analysis is the missing skill five times — one course would move the candidate from “half-qualified” to “qualified” on five postings.</a:t>
            </a:r>
          </a:p>
        </p:txBody>
      </p:sp>
      <p:sp>
        <p:nvSpPr>
          <p:cNvPr id="58" name="Rounded Rectangle 57"/>
          <p:cNvSpPr/>
          <p:nvPr/>
        </p:nvSpPr>
        <p:spPr>
          <a:xfrm>
            <a:off x="7818120" y="1975104"/>
            <a:ext cx="3703320" cy="2084831"/>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59" name="TextBox 58"/>
          <p:cNvSpPr txBox="1"/>
          <p:nvPr/>
        </p:nvSpPr>
        <p:spPr>
          <a:xfrm>
            <a:off x="8065008" y="2121408"/>
            <a:ext cx="32004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H O W   T H E   M A T C H   I S   B U I L T</a:t>
            </a:r>
          </a:p>
        </p:txBody>
      </p:sp>
      <p:sp>
        <p:nvSpPr>
          <p:cNvPr id="60" name="TextBox 59"/>
          <p:cNvSpPr txBox="1"/>
          <p:nvPr/>
        </p:nvSpPr>
        <p:spPr>
          <a:xfrm>
            <a:off x="8065008" y="2377440"/>
            <a:ext cx="3246120" cy="1554480"/>
          </a:xfrm>
          <a:prstGeom prst="rect">
            <a:avLst/>
          </a:prstGeom>
          <a:noFill/>
        </p:spPr>
        <p:txBody>
          <a:bodyPr wrap="square" lIns="0" rIns="0" tIns="0" bIns="0" anchor="t">
            <a:spAutoFit/>
          </a:bodyPr>
          <a:lstStyle/>
          <a:p>
            <a:pPr algn="l">
              <a:lnSpc>
                <a:spcPct val="150000"/>
              </a:lnSpc>
              <a:spcBef>
                <a:spcPts val="0"/>
              </a:spcBef>
              <a:spcAft>
                <a:spcPts val="0"/>
              </a:spcAft>
            </a:pPr>
            <a:r>
              <a:rPr sz="860" b="0">
                <a:solidFill>
                  <a:srgbClr val="0E2A47"/>
                </a:solidFill>
                <a:latin typeface="Segoe UI"/>
              </a:rPr>
              <a:t>required ← job_skill WHERE importance = 'REQUIRED'</a:t>
            </a:r>
          </a:p>
          <a:p>
            <a:pPr algn="l">
              <a:lnSpc>
                <a:spcPct val="150000"/>
              </a:lnSpc>
              <a:spcBef>
                <a:spcPts val="0"/>
              </a:spcBef>
              <a:spcAft>
                <a:spcPts val="0"/>
              </a:spcAft>
            </a:pPr>
            <a:r>
              <a:rPr sz="860" b="0">
                <a:solidFill>
                  <a:srgbClr val="0E2A47"/>
                </a:solidFill>
                <a:latin typeface="Segoe UI"/>
              </a:rPr>
              <a:t>held      ← member_skill WHERE proficiency ≥ minimum</a:t>
            </a:r>
          </a:p>
          <a:p>
            <a:pPr algn="l">
              <a:lnSpc>
                <a:spcPct val="150000"/>
              </a:lnSpc>
              <a:spcBef>
                <a:spcPts val="0"/>
              </a:spcBef>
              <a:spcAft>
                <a:spcPts val="0"/>
              </a:spcAft>
            </a:pPr>
            <a:r>
              <a:rPr sz="860" b="0">
                <a:solidFill>
                  <a:srgbClr val="0E2A47"/>
                </a:solidFill>
                <a:latin typeface="Segoe UI"/>
              </a:rPr>
              <a:t>match %   = held ÷ required</a:t>
            </a:r>
          </a:p>
          <a:p>
            <a:pPr algn="l">
              <a:lnSpc>
                <a:spcPct val="150000"/>
              </a:lnSpc>
              <a:spcBef>
                <a:spcPts val="0"/>
              </a:spcBef>
              <a:spcAft>
                <a:spcPts val="0"/>
              </a:spcAft>
            </a:pPr>
            <a:r>
              <a:rPr sz="860" b="0">
                <a:solidFill>
                  <a:srgbClr val="0E2A47"/>
                </a:solidFill>
                <a:latin typeface="Segoe UI"/>
              </a:rPr>
              <a:t>missing   ← required set minus held set</a:t>
            </a:r>
          </a:p>
        </p:txBody>
      </p:sp>
      <p:sp>
        <p:nvSpPr>
          <p:cNvPr id="61" name="TextBox 60"/>
          <p:cNvSpPr txBox="1"/>
          <p:nvPr/>
        </p:nvSpPr>
        <p:spPr>
          <a:xfrm>
            <a:off x="7818120" y="4187952"/>
            <a:ext cx="370332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W H Y   I T   I S   H A R D</a:t>
            </a:r>
          </a:p>
        </p:txBody>
      </p:sp>
      <p:sp>
        <p:nvSpPr>
          <p:cNvPr id="62" name="TextBox 61"/>
          <p:cNvSpPr txBox="1"/>
          <p:nvPr/>
        </p:nvSpPr>
        <p:spPr>
          <a:xfrm>
            <a:off x="7818120" y="4443984"/>
            <a:ext cx="3703320" cy="1417320"/>
          </a:xfrm>
          <a:prstGeom prst="rect">
            <a:avLst/>
          </a:prstGeom>
          <a:noFill/>
        </p:spPr>
        <p:txBody>
          <a:bodyPr wrap="square" lIns="0" rIns="0" tIns="0" bIns="0" anchor="t">
            <a:spAutoFit/>
          </a:bodyPr>
          <a:lstStyle/>
          <a:p>
            <a:pPr algn="l">
              <a:lnSpc>
                <a:spcPct val="122000"/>
              </a:lnSpc>
              <a:spcBef>
                <a:spcPts val="0"/>
              </a:spcBef>
              <a:spcAft>
                <a:spcPts val="0"/>
              </a:spcAft>
            </a:pPr>
            <a:r>
              <a:rPr sz="860" b="0">
                <a:solidFill>
                  <a:srgbClr val="5A6B7B"/>
                </a:solidFill>
                <a:latin typeface="Segoe UI"/>
              </a:rPr>
              <a:t>Matching on the skill id alone overstates fit: a skill at proficiency 2 is not the same as the minimum 4 the posting asks for. The join carries the threshold, and that is why the match percentage is defensible.</a:t>
            </a:r>
          </a:p>
        </p:txBody>
      </p:sp>
      <p:sp>
        <p:nvSpPr>
          <p:cNvPr id="63" name="Rounded Rectangle 62"/>
          <p:cNvSpPr/>
          <p:nvPr/>
        </p:nvSpPr>
        <p:spPr>
          <a:xfrm>
            <a:off x="7818120" y="5742432"/>
            <a:ext cx="1170432"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64" name="TextBox 63"/>
          <p:cNvSpPr txBox="1"/>
          <p:nvPr/>
        </p:nvSpPr>
        <p:spPr>
          <a:xfrm>
            <a:off x="8019288" y="5815584"/>
            <a:ext cx="896112"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28</a:t>
            </a:r>
          </a:p>
        </p:txBody>
      </p:sp>
      <p:sp>
        <p:nvSpPr>
          <p:cNvPr id="65" name="TextBox 64"/>
          <p:cNvSpPr txBox="1"/>
          <p:nvPr/>
        </p:nvSpPr>
        <p:spPr>
          <a:xfrm>
            <a:off x="8019288" y="6144768"/>
            <a:ext cx="896112"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ROLES ≥ 50%</a:t>
            </a:r>
          </a:p>
        </p:txBody>
      </p:sp>
      <p:sp>
        <p:nvSpPr>
          <p:cNvPr id="66" name="Rounded Rectangle 65"/>
          <p:cNvSpPr/>
          <p:nvPr/>
        </p:nvSpPr>
        <p:spPr>
          <a:xfrm>
            <a:off x="9079992" y="5742432"/>
            <a:ext cx="123444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67" name="TextBox 66"/>
          <p:cNvSpPr txBox="1"/>
          <p:nvPr/>
        </p:nvSpPr>
        <p:spPr>
          <a:xfrm>
            <a:off x="9281160" y="5815584"/>
            <a:ext cx="960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66.7%</a:t>
            </a:r>
          </a:p>
        </p:txBody>
      </p:sp>
      <p:sp>
        <p:nvSpPr>
          <p:cNvPr id="68" name="TextBox 67"/>
          <p:cNvSpPr txBox="1"/>
          <p:nvPr/>
        </p:nvSpPr>
        <p:spPr>
          <a:xfrm>
            <a:off x="9281160" y="6144768"/>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BEST MATCH</a:t>
            </a:r>
          </a:p>
        </p:txBody>
      </p:sp>
      <p:sp>
        <p:nvSpPr>
          <p:cNvPr id="69" name="Rounded Rectangle 68"/>
          <p:cNvSpPr/>
          <p:nvPr/>
        </p:nvSpPr>
        <p:spPr>
          <a:xfrm>
            <a:off x="10405872" y="5742432"/>
            <a:ext cx="111556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70" name="TextBox 69"/>
          <p:cNvSpPr txBox="1"/>
          <p:nvPr/>
        </p:nvSpPr>
        <p:spPr>
          <a:xfrm>
            <a:off x="10607040" y="5815584"/>
            <a:ext cx="84124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a:t>
            </a:r>
          </a:p>
        </p:txBody>
      </p:sp>
      <p:sp>
        <p:nvSpPr>
          <p:cNvPr id="71" name="TextBox 70"/>
          <p:cNvSpPr txBox="1"/>
          <p:nvPr/>
        </p:nvSpPr>
        <p:spPr>
          <a:xfrm>
            <a:off x="10607040" y="6144768"/>
            <a:ext cx="84124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SKILL MISSING</a:t>
            </a:r>
          </a:p>
        </p:txBody>
      </p:sp>
      <p:sp>
        <p:nvSpPr>
          <p:cNvPr id="72" name="Rectangle 71"/>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73" name="TextBox 72"/>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74" name="TextBox 73"/>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10  ·  E  V  I  D  E  N  C  E     I  I  I</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Warm introductions in two hops</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Q18 · two hops of the social graph, crossed with the posting's hard requirements.</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56816"/>
            <a:ext cx="676656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Q18   ·   JOB 79 · DELIVERY MANAGER · IBM</a:t>
            </a:r>
          </a:p>
        </p:txBody>
      </p:sp>
      <p:sp>
        <p:nvSpPr>
          <p:cNvPr id="7" name="Rounded Rectangle 6"/>
          <p:cNvSpPr/>
          <p:nvPr/>
        </p:nvSpPr>
        <p:spPr>
          <a:xfrm>
            <a:off x="685800" y="2249424"/>
            <a:ext cx="1755648" cy="932688"/>
          </a:xfrm>
          <a:prstGeom prst="roundRect">
            <a:avLst>
              <a:gd name="adj" fmla="val 5000"/>
            </a:avLst>
          </a:prstGeom>
          <a:solidFill>
            <a:srgbClr val="F3F7FA"/>
          </a:solidFill>
          <a:ln>
            <a:noFill/>
          </a:ln>
          <a:effectLst/>
        </p:spPr>
        <p:txBody>
          <a:bodyPr rtlCol="0" anchor="ctr" wrap="square" lIns="0" rIns="0" tIns="0" bIns="0"/>
          <a:lstStyle/>
          <a:p>
            <a:pPr algn="ctr"/>
          </a:p>
        </p:txBody>
      </p:sp>
      <p:sp>
        <p:nvSpPr>
          <p:cNvPr id="8" name="TextBox 7"/>
          <p:cNvSpPr txBox="1"/>
          <p:nvPr/>
        </p:nvSpPr>
        <p:spPr>
          <a:xfrm>
            <a:off x="813816" y="2322576"/>
            <a:ext cx="1554480" cy="182880"/>
          </a:xfrm>
          <a:prstGeom prst="rect">
            <a:avLst/>
          </a:prstGeom>
          <a:noFill/>
        </p:spPr>
        <p:txBody>
          <a:bodyPr wrap="square" lIns="0" rIns="0" tIns="0" bIns="0" anchor="t">
            <a:spAutoFit/>
          </a:bodyPr>
          <a:lstStyle/>
          <a:p>
            <a:pPr algn="l">
              <a:lnSpc>
                <a:spcPct val="100000"/>
              </a:lnSpc>
              <a:spcBef>
                <a:spcPts val="0"/>
              </a:spcBef>
              <a:spcAft>
                <a:spcPts val="0"/>
              </a:spcAft>
            </a:pPr>
            <a:r>
              <a:rPr sz="700" b="1">
                <a:solidFill>
                  <a:srgbClr val="8A99A6"/>
                </a:solidFill>
                <a:latin typeface="Segoe UI"/>
              </a:rPr>
              <a:t>CANDIDATE</a:t>
            </a:r>
          </a:p>
        </p:txBody>
      </p:sp>
      <p:sp>
        <p:nvSpPr>
          <p:cNvPr id="9" name="TextBox 8"/>
          <p:cNvSpPr txBox="1"/>
          <p:nvPr/>
        </p:nvSpPr>
        <p:spPr>
          <a:xfrm>
            <a:off x="813816" y="2542032"/>
            <a:ext cx="1554480" cy="566928"/>
          </a:xfrm>
          <a:prstGeom prst="rect">
            <a:avLst/>
          </a:prstGeom>
          <a:noFill/>
        </p:spPr>
        <p:txBody>
          <a:bodyPr wrap="square" lIns="0" rIns="0" tIns="0" bIns="0" anchor="t">
            <a:spAutoFit/>
          </a:bodyPr>
          <a:lstStyle/>
          <a:p>
            <a:pPr algn="l">
              <a:lnSpc>
                <a:spcPct val="112000"/>
              </a:lnSpc>
              <a:spcBef>
                <a:spcPts val="0"/>
              </a:spcBef>
              <a:spcAft>
                <a:spcPts val="0"/>
              </a:spcAft>
            </a:pPr>
            <a:r>
              <a:rPr sz="819" b="1">
                <a:solidFill>
                  <a:srgbClr val="0E2A47"/>
                </a:solidFill>
                <a:latin typeface="Segoe UI"/>
              </a:rPr>
              <a:t>Grace Sun</a:t>
            </a:r>
          </a:p>
          <a:p>
            <a:pPr algn="l">
              <a:lnSpc>
                <a:spcPct val="112000"/>
              </a:lnSpc>
              <a:spcBef>
                <a:spcPts val="0"/>
              </a:spcBef>
              <a:spcAft>
                <a:spcPts val="0"/>
              </a:spcAft>
            </a:pPr>
            <a:r>
              <a:rPr sz="819" b="1">
                <a:solidFill>
                  <a:srgbClr val="0E2A47"/>
                </a:solidFill>
                <a:latin typeface="Segoe UI"/>
              </a:rPr>
              <a:t>8 yrs · San Francisco</a:t>
            </a:r>
          </a:p>
        </p:txBody>
      </p:sp>
      <p:sp>
        <p:nvSpPr>
          <p:cNvPr id="10" name="Rounded Rectangle 9"/>
          <p:cNvSpPr/>
          <p:nvPr/>
        </p:nvSpPr>
        <p:spPr>
          <a:xfrm>
            <a:off x="2633472" y="2249424"/>
            <a:ext cx="1755648" cy="932688"/>
          </a:xfrm>
          <a:prstGeom prst="roundRect">
            <a:avLst>
              <a:gd name="adj" fmla="val 5000"/>
            </a:avLst>
          </a:prstGeom>
          <a:solidFill>
            <a:srgbClr val="F3F7FA"/>
          </a:solidFill>
          <a:ln>
            <a:noFill/>
          </a:ln>
          <a:effectLst/>
        </p:spPr>
        <p:txBody>
          <a:bodyPr rtlCol="0" anchor="ctr" wrap="square" lIns="0" rIns="0" tIns="0" bIns="0"/>
          <a:lstStyle/>
          <a:p>
            <a:pPr algn="ctr"/>
          </a:p>
        </p:txBody>
      </p:sp>
      <p:sp>
        <p:nvSpPr>
          <p:cNvPr id="11" name="TextBox 10"/>
          <p:cNvSpPr txBox="1"/>
          <p:nvPr/>
        </p:nvSpPr>
        <p:spPr>
          <a:xfrm>
            <a:off x="2761488" y="2322576"/>
            <a:ext cx="1554480" cy="182880"/>
          </a:xfrm>
          <a:prstGeom prst="rect">
            <a:avLst/>
          </a:prstGeom>
          <a:noFill/>
        </p:spPr>
        <p:txBody>
          <a:bodyPr wrap="square" lIns="0" rIns="0" tIns="0" bIns="0" anchor="t">
            <a:spAutoFit/>
          </a:bodyPr>
          <a:lstStyle/>
          <a:p>
            <a:pPr algn="l">
              <a:lnSpc>
                <a:spcPct val="100000"/>
              </a:lnSpc>
              <a:spcBef>
                <a:spcPts val="0"/>
              </a:spcBef>
              <a:spcAft>
                <a:spcPts val="0"/>
              </a:spcAft>
            </a:pPr>
            <a:r>
              <a:rPr sz="700" b="1">
                <a:solidFill>
                  <a:srgbClr val="8A99A6"/>
                </a:solidFill>
                <a:latin typeface="Segoe UI"/>
              </a:rPr>
              <a:t>1st DEGREE</a:t>
            </a:r>
          </a:p>
        </p:txBody>
      </p:sp>
      <p:sp>
        <p:nvSpPr>
          <p:cNvPr id="12" name="TextBox 11"/>
          <p:cNvSpPr txBox="1"/>
          <p:nvPr/>
        </p:nvSpPr>
        <p:spPr>
          <a:xfrm>
            <a:off x="2761488" y="2542032"/>
            <a:ext cx="1554480" cy="566928"/>
          </a:xfrm>
          <a:prstGeom prst="rect">
            <a:avLst/>
          </a:prstGeom>
          <a:noFill/>
        </p:spPr>
        <p:txBody>
          <a:bodyPr wrap="square" lIns="0" rIns="0" tIns="0" bIns="0" anchor="t">
            <a:spAutoFit/>
          </a:bodyPr>
          <a:lstStyle/>
          <a:p>
            <a:pPr algn="l">
              <a:lnSpc>
                <a:spcPct val="112000"/>
              </a:lnSpc>
              <a:spcBef>
                <a:spcPts val="0"/>
              </a:spcBef>
              <a:spcAft>
                <a:spcPts val="0"/>
              </a:spcAft>
            </a:pPr>
            <a:r>
              <a:rPr sz="819" b="1">
                <a:solidFill>
                  <a:srgbClr val="0E2A47"/>
                </a:solidFill>
                <a:latin typeface="Segoe UI"/>
              </a:rPr>
              <a:t>Clara Ma</a:t>
            </a:r>
          </a:p>
          <a:p>
            <a:pPr algn="l">
              <a:lnSpc>
                <a:spcPct val="112000"/>
              </a:lnSpc>
              <a:spcBef>
                <a:spcPts val="0"/>
              </a:spcBef>
              <a:spcAft>
                <a:spcPts val="0"/>
              </a:spcAft>
            </a:pPr>
            <a:r>
              <a:rPr sz="819" b="1">
                <a:solidFill>
                  <a:srgbClr val="0E2A47"/>
                </a:solidFill>
                <a:latin typeface="Segoe UI"/>
              </a:rPr>
              <a:t>works at IBM</a:t>
            </a:r>
          </a:p>
        </p:txBody>
      </p:sp>
      <p:sp>
        <p:nvSpPr>
          <p:cNvPr id="13" name="Rounded Rectangle 12"/>
          <p:cNvSpPr/>
          <p:nvPr/>
        </p:nvSpPr>
        <p:spPr>
          <a:xfrm>
            <a:off x="4581144" y="2249424"/>
            <a:ext cx="1755648" cy="932688"/>
          </a:xfrm>
          <a:prstGeom prst="roundRect">
            <a:avLst>
              <a:gd name="adj" fmla="val 5000"/>
            </a:avLst>
          </a:prstGeom>
          <a:solidFill>
            <a:srgbClr val="F3F7FA"/>
          </a:solidFill>
          <a:ln>
            <a:noFill/>
          </a:ln>
          <a:effectLst/>
        </p:spPr>
        <p:txBody>
          <a:bodyPr rtlCol="0" anchor="ctr" wrap="square" lIns="0" rIns="0" tIns="0" bIns="0"/>
          <a:lstStyle/>
          <a:p>
            <a:pPr algn="ctr"/>
          </a:p>
        </p:txBody>
      </p:sp>
      <p:sp>
        <p:nvSpPr>
          <p:cNvPr id="14" name="TextBox 13"/>
          <p:cNvSpPr txBox="1"/>
          <p:nvPr/>
        </p:nvSpPr>
        <p:spPr>
          <a:xfrm>
            <a:off x="4709159" y="2322576"/>
            <a:ext cx="1554480" cy="182880"/>
          </a:xfrm>
          <a:prstGeom prst="rect">
            <a:avLst/>
          </a:prstGeom>
          <a:noFill/>
        </p:spPr>
        <p:txBody>
          <a:bodyPr wrap="square" lIns="0" rIns="0" tIns="0" bIns="0" anchor="t">
            <a:spAutoFit/>
          </a:bodyPr>
          <a:lstStyle/>
          <a:p>
            <a:pPr algn="l">
              <a:lnSpc>
                <a:spcPct val="100000"/>
              </a:lnSpc>
              <a:spcBef>
                <a:spcPts val="0"/>
              </a:spcBef>
              <a:spcAft>
                <a:spcPts val="0"/>
              </a:spcAft>
            </a:pPr>
            <a:r>
              <a:rPr sz="700" b="1">
                <a:solidFill>
                  <a:srgbClr val="8A99A6"/>
                </a:solidFill>
                <a:latin typeface="Segoe UI"/>
              </a:rPr>
              <a:t>HIRING TEAM</a:t>
            </a:r>
          </a:p>
        </p:txBody>
      </p:sp>
      <p:sp>
        <p:nvSpPr>
          <p:cNvPr id="15" name="TextBox 14"/>
          <p:cNvSpPr txBox="1"/>
          <p:nvPr/>
        </p:nvSpPr>
        <p:spPr>
          <a:xfrm>
            <a:off x="4709159" y="2542032"/>
            <a:ext cx="1554480" cy="566928"/>
          </a:xfrm>
          <a:prstGeom prst="rect">
            <a:avLst/>
          </a:prstGeom>
          <a:noFill/>
        </p:spPr>
        <p:txBody>
          <a:bodyPr wrap="square" lIns="0" rIns="0" tIns="0" bIns="0" anchor="t">
            <a:spAutoFit/>
          </a:bodyPr>
          <a:lstStyle/>
          <a:p>
            <a:pPr algn="l">
              <a:lnSpc>
                <a:spcPct val="112000"/>
              </a:lnSpc>
              <a:spcBef>
                <a:spcPts val="0"/>
              </a:spcBef>
              <a:spcAft>
                <a:spcPts val="0"/>
              </a:spcAft>
            </a:pPr>
            <a:r>
              <a:rPr sz="819" b="1">
                <a:solidFill>
                  <a:srgbClr val="0E2A47"/>
                </a:solidFill>
                <a:latin typeface="Segoe UI"/>
              </a:rPr>
              <a:t>IBM · 6 employees</a:t>
            </a:r>
          </a:p>
          <a:p>
            <a:pPr algn="l">
              <a:lnSpc>
                <a:spcPct val="112000"/>
              </a:lnSpc>
              <a:spcBef>
                <a:spcPts val="0"/>
              </a:spcBef>
              <a:spcAft>
                <a:spcPts val="0"/>
              </a:spcAft>
            </a:pPr>
            <a:r>
              <a:rPr sz="819" b="1">
                <a:solidFill>
                  <a:srgbClr val="0E2A47"/>
                </a:solidFill>
                <a:latin typeface="Segoe UI"/>
              </a:rPr>
              <a:t>5 hard requirements</a:t>
            </a:r>
          </a:p>
        </p:txBody>
      </p:sp>
      <p:sp>
        <p:nvSpPr>
          <p:cNvPr id="16" name="TextBox 15"/>
          <p:cNvSpPr txBox="1"/>
          <p:nvPr/>
        </p:nvSpPr>
        <p:spPr>
          <a:xfrm>
            <a:off x="2450592" y="2560320"/>
            <a:ext cx="201168" cy="219456"/>
          </a:xfrm>
          <a:prstGeom prst="rect">
            <a:avLst/>
          </a:prstGeom>
          <a:noFill/>
        </p:spPr>
        <p:txBody>
          <a:bodyPr wrap="square" lIns="0" rIns="0" tIns="0" bIns="0" anchor="t">
            <a:spAutoFit/>
          </a:bodyPr>
          <a:lstStyle/>
          <a:p>
            <a:pPr algn="ctr">
              <a:lnSpc>
                <a:spcPct val="100000"/>
              </a:lnSpc>
              <a:spcBef>
                <a:spcPts val="0"/>
              </a:spcBef>
              <a:spcAft>
                <a:spcPts val="0"/>
              </a:spcAft>
            </a:pPr>
            <a:r>
              <a:rPr sz="1400" b="1">
                <a:solidFill>
                  <a:srgbClr val="0A66C2"/>
                </a:solidFill>
                <a:latin typeface="Segoe UI"/>
              </a:rPr>
              <a:t>›</a:t>
            </a:r>
          </a:p>
        </p:txBody>
      </p:sp>
      <p:sp>
        <p:nvSpPr>
          <p:cNvPr id="17" name="TextBox 16"/>
          <p:cNvSpPr txBox="1"/>
          <p:nvPr/>
        </p:nvSpPr>
        <p:spPr>
          <a:xfrm>
            <a:off x="4398264" y="2560320"/>
            <a:ext cx="201168" cy="219456"/>
          </a:xfrm>
          <a:prstGeom prst="rect">
            <a:avLst/>
          </a:prstGeom>
          <a:noFill/>
        </p:spPr>
        <p:txBody>
          <a:bodyPr wrap="square" lIns="0" rIns="0" tIns="0" bIns="0" anchor="t">
            <a:spAutoFit/>
          </a:bodyPr>
          <a:lstStyle/>
          <a:p>
            <a:pPr algn="ctr">
              <a:lnSpc>
                <a:spcPct val="100000"/>
              </a:lnSpc>
              <a:spcBef>
                <a:spcPts val="0"/>
              </a:spcBef>
              <a:spcAft>
                <a:spcPts val="0"/>
              </a:spcAft>
            </a:pPr>
            <a:r>
              <a:rPr sz="1400" b="1">
                <a:solidFill>
                  <a:srgbClr val="0A66C2"/>
                </a:solidFill>
                <a:latin typeface="Segoe UI"/>
              </a:rPr>
              <a:t>›</a:t>
            </a:r>
          </a:p>
        </p:txBody>
      </p:sp>
      <p:sp>
        <p:nvSpPr>
          <p:cNvPr id="18" name="Rectangle 17"/>
          <p:cNvSpPr/>
          <p:nvPr/>
        </p:nvSpPr>
        <p:spPr>
          <a:xfrm>
            <a:off x="685800" y="3401568"/>
            <a:ext cx="4983480" cy="292608"/>
          </a:xfrm>
          <a:prstGeom prst="rect">
            <a:avLst/>
          </a:prstGeom>
          <a:solidFill>
            <a:srgbClr val="0E2A47"/>
          </a:solidFill>
          <a:ln>
            <a:noFill/>
          </a:ln>
          <a:effectLst/>
        </p:spPr>
        <p:txBody>
          <a:bodyPr rtlCol="0" anchor="ctr" wrap="square" lIns="0" rIns="0" tIns="0" bIns="0"/>
          <a:lstStyle/>
          <a:p>
            <a:pPr algn="ctr"/>
          </a:p>
        </p:txBody>
      </p:sp>
      <p:sp>
        <p:nvSpPr>
          <p:cNvPr id="19" name="TextBox 18"/>
          <p:cNvSpPr txBox="1"/>
          <p:nvPr/>
        </p:nvSpPr>
        <p:spPr>
          <a:xfrm>
            <a:off x="777240" y="346557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Segoe UI"/>
              </a:rPr>
              <a:t>Candidate</a:t>
            </a:r>
          </a:p>
        </p:txBody>
      </p:sp>
      <p:sp>
        <p:nvSpPr>
          <p:cNvPr id="20" name="TextBox 19"/>
          <p:cNvSpPr txBox="1"/>
          <p:nvPr/>
        </p:nvSpPr>
        <p:spPr>
          <a:xfrm>
            <a:off x="2377440" y="3465576"/>
            <a:ext cx="63093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Segoe UI"/>
              </a:rPr>
              <a:t>Degrees</a:t>
            </a:r>
          </a:p>
        </p:txBody>
      </p:sp>
      <p:sp>
        <p:nvSpPr>
          <p:cNvPr id="21" name="TextBox 20"/>
          <p:cNvSpPr txBox="1"/>
          <p:nvPr/>
        </p:nvSpPr>
        <p:spPr>
          <a:xfrm>
            <a:off x="3154680" y="346557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Segoe UI"/>
              </a:rPr>
              <a:t>Bridge</a:t>
            </a:r>
          </a:p>
        </p:txBody>
      </p:sp>
      <p:sp>
        <p:nvSpPr>
          <p:cNvPr id="22" name="TextBox 21"/>
          <p:cNvSpPr txBox="1"/>
          <p:nvPr/>
        </p:nvSpPr>
        <p:spPr>
          <a:xfrm>
            <a:off x="4754879" y="3465576"/>
            <a:ext cx="85953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Segoe UI"/>
              </a:rPr>
              <a:t>Required held</a:t>
            </a:r>
          </a:p>
        </p:txBody>
      </p:sp>
      <p:sp>
        <p:nvSpPr>
          <p:cNvPr id="23" name="TextBox 22"/>
          <p:cNvSpPr txBox="1"/>
          <p:nvPr/>
        </p:nvSpPr>
        <p:spPr>
          <a:xfrm>
            <a:off x="777240" y="376275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Grace Sun</a:t>
            </a:r>
          </a:p>
        </p:txBody>
      </p:sp>
      <p:sp>
        <p:nvSpPr>
          <p:cNvPr id="24" name="TextBox 23"/>
          <p:cNvSpPr txBox="1"/>
          <p:nvPr/>
        </p:nvSpPr>
        <p:spPr>
          <a:xfrm>
            <a:off x="2377440" y="3762756"/>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1</a:t>
            </a:r>
          </a:p>
        </p:txBody>
      </p:sp>
      <p:sp>
        <p:nvSpPr>
          <p:cNvPr id="25" name="TextBox 24"/>
          <p:cNvSpPr txBox="1"/>
          <p:nvPr/>
        </p:nvSpPr>
        <p:spPr>
          <a:xfrm>
            <a:off x="3154680" y="376275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Clara Ma</a:t>
            </a:r>
          </a:p>
        </p:txBody>
      </p:sp>
      <p:sp>
        <p:nvSpPr>
          <p:cNvPr id="26" name="TextBox 25"/>
          <p:cNvSpPr txBox="1"/>
          <p:nvPr/>
        </p:nvSpPr>
        <p:spPr>
          <a:xfrm>
            <a:off x="4754879" y="3762756"/>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 / 5</a:t>
            </a:r>
          </a:p>
        </p:txBody>
      </p:sp>
      <p:sp>
        <p:nvSpPr>
          <p:cNvPr id="27" name="Rectangle 26"/>
          <p:cNvSpPr/>
          <p:nvPr/>
        </p:nvSpPr>
        <p:spPr>
          <a:xfrm>
            <a:off x="685800" y="3986784"/>
            <a:ext cx="4983480" cy="292608"/>
          </a:xfrm>
          <a:prstGeom prst="rect">
            <a:avLst/>
          </a:prstGeom>
          <a:solidFill>
            <a:srgbClr val="F3F7FA"/>
          </a:solidFill>
          <a:ln>
            <a:noFill/>
          </a:ln>
          <a:effectLst/>
        </p:spPr>
        <p:txBody>
          <a:bodyPr rtlCol="0" anchor="ctr" wrap="square" lIns="0" rIns="0" tIns="0" bIns="0"/>
          <a:lstStyle/>
          <a:p>
            <a:pPr algn="ctr"/>
          </a:p>
        </p:txBody>
      </p:sp>
      <p:sp>
        <p:nvSpPr>
          <p:cNvPr id="28" name="TextBox 27"/>
          <p:cNvSpPr txBox="1"/>
          <p:nvPr/>
        </p:nvSpPr>
        <p:spPr>
          <a:xfrm>
            <a:off x="777240" y="4055364"/>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Lars Park</a:t>
            </a:r>
          </a:p>
        </p:txBody>
      </p:sp>
      <p:sp>
        <p:nvSpPr>
          <p:cNvPr id="29" name="TextBox 28"/>
          <p:cNvSpPr txBox="1"/>
          <p:nvPr/>
        </p:nvSpPr>
        <p:spPr>
          <a:xfrm>
            <a:off x="2377440" y="4055364"/>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30" name="TextBox 29"/>
          <p:cNvSpPr txBox="1"/>
          <p:nvPr/>
        </p:nvSpPr>
        <p:spPr>
          <a:xfrm>
            <a:off x="3154680" y="4055364"/>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Nina Jones</a:t>
            </a:r>
          </a:p>
        </p:txBody>
      </p:sp>
      <p:sp>
        <p:nvSpPr>
          <p:cNvPr id="31" name="TextBox 30"/>
          <p:cNvSpPr txBox="1"/>
          <p:nvPr/>
        </p:nvSpPr>
        <p:spPr>
          <a:xfrm>
            <a:off x="4754879" y="4055364"/>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4 / 5</a:t>
            </a:r>
          </a:p>
        </p:txBody>
      </p:sp>
      <p:sp>
        <p:nvSpPr>
          <p:cNvPr id="32" name="TextBox 31"/>
          <p:cNvSpPr txBox="1"/>
          <p:nvPr/>
        </p:nvSpPr>
        <p:spPr>
          <a:xfrm>
            <a:off x="777240" y="4347972"/>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Zhiwei Muller</a:t>
            </a:r>
          </a:p>
        </p:txBody>
      </p:sp>
      <p:sp>
        <p:nvSpPr>
          <p:cNvPr id="33" name="TextBox 32"/>
          <p:cNvSpPr txBox="1"/>
          <p:nvPr/>
        </p:nvSpPr>
        <p:spPr>
          <a:xfrm>
            <a:off x="2377440" y="4347972"/>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34" name="TextBox 33"/>
          <p:cNvSpPr txBox="1"/>
          <p:nvPr/>
        </p:nvSpPr>
        <p:spPr>
          <a:xfrm>
            <a:off x="3154680" y="4347972"/>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Anna Walker</a:t>
            </a:r>
          </a:p>
        </p:txBody>
      </p:sp>
      <p:sp>
        <p:nvSpPr>
          <p:cNvPr id="35" name="TextBox 34"/>
          <p:cNvSpPr txBox="1"/>
          <p:nvPr/>
        </p:nvSpPr>
        <p:spPr>
          <a:xfrm>
            <a:off x="4754879" y="4347972"/>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4 / 5</a:t>
            </a:r>
          </a:p>
        </p:txBody>
      </p:sp>
      <p:sp>
        <p:nvSpPr>
          <p:cNvPr id="36" name="Rectangle 35"/>
          <p:cNvSpPr/>
          <p:nvPr/>
        </p:nvSpPr>
        <p:spPr>
          <a:xfrm>
            <a:off x="685800" y="4572000"/>
            <a:ext cx="4983480" cy="292608"/>
          </a:xfrm>
          <a:prstGeom prst="rect">
            <a:avLst/>
          </a:prstGeom>
          <a:solidFill>
            <a:srgbClr val="F3F7FA"/>
          </a:solidFill>
          <a:ln>
            <a:noFill/>
          </a:ln>
          <a:effectLst/>
        </p:spPr>
        <p:txBody>
          <a:bodyPr rtlCol="0" anchor="ctr" wrap="square" lIns="0" rIns="0" tIns="0" bIns="0"/>
          <a:lstStyle/>
          <a:p>
            <a:pPr algn="ctr"/>
          </a:p>
        </p:txBody>
      </p:sp>
      <p:sp>
        <p:nvSpPr>
          <p:cNvPr id="37" name="TextBox 36"/>
          <p:cNvSpPr txBox="1"/>
          <p:nvPr/>
        </p:nvSpPr>
        <p:spPr>
          <a:xfrm>
            <a:off x="777240" y="4640580"/>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Isha Park</a:t>
            </a:r>
          </a:p>
        </p:txBody>
      </p:sp>
      <p:sp>
        <p:nvSpPr>
          <p:cNvPr id="38" name="TextBox 37"/>
          <p:cNvSpPr txBox="1"/>
          <p:nvPr/>
        </p:nvSpPr>
        <p:spPr>
          <a:xfrm>
            <a:off x="2377440" y="4640580"/>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39" name="TextBox 38"/>
          <p:cNvSpPr txBox="1"/>
          <p:nvPr/>
        </p:nvSpPr>
        <p:spPr>
          <a:xfrm>
            <a:off x="3154680" y="4640580"/>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Nina Jones</a:t>
            </a:r>
          </a:p>
        </p:txBody>
      </p:sp>
      <p:sp>
        <p:nvSpPr>
          <p:cNvPr id="40" name="TextBox 39"/>
          <p:cNvSpPr txBox="1"/>
          <p:nvPr/>
        </p:nvSpPr>
        <p:spPr>
          <a:xfrm>
            <a:off x="4754879" y="4640580"/>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3 / 5</a:t>
            </a:r>
          </a:p>
        </p:txBody>
      </p:sp>
      <p:sp>
        <p:nvSpPr>
          <p:cNvPr id="41" name="TextBox 40"/>
          <p:cNvSpPr txBox="1"/>
          <p:nvPr/>
        </p:nvSpPr>
        <p:spPr>
          <a:xfrm>
            <a:off x="777240" y="4933188"/>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Ananya Smith</a:t>
            </a:r>
          </a:p>
        </p:txBody>
      </p:sp>
      <p:sp>
        <p:nvSpPr>
          <p:cNvPr id="42" name="TextBox 41"/>
          <p:cNvSpPr txBox="1"/>
          <p:nvPr/>
        </p:nvSpPr>
        <p:spPr>
          <a:xfrm>
            <a:off x="2377440" y="4933188"/>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43" name="TextBox 42"/>
          <p:cNvSpPr txBox="1"/>
          <p:nvPr/>
        </p:nvSpPr>
        <p:spPr>
          <a:xfrm>
            <a:off x="3154680" y="4933188"/>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Oscar He</a:t>
            </a:r>
          </a:p>
        </p:txBody>
      </p:sp>
      <p:sp>
        <p:nvSpPr>
          <p:cNvPr id="44" name="TextBox 43"/>
          <p:cNvSpPr txBox="1"/>
          <p:nvPr/>
        </p:nvSpPr>
        <p:spPr>
          <a:xfrm>
            <a:off x="4754879" y="4933188"/>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3 / 5</a:t>
            </a:r>
          </a:p>
        </p:txBody>
      </p:sp>
      <p:sp>
        <p:nvSpPr>
          <p:cNvPr id="45" name="TextBox 44"/>
          <p:cNvSpPr txBox="1"/>
          <p:nvPr/>
        </p:nvSpPr>
        <p:spPr>
          <a:xfrm>
            <a:off x="685800" y="5230368"/>
            <a:ext cx="548640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5A6B7B"/>
                </a:solidFill>
                <a:latin typeface="Segoe UI"/>
              </a:rPr>
              <a:t>15 rows returned · 33 candidates reachable before the skill filter</a:t>
            </a:r>
          </a:p>
        </p:txBody>
      </p:sp>
      <p:sp>
        <p:nvSpPr>
          <p:cNvPr id="46" name="Rounded Rectangle 45"/>
          <p:cNvSpPr/>
          <p:nvPr/>
        </p:nvSpPr>
        <p:spPr>
          <a:xfrm>
            <a:off x="685800" y="5541264"/>
            <a:ext cx="15544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47" name="TextBox 46"/>
          <p:cNvSpPr txBox="1"/>
          <p:nvPr/>
        </p:nvSpPr>
        <p:spPr>
          <a:xfrm>
            <a:off x="886968" y="5614416"/>
            <a:ext cx="12801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33</a:t>
            </a:r>
          </a:p>
        </p:txBody>
      </p:sp>
      <p:sp>
        <p:nvSpPr>
          <p:cNvPr id="48" name="TextBox 47"/>
          <p:cNvSpPr txBox="1"/>
          <p:nvPr/>
        </p:nvSpPr>
        <p:spPr>
          <a:xfrm>
            <a:off x="886968" y="5943600"/>
            <a:ext cx="12801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REACHABLE</a:t>
            </a:r>
          </a:p>
        </p:txBody>
      </p:sp>
      <p:sp>
        <p:nvSpPr>
          <p:cNvPr id="49" name="Rounded Rectangle 48"/>
          <p:cNvSpPr/>
          <p:nvPr/>
        </p:nvSpPr>
        <p:spPr>
          <a:xfrm>
            <a:off x="2350008" y="5541264"/>
            <a:ext cx="15544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0" name="TextBox 49"/>
          <p:cNvSpPr txBox="1"/>
          <p:nvPr/>
        </p:nvSpPr>
        <p:spPr>
          <a:xfrm>
            <a:off x="2551176" y="5614416"/>
            <a:ext cx="12801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15</a:t>
            </a:r>
          </a:p>
        </p:txBody>
      </p:sp>
      <p:sp>
        <p:nvSpPr>
          <p:cNvPr id="51" name="TextBox 50"/>
          <p:cNvSpPr txBox="1"/>
          <p:nvPr/>
        </p:nvSpPr>
        <p:spPr>
          <a:xfrm>
            <a:off x="2551176" y="5943600"/>
            <a:ext cx="12801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SKILL-QUALIFIED</a:t>
            </a:r>
          </a:p>
        </p:txBody>
      </p:sp>
      <p:sp>
        <p:nvSpPr>
          <p:cNvPr id="52" name="Rounded Rectangle 51"/>
          <p:cNvSpPr/>
          <p:nvPr/>
        </p:nvSpPr>
        <p:spPr>
          <a:xfrm>
            <a:off x="4014215" y="5541264"/>
            <a:ext cx="16459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3" name="TextBox 52"/>
          <p:cNvSpPr txBox="1"/>
          <p:nvPr/>
        </p:nvSpPr>
        <p:spPr>
          <a:xfrm>
            <a:off x="4215383" y="5614416"/>
            <a:ext cx="13716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 2</a:t>
            </a:r>
          </a:p>
        </p:txBody>
      </p:sp>
      <p:sp>
        <p:nvSpPr>
          <p:cNvPr id="54" name="TextBox 53"/>
          <p:cNvSpPr txBox="1"/>
          <p:nvPr/>
        </p:nvSpPr>
        <p:spPr>
          <a:xfrm>
            <a:off x="4215383" y="5943600"/>
            <a:ext cx="13716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HOPS WALKED</a:t>
            </a:r>
          </a:p>
        </p:txBody>
      </p:sp>
      <p:sp>
        <p:nvSpPr>
          <p:cNvPr id="55" name="Rounded Rectangle 54"/>
          <p:cNvSpPr/>
          <p:nvPr/>
        </p:nvSpPr>
        <p:spPr>
          <a:xfrm>
            <a:off x="6446520" y="1956816"/>
            <a:ext cx="5074920" cy="4059936"/>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56" name="TextBox 55"/>
          <p:cNvSpPr txBox="1"/>
          <p:nvPr/>
        </p:nvSpPr>
        <p:spPr>
          <a:xfrm>
            <a:off x="6693408" y="2121408"/>
            <a:ext cx="4572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T H E   Q U E R Y   I N   T H R E E   M O V E S</a:t>
            </a:r>
          </a:p>
        </p:txBody>
      </p:sp>
      <p:sp>
        <p:nvSpPr>
          <p:cNvPr id="57" name="TextBox 56"/>
          <p:cNvSpPr txBox="1"/>
          <p:nvPr/>
        </p:nvSpPr>
        <p:spPr>
          <a:xfrm>
            <a:off x="6693408" y="2432304"/>
            <a:ext cx="868680" cy="201168"/>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0A66C2"/>
                </a:solidFill>
                <a:latin typeface="Segoe UI"/>
              </a:rPr>
              <a:t>Anchor</a:t>
            </a:r>
          </a:p>
        </p:txBody>
      </p:sp>
      <p:sp>
        <p:nvSpPr>
          <p:cNvPr id="58" name="TextBox 57"/>
          <p:cNvSpPr txBox="1"/>
          <p:nvPr/>
        </p:nvSpPr>
        <p:spPr>
          <a:xfrm>
            <a:off x="7589520" y="2423160"/>
            <a:ext cx="3703320" cy="566928"/>
          </a:xfrm>
          <a:prstGeom prst="rect">
            <a:avLst/>
          </a:prstGeom>
          <a:noFill/>
        </p:spPr>
        <p:txBody>
          <a:bodyPr wrap="square" lIns="0" rIns="0" tIns="0" bIns="0" anchor="t">
            <a:spAutoFit/>
          </a:bodyPr>
          <a:lstStyle/>
          <a:p>
            <a:pPr algn="l">
              <a:lnSpc>
                <a:spcPct val="118000"/>
              </a:lnSpc>
              <a:spcBef>
                <a:spcPts val="0"/>
              </a:spcBef>
              <a:spcAft>
                <a:spcPts val="0"/>
              </a:spcAft>
            </a:pPr>
            <a:r>
              <a:rPr sz="840" b="0">
                <a:solidFill>
                  <a:srgbClr val="5A6B7B"/>
                </a:solidFill>
                <a:latin typeface="Segoe UI"/>
              </a:rPr>
              <a:t>employees of the hiring company: experience WHERE is_current = 1</a:t>
            </a:r>
          </a:p>
        </p:txBody>
      </p:sp>
      <p:sp>
        <p:nvSpPr>
          <p:cNvPr id="59" name="TextBox 58"/>
          <p:cNvSpPr txBox="1"/>
          <p:nvPr/>
        </p:nvSpPr>
        <p:spPr>
          <a:xfrm>
            <a:off x="6693408" y="3090672"/>
            <a:ext cx="868680" cy="201168"/>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0A66C2"/>
                </a:solidFill>
                <a:latin typeface="Segoe UI"/>
              </a:rPr>
              <a:t>Recurse</a:t>
            </a:r>
          </a:p>
        </p:txBody>
      </p:sp>
      <p:sp>
        <p:nvSpPr>
          <p:cNvPr id="60" name="TextBox 59"/>
          <p:cNvSpPr txBox="1"/>
          <p:nvPr/>
        </p:nvSpPr>
        <p:spPr>
          <a:xfrm>
            <a:off x="7589520" y="3081528"/>
            <a:ext cx="3703320" cy="566928"/>
          </a:xfrm>
          <a:prstGeom prst="rect">
            <a:avLst/>
          </a:prstGeom>
          <a:noFill/>
        </p:spPr>
        <p:txBody>
          <a:bodyPr wrap="square" lIns="0" rIns="0" tIns="0" bIns="0" anchor="t">
            <a:spAutoFit/>
          </a:bodyPr>
          <a:lstStyle/>
          <a:p>
            <a:pPr algn="l">
              <a:lnSpc>
                <a:spcPct val="118000"/>
              </a:lnSpc>
              <a:spcBef>
                <a:spcPts val="0"/>
              </a:spcBef>
              <a:spcAft>
                <a:spcPts val="0"/>
              </a:spcAft>
            </a:pPr>
            <a:r>
              <a:rPr sz="840" b="0">
                <a:solidFill>
                  <a:srgbClr val="5A6B7B"/>
                </a:solidFill>
                <a:latin typeface="Segoe UI"/>
              </a:rPr>
              <a:t>walk connection both ways, at most two hops, keep the minimum hop count</a:t>
            </a:r>
          </a:p>
        </p:txBody>
      </p:sp>
      <p:sp>
        <p:nvSpPr>
          <p:cNvPr id="61" name="TextBox 60"/>
          <p:cNvSpPr txBox="1"/>
          <p:nvPr/>
        </p:nvSpPr>
        <p:spPr>
          <a:xfrm>
            <a:off x="6693408" y="3749039"/>
            <a:ext cx="868680" cy="201168"/>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0A66C2"/>
                </a:solidFill>
                <a:latin typeface="Segoe UI"/>
              </a:rPr>
              <a:t>Cross</a:t>
            </a:r>
          </a:p>
        </p:txBody>
      </p:sp>
      <p:sp>
        <p:nvSpPr>
          <p:cNvPr id="62" name="TextBox 61"/>
          <p:cNvSpPr txBox="1"/>
          <p:nvPr/>
        </p:nvSpPr>
        <p:spPr>
          <a:xfrm>
            <a:off x="7589520" y="3739896"/>
            <a:ext cx="3703320" cy="566928"/>
          </a:xfrm>
          <a:prstGeom prst="rect">
            <a:avLst/>
          </a:prstGeom>
          <a:noFill/>
        </p:spPr>
        <p:txBody>
          <a:bodyPr wrap="square" lIns="0" rIns="0" tIns="0" bIns="0" anchor="t">
            <a:spAutoFit/>
          </a:bodyPr>
          <a:lstStyle/>
          <a:p>
            <a:pPr algn="l">
              <a:lnSpc>
                <a:spcPct val="118000"/>
              </a:lnSpc>
              <a:spcBef>
                <a:spcPts val="0"/>
              </a:spcBef>
              <a:spcAft>
                <a:spcPts val="0"/>
              </a:spcAft>
            </a:pPr>
            <a:r>
              <a:rPr sz="840" b="0">
                <a:solidFill>
                  <a:srgbClr val="5A6B7B"/>
                </a:solidFill>
                <a:latin typeface="Segoe UI"/>
              </a:rPr>
              <a:t>join member_skill against the posting's REQUIRED skills; anti-join on applications</a:t>
            </a:r>
          </a:p>
        </p:txBody>
      </p:sp>
      <p:sp>
        <p:nvSpPr>
          <p:cNvPr id="63" name="Rectangle 62"/>
          <p:cNvSpPr/>
          <p:nvPr/>
        </p:nvSpPr>
        <p:spPr>
          <a:xfrm>
            <a:off x="6693408" y="4480560"/>
            <a:ext cx="4572000" cy="9144"/>
          </a:xfrm>
          <a:prstGeom prst="rect">
            <a:avLst/>
          </a:prstGeom>
          <a:solidFill>
            <a:srgbClr val="D8E0E8"/>
          </a:solidFill>
          <a:ln>
            <a:noFill/>
          </a:ln>
          <a:effectLst/>
        </p:spPr>
        <p:txBody>
          <a:bodyPr rtlCol="0" anchor="ctr" wrap="square" lIns="0" rIns="0" tIns="0" bIns="0"/>
          <a:lstStyle/>
          <a:p>
            <a:pPr algn="ctr"/>
          </a:p>
        </p:txBody>
      </p:sp>
      <p:sp>
        <p:nvSpPr>
          <p:cNvPr id="64" name="TextBox 63"/>
          <p:cNvSpPr txBox="1"/>
          <p:nvPr/>
        </p:nvSpPr>
        <p:spPr>
          <a:xfrm>
            <a:off x="6693408" y="4590288"/>
            <a:ext cx="4572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W H Y   I T   M A T T E R S</a:t>
            </a:r>
          </a:p>
        </p:txBody>
      </p:sp>
      <p:sp>
        <p:nvSpPr>
          <p:cNvPr id="65" name="TextBox 64"/>
          <p:cNvSpPr txBox="1"/>
          <p:nvPr/>
        </p:nvSpPr>
        <p:spPr>
          <a:xfrm>
            <a:off x="6693408" y="4846320"/>
            <a:ext cx="4617720" cy="1325880"/>
          </a:xfrm>
          <a:prstGeom prst="rect">
            <a:avLst/>
          </a:prstGeom>
          <a:noFill/>
        </p:spPr>
        <p:txBody>
          <a:bodyPr wrap="square" lIns="0" rIns="0" tIns="0" bIns="0" anchor="t">
            <a:spAutoFit/>
          </a:bodyPr>
          <a:lstStyle/>
          <a:p>
            <a:pPr algn="l">
              <a:lnSpc>
                <a:spcPct val="120000"/>
              </a:lnSpc>
              <a:spcBef>
                <a:spcPts val="0"/>
              </a:spcBef>
              <a:spcAft>
                <a:spcPts val="0"/>
              </a:spcAft>
            </a:pPr>
            <a:r>
              <a:rPr sz="850" b="0">
                <a:solidFill>
                  <a:srgbClr val="5A6B7B"/>
                </a:solidFill>
                <a:latin typeface="Segoe UI"/>
              </a:rPr>
              <a:t>The graph is only walkable because an edge is stored once, as an ordered pair. With both directions stored, the recursion visits every node twice and the minimum-hop reduction returns the wrong bridge.</a:t>
            </a:r>
          </a:p>
        </p:txBody>
      </p:sp>
      <p:sp>
        <p:nvSpPr>
          <p:cNvPr id="66" name="Rectangle 65"/>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7" name="TextBox 66"/>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68" name="TextBox 67"/>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11  ·  E  V  I  D  E  N  C  E     I  V</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Cycle time and interviewer calibration</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Q10 · where the 30 days go.   Q11 · who passes everyone.</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56816"/>
            <a:ext cx="51206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Q10   ·   DAYS BY STAGE, PER HIRE</a:t>
            </a:r>
          </a:p>
        </p:txBody>
      </p:sp>
      <p:sp>
        <p:nvSpPr>
          <p:cNvPr id="7" name="Rectangle 6"/>
          <p:cNvSpPr/>
          <p:nvPr/>
        </p:nvSpPr>
        <p:spPr>
          <a:xfrm>
            <a:off x="685800" y="2212848"/>
            <a:ext cx="4754880" cy="292608"/>
          </a:xfrm>
          <a:prstGeom prst="rect">
            <a:avLst/>
          </a:prstGeom>
          <a:solidFill>
            <a:srgbClr val="0E2A47"/>
          </a:solidFill>
          <a:ln>
            <a:noFill/>
          </a:ln>
          <a:effectLst/>
        </p:spPr>
        <p:txBody>
          <a:bodyPr rtlCol="0" anchor="ctr" wrap="square" lIns="0" rIns="0" tIns="0" bIns="0"/>
          <a:lstStyle/>
          <a:p>
            <a:pPr algn="ctr"/>
          </a:p>
        </p:txBody>
      </p:sp>
      <p:sp>
        <p:nvSpPr>
          <p:cNvPr id="8" name="TextBox 7"/>
          <p:cNvSpPr txBox="1"/>
          <p:nvPr/>
        </p:nvSpPr>
        <p:spPr>
          <a:xfrm>
            <a:off x="777240" y="2276856"/>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Level</a:t>
            </a:r>
          </a:p>
        </p:txBody>
      </p:sp>
      <p:sp>
        <p:nvSpPr>
          <p:cNvPr id="9" name="TextBox 8"/>
          <p:cNvSpPr txBox="1"/>
          <p:nvPr/>
        </p:nvSpPr>
        <p:spPr>
          <a:xfrm>
            <a:off x="1828800" y="2276856"/>
            <a:ext cx="402335"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Hires</a:t>
            </a:r>
          </a:p>
        </p:txBody>
      </p:sp>
      <p:sp>
        <p:nvSpPr>
          <p:cNvPr id="10" name="TextBox 9"/>
          <p:cNvSpPr txBox="1"/>
          <p:nvPr/>
        </p:nvSpPr>
        <p:spPr>
          <a:xfrm>
            <a:off x="2377440" y="2276856"/>
            <a:ext cx="63093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 1st iv.</a:t>
            </a:r>
          </a:p>
        </p:txBody>
      </p:sp>
      <p:sp>
        <p:nvSpPr>
          <p:cNvPr id="11" name="TextBox 10"/>
          <p:cNvSpPr txBox="1"/>
          <p:nvPr/>
        </p:nvSpPr>
        <p:spPr>
          <a:xfrm>
            <a:off x="3154680" y="2276856"/>
            <a:ext cx="76809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across iv.</a:t>
            </a:r>
          </a:p>
        </p:txBody>
      </p:sp>
      <p:sp>
        <p:nvSpPr>
          <p:cNvPr id="12" name="TextBox 11"/>
          <p:cNvSpPr txBox="1"/>
          <p:nvPr/>
        </p:nvSpPr>
        <p:spPr>
          <a:xfrm>
            <a:off x="4069079" y="2276856"/>
            <a:ext cx="63093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 decision</a:t>
            </a:r>
          </a:p>
        </p:txBody>
      </p:sp>
      <p:sp>
        <p:nvSpPr>
          <p:cNvPr id="13" name="TextBox 12"/>
          <p:cNvSpPr txBox="1"/>
          <p:nvPr/>
        </p:nvSpPr>
        <p:spPr>
          <a:xfrm>
            <a:off x="4846319" y="2276856"/>
            <a:ext cx="53949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Total</a:t>
            </a:r>
          </a:p>
        </p:txBody>
      </p:sp>
      <p:sp>
        <p:nvSpPr>
          <p:cNvPr id="14" name="TextBox 13"/>
          <p:cNvSpPr txBox="1"/>
          <p:nvPr/>
        </p:nvSpPr>
        <p:spPr>
          <a:xfrm>
            <a:off x="777240" y="2574036"/>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Mid</a:t>
            </a:r>
          </a:p>
        </p:txBody>
      </p:sp>
      <p:sp>
        <p:nvSpPr>
          <p:cNvPr id="15" name="TextBox 14"/>
          <p:cNvSpPr txBox="1"/>
          <p:nvPr/>
        </p:nvSpPr>
        <p:spPr>
          <a:xfrm>
            <a:off x="1828800" y="2574036"/>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5</a:t>
            </a:r>
          </a:p>
        </p:txBody>
      </p:sp>
      <p:sp>
        <p:nvSpPr>
          <p:cNvPr id="16" name="TextBox 15"/>
          <p:cNvSpPr txBox="1"/>
          <p:nvPr/>
        </p:nvSpPr>
        <p:spPr>
          <a:xfrm>
            <a:off x="2377440" y="2574036"/>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4.8</a:t>
            </a:r>
          </a:p>
        </p:txBody>
      </p:sp>
      <p:sp>
        <p:nvSpPr>
          <p:cNvPr id="17" name="TextBox 16"/>
          <p:cNvSpPr txBox="1"/>
          <p:nvPr/>
        </p:nvSpPr>
        <p:spPr>
          <a:xfrm>
            <a:off x="3154680" y="2574036"/>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16.2</a:t>
            </a:r>
          </a:p>
        </p:txBody>
      </p:sp>
      <p:sp>
        <p:nvSpPr>
          <p:cNvPr id="18" name="TextBox 17"/>
          <p:cNvSpPr txBox="1"/>
          <p:nvPr/>
        </p:nvSpPr>
        <p:spPr>
          <a:xfrm>
            <a:off x="4069079" y="2574036"/>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9.0</a:t>
            </a:r>
          </a:p>
        </p:txBody>
      </p:sp>
      <p:sp>
        <p:nvSpPr>
          <p:cNvPr id="19" name="TextBox 18"/>
          <p:cNvSpPr txBox="1"/>
          <p:nvPr/>
        </p:nvSpPr>
        <p:spPr>
          <a:xfrm>
            <a:off x="4846319" y="2574036"/>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30.0</a:t>
            </a:r>
          </a:p>
        </p:txBody>
      </p:sp>
      <p:sp>
        <p:nvSpPr>
          <p:cNvPr id="20" name="Rectangle 19"/>
          <p:cNvSpPr/>
          <p:nvPr/>
        </p:nvSpPr>
        <p:spPr>
          <a:xfrm>
            <a:off x="685800" y="2798063"/>
            <a:ext cx="4754880" cy="292608"/>
          </a:xfrm>
          <a:prstGeom prst="rect">
            <a:avLst/>
          </a:prstGeom>
          <a:solidFill>
            <a:srgbClr val="F3F7FA"/>
          </a:solidFill>
          <a:ln>
            <a:noFill/>
          </a:ln>
          <a:effectLst/>
        </p:spPr>
        <p:txBody>
          <a:bodyPr rtlCol="0" anchor="ctr" wrap="square" lIns="0" rIns="0" tIns="0" bIns="0"/>
          <a:lstStyle/>
          <a:p>
            <a:pPr algn="ctr"/>
          </a:p>
        </p:txBody>
      </p:sp>
      <p:sp>
        <p:nvSpPr>
          <p:cNvPr id="21" name="TextBox 20"/>
          <p:cNvSpPr txBox="1"/>
          <p:nvPr/>
        </p:nvSpPr>
        <p:spPr>
          <a:xfrm>
            <a:off x="777240" y="2866644"/>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Senior</a:t>
            </a:r>
          </a:p>
        </p:txBody>
      </p:sp>
      <p:sp>
        <p:nvSpPr>
          <p:cNvPr id="22" name="TextBox 21"/>
          <p:cNvSpPr txBox="1"/>
          <p:nvPr/>
        </p:nvSpPr>
        <p:spPr>
          <a:xfrm>
            <a:off x="1828800" y="2866644"/>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8</a:t>
            </a:r>
          </a:p>
        </p:txBody>
      </p:sp>
      <p:sp>
        <p:nvSpPr>
          <p:cNvPr id="23" name="TextBox 22"/>
          <p:cNvSpPr txBox="1"/>
          <p:nvPr/>
        </p:nvSpPr>
        <p:spPr>
          <a:xfrm>
            <a:off x="2377440" y="2866644"/>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6.1</a:t>
            </a:r>
          </a:p>
        </p:txBody>
      </p:sp>
      <p:sp>
        <p:nvSpPr>
          <p:cNvPr id="24" name="TextBox 23"/>
          <p:cNvSpPr txBox="1"/>
          <p:nvPr/>
        </p:nvSpPr>
        <p:spPr>
          <a:xfrm>
            <a:off x="3154680" y="2866644"/>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15.9</a:t>
            </a:r>
          </a:p>
        </p:txBody>
      </p:sp>
      <p:sp>
        <p:nvSpPr>
          <p:cNvPr id="25" name="TextBox 24"/>
          <p:cNvSpPr txBox="1"/>
          <p:nvPr/>
        </p:nvSpPr>
        <p:spPr>
          <a:xfrm>
            <a:off x="4069079" y="2866644"/>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8.0</a:t>
            </a:r>
          </a:p>
        </p:txBody>
      </p:sp>
      <p:sp>
        <p:nvSpPr>
          <p:cNvPr id="26" name="TextBox 25"/>
          <p:cNvSpPr txBox="1"/>
          <p:nvPr/>
        </p:nvSpPr>
        <p:spPr>
          <a:xfrm>
            <a:off x="4846319" y="2866644"/>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30.0</a:t>
            </a:r>
          </a:p>
        </p:txBody>
      </p:sp>
      <p:sp>
        <p:nvSpPr>
          <p:cNvPr id="27" name="TextBox 26"/>
          <p:cNvSpPr txBox="1"/>
          <p:nvPr/>
        </p:nvSpPr>
        <p:spPr>
          <a:xfrm>
            <a:off x="777240" y="3159251"/>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Lead</a:t>
            </a:r>
          </a:p>
        </p:txBody>
      </p:sp>
      <p:sp>
        <p:nvSpPr>
          <p:cNvPr id="28" name="TextBox 27"/>
          <p:cNvSpPr txBox="1"/>
          <p:nvPr/>
        </p:nvSpPr>
        <p:spPr>
          <a:xfrm>
            <a:off x="1828800" y="3159251"/>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a:t>
            </a:r>
          </a:p>
        </p:txBody>
      </p:sp>
      <p:sp>
        <p:nvSpPr>
          <p:cNvPr id="29" name="TextBox 28"/>
          <p:cNvSpPr txBox="1"/>
          <p:nvPr/>
        </p:nvSpPr>
        <p:spPr>
          <a:xfrm>
            <a:off x="2377440" y="3159251"/>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6.3</a:t>
            </a:r>
          </a:p>
        </p:txBody>
      </p:sp>
      <p:sp>
        <p:nvSpPr>
          <p:cNvPr id="30" name="TextBox 29"/>
          <p:cNvSpPr txBox="1"/>
          <p:nvPr/>
        </p:nvSpPr>
        <p:spPr>
          <a:xfrm>
            <a:off x="3154680" y="3159251"/>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18.0</a:t>
            </a:r>
          </a:p>
        </p:txBody>
      </p:sp>
      <p:sp>
        <p:nvSpPr>
          <p:cNvPr id="31" name="TextBox 30"/>
          <p:cNvSpPr txBox="1"/>
          <p:nvPr/>
        </p:nvSpPr>
        <p:spPr>
          <a:xfrm>
            <a:off x="4069079" y="3159251"/>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8.0</a:t>
            </a:r>
          </a:p>
        </p:txBody>
      </p:sp>
      <p:sp>
        <p:nvSpPr>
          <p:cNvPr id="32" name="TextBox 31"/>
          <p:cNvSpPr txBox="1"/>
          <p:nvPr/>
        </p:nvSpPr>
        <p:spPr>
          <a:xfrm>
            <a:off x="4846319" y="3159251"/>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32.7</a:t>
            </a:r>
          </a:p>
        </p:txBody>
      </p:sp>
      <p:sp>
        <p:nvSpPr>
          <p:cNvPr id="33" name="Rectangle 32"/>
          <p:cNvSpPr/>
          <p:nvPr/>
        </p:nvSpPr>
        <p:spPr>
          <a:xfrm>
            <a:off x="685800" y="3383279"/>
            <a:ext cx="4754880" cy="292608"/>
          </a:xfrm>
          <a:prstGeom prst="rect">
            <a:avLst/>
          </a:prstGeom>
          <a:solidFill>
            <a:srgbClr val="F3F7FA"/>
          </a:solidFill>
          <a:ln>
            <a:noFill/>
          </a:ln>
          <a:effectLst/>
        </p:spPr>
        <p:txBody>
          <a:bodyPr rtlCol="0" anchor="ctr" wrap="square" lIns="0" rIns="0" tIns="0" bIns="0"/>
          <a:lstStyle/>
          <a:p>
            <a:pPr algn="ctr"/>
          </a:p>
        </p:txBody>
      </p:sp>
      <p:sp>
        <p:nvSpPr>
          <p:cNvPr id="34" name="TextBox 33"/>
          <p:cNvSpPr txBox="1"/>
          <p:nvPr/>
        </p:nvSpPr>
        <p:spPr>
          <a:xfrm>
            <a:off x="777240" y="3451859"/>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Principal</a:t>
            </a:r>
          </a:p>
        </p:txBody>
      </p:sp>
      <p:sp>
        <p:nvSpPr>
          <p:cNvPr id="35" name="TextBox 34"/>
          <p:cNvSpPr txBox="1"/>
          <p:nvPr/>
        </p:nvSpPr>
        <p:spPr>
          <a:xfrm>
            <a:off x="1828800" y="3451859"/>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2</a:t>
            </a:r>
          </a:p>
        </p:txBody>
      </p:sp>
      <p:sp>
        <p:nvSpPr>
          <p:cNvPr id="36" name="TextBox 35"/>
          <p:cNvSpPr txBox="1"/>
          <p:nvPr/>
        </p:nvSpPr>
        <p:spPr>
          <a:xfrm>
            <a:off x="2377440" y="3451859"/>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a:t>
            </a:r>
          </a:p>
        </p:txBody>
      </p:sp>
      <p:sp>
        <p:nvSpPr>
          <p:cNvPr id="37" name="TextBox 36"/>
          <p:cNvSpPr txBox="1"/>
          <p:nvPr/>
        </p:nvSpPr>
        <p:spPr>
          <a:xfrm>
            <a:off x="3154680" y="3451859"/>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15.0</a:t>
            </a:r>
          </a:p>
        </p:txBody>
      </p:sp>
      <p:sp>
        <p:nvSpPr>
          <p:cNvPr id="38" name="TextBox 37"/>
          <p:cNvSpPr txBox="1"/>
          <p:nvPr/>
        </p:nvSpPr>
        <p:spPr>
          <a:xfrm>
            <a:off x="4069079" y="3451859"/>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12.5</a:t>
            </a:r>
          </a:p>
        </p:txBody>
      </p:sp>
      <p:sp>
        <p:nvSpPr>
          <p:cNvPr id="39" name="TextBox 38"/>
          <p:cNvSpPr txBox="1"/>
          <p:nvPr/>
        </p:nvSpPr>
        <p:spPr>
          <a:xfrm>
            <a:off x="4846319" y="3451859"/>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30.5</a:t>
            </a:r>
          </a:p>
        </p:txBody>
      </p:sp>
      <p:sp>
        <p:nvSpPr>
          <p:cNvPr id="40" name="TextBox 39"/>
          <p:cNvSpPr txBox="1"/>
          <p:nvPr/>
        </p:nvSpPr>
        <p:spPr>
          <a:xfrm>
            <a:off x="777240" y="3744468"/>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Junior</a:t>
            </a:r>
          </a:p>
        </p:txBody>
      </p:sp>
      <p:sp>
        <p:nvSpPr>
          <p:cNvPr id="41" name="TextBox 40"/>
          <p:cNvSpPr txBox="1"/>
          <p:nvPr/>
        </p:nvSpPr>
        <p:spPr>
          <a:xfrm>
            <a:off x="1828800" y="3744468"/>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2</a:t>
            </a:r>
          </a:p>
        </p:txBody>
      </p:sp>
      <p:sp>
        <p:nvSpPr>
          <p:cNvPr id="42" name="TextBox 41"/>
          <p:cNvSpPr txBox="1"/>
          <p:nvPr/>
        </p:nvSpPr>
        <p:spPr>
          <a:xfrm>
            <a:off x="2377440" y="3744468"/>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4.5</a:t>
            </a:r>
          </a:p>
        </p:txBody>
      </p:sp>
      <p:sp>
        <p:nvSpPr>
          <p:cNvPr id="43" name="TextBox 42"/>
          <p:cNvSpPr txBox="1"/>
          <p:nvPr/>
        </p:nvSpPr>
        <p:spPr>
          <a:xfrm>
            <a:off x="3154680" y="3744468"/>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18.5</a:t>
            </a:r>
          </a:p>
        </p:txBody>
      </p:sp>
      <p:sp>
        <p:nvSpPr>
          <p:cNvPr id="44" name="TextBox 43"/>
          <p:cNvSpPr txBox="1"/>
          <p:nvPr/>
        </p:nvSpPr>
        <p:spPr>
          <a:xfrm>
            <a:off x="4069079" y="3744468"/>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13.0</a:t>
            </a:r>
          </a:p>
        </p:txBody>
      </p:sp>
      <p:sp>
        <p:nvSpPr>
          <p:cNvPr id="45" name="TextBox 44"/>
          <p:cNvSpPr txBox="1"/>
          <p:nvPr/>
        </p:nvSpPr>
        <p:spPr>
          <a:xfrm>
            <a:off x="4846319" y="3744468"/>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36.0</a:t>
            </a:r>
          </a:p>
        </p:txBody>
      </p:sp>
      <p:sp>
        <p:nvSpPr>
          <p:cNvPr id="46" name="TextBox 45"/>
          <p:cNvSpPr txBox="1"/>
          <p:nvPr/>
        </p:nvSpPr>
        <p:spPr>
          <a:xfrm>
            <a:off x="685800" y="4096512"/>
            <a:ext cx="5120640" cy="548640"/>
          </a:xfrm>
          <a:prstGeom prst="rect">
            <a:avLst/>
          </a:prstGeom>
          <a:noFill/>
        </p:spPr>
        <p:txBody>
          <a:bodyPr wrap="square" lIns="0" rIns="0" tIns="0" bIns="0" anchor="t">
            <a:spAutoFit/>
          </a:bodyPr>
          <a:lstStyle/>
          <a:p>
            <a:pPr algn="l">
              <a:lnSpc>
                <a:spcPct val="118000"/>
              </a:lnSpc>
              <a:spcBef>
                <a:spcPts val="0"/>
              </a:spcBef>
              <a:spcAft>
                <a:spcPts val="0"/>
              </a:spcAft>
            </a:pPr>
            <a:r>
              <a:rPr sz="860" b="0">
                <a:solidFill>
                  <a:srgbClr val="5A6B7B"/>
                </a:solidFill>
                <a:latin typeface="Segoe UI"/>
              </a:rPr>
              <a:t>Interviews themselves are cheap: 15–20 days of elapsed time across three or four rounds. Waiting between them is the cost.</a:t>
            </a:r>
          </a:p>
        </p:txBody>
      </p:sp>
      <p:sp>
        <p:nvSpPr>
          <p:cNvPr id="47" name="TextBox 46"/>
          <p:cNvSpPr txBox="1"/>
          <p:nvPr/>
        </p:nvSpPr>
        <p:spPr>
          <a:xfrm>
            <a:off x="685800" y="4718304"/>
            <a:ext cx="51206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Q11   ·   INTERVIEWER PASS RATE (≥ 3 INTERVIEWS)</a:t>
            </a:r>
          </a:p>
        </p:txBody>
      </p:sp>
      <p:sp>
        <p:nvSpPr>
          <p:cNvPr id="48" name="Rectangle 47"/>
          <p:cNvSpPr/>
          <p:nvPr/>
        </p:nvSpPr>
        <p:spPr>
          <a:xfrm>
            <a:off x="685800" y="4956048"/>
            <a:ext cx="4343400" cy="265176"/>
          </a:xfrm>
          <a:prstGeom prst="rect">
            <a:avLst/>
          </a:prstGeom>
          <a:solidFill>
            <a:srgbClr val="0E2A47"/>
          </a:solidFill>
          <a:ln>
            <a:noFill/>
          </a:ln>
          <a:effectLst/>
        </p:spPr>
        <p:txBody>
          <a:bodyPr rtlCol="0" anchor="ctr" wrap="square" lIns="0" rIns="0" tIns="0" bIns="0"/>
          <a:lstStyle/>
          <a:p>
            <a:pPr algn="ctr"/>
          </a:p>
        </p:txBody>
      </p:sp>
      <p:sp>
        <p:nvSpPr>
          <p:cNvPr id="49" name="TextBox 48"/>
          <p:cNvSpPr txBox="1"/>
          <p:nvPr/>
        </p:nvSpPr>
        <p:spPr>
          <a:xfrm>
            <a:off x="777240" y="5020056"/>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Interviewer · employer</a:t>
            </a:r>
          </a:p>
        </p:txBody>
      </p:sp>
      <p:sp>
        <p:nvSpPr>
          <p:cNvPr id="50" name="TextBox 49"/>
          <p:cNvSpPr txBox="1"/>
          <p:nvPr/>
        </p:nvSpPr>
        <p:spPr>
          <a:xfrm>
            <a:off x="3108960" y="5020056"/>
            <a:ext cx="859536" cy="192023"/>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Rounds</a:t>
            </a:r>
          </a:p>
        </p:txBody>
      </p:sp>
      <p:sp>
        <p:nvSpPr>
          <p:cNvPr id="51" name="TextBox 50"/>
          <p:cNvSpPr txBox="1"/>
          <p:nvPr/>
        </p:nvSpPr>
        <p:spPr>
          <a:xfrm>
            <a:off x="4114800" y="5020056"/>
            <a:ext cx="859536" cy="192023"/>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Segoe UI"/>
              </a:rPr>
              <a:t>Pass rate</a:t>
            </a:r>
          </a:p>
        </p:txBody>
      </p:sp>
      <p:sp>
        <p:nvSpPr>
          <p:cNvPr id="52" name="TextBox 51"/>
          <p:cNvSpPr txBox="1"/>
          <p:nvPr/>
        </p:nvSpPr>
        <p:spPr>
          <a:xfrm>
            <a:off x="777240" y="5289804"/>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Felix Luo · Shopify</a:t>
            </a:r>
          </a:p>
        </p:txBody>
      </p:sp>
      <p:sp>
        <p:nvSpPr>
          <p:cNvPr id="53" name="TextBox 52"/>
          <p:cNvSpPr txBox="1"/>
          <p:nvPr/>
        </p:nvSpPr>
        <p:spPr>
          <a:xfrm>
            <a:off x="3108960" y="5289804"/>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a:t>
            </a:r>
          </a:p>
        </p:txBody>
      </p:sp>
      <p:sp>
        <p:nvSpPr>
          <p:cNvPr id="54" name="TextBox 53"/>
          <p:cNvSpPr txBox="1"/>
          <p:nvPr/>
        </p:nvSpPr>
        <p:spPr>
          <a:xfrm>
            <a:off x="4114800" y="5289804"/>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0%</a:t>
            </a:r>
          </a:p>
        </p:txBody>
      </p:sp>
      <p:sp>
        <p:nvSpPr>
          <p:cNvPr id="55" name="Rectangle 54"/>
          <p:cNvSpPr/>
          <p:nvPr/>
        </p:nvSpPr>
        <p:spPr>
          <a:xfrm>
            <a:off x="685800" y="5486400"/>
            <a:ext cx="4343400" cy="265176"/>
          </a:xfrm>
          <a:prstGeom prst="rect">
            <a:avLst/>
          </a:prstGeom>
          <a:solidFill>
            <a:srgbClr val="F3F7FA"/>
          </a:solidFill>
          <a:ln>
            <a:noFill/>
          </a:ln>
          <a:effectLst/>
        </p:spPr>
        <p:txBody>
          <a:bodyPr rtlCol="0" anchor="ctr" wrap="square" lIns="0" rIns="0" tIns="0" bIns="0"/>
          <a:lstStyle/>
          <a:p>
            <a:pPr algn="ctr"/>
          </a:p>
        </p:txBody>
      </p:sp>
      <p:sp>
        <p:nvSpPr>
          <p:cNvPr id="56" name="TextBox 55"/>
          <p:cNvSpPr txBox="1"/>
          <p:nvPr/>
        </p:nvSpPr>
        <p:spPr>
          <a:xfrm>
            <a:off x="777240" y="5554980"/>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Arjun Muller · Meituan</a:t>
            </a:r>
          </a:p>
        </p:txBody>
      </p:sp>
      <p:sp>
        <p:nvSpPr>
          <p:cNvPr id="57" name="TextBox 56"/>
          <p:cNvSpPr txBox="1"/>
          <p:nvPr/>
        </p:nvSpPr>
        <p:spPr>
          <a:xfrm>
            <a:off x="3108960" y="5554980"/>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a:t>
            </a:r>
          </a:p>
        </p:txBody>
      </p:sp>
      <p:sp>
        <p:nvSpPr>
          <p:cNvPr id="58" name="TextBox 57"/>
          <p:cNvSpPr txBox="1"/>
          <p:nvPr/>
        </p:nvSpPr>
        <p:spPr>
          <a:xfrm>
            <a:off x="4114800" y="5554980"/>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50%</a:t>
            </a:r>
          </a:p>
        </p:txBody>
      </p:sp>
      <p:sp>
        <p:nvSpPr>
          <p:cNvPr id="59" name="TextBox 58"/>
          <p:cNvSpPr txBox="1"/>
          <p:nvPr/>
        </p:nvSpPr>
        <p:spPr>
          <a:xfrm>
            <a:off x="777240" y="5820156"/>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Grace Wu · Salesforce</a:t>
            </a:r>
          </a:p>
        </p:txBody>
      </p:sp>
      <p:sp>
        <p:nvSpPr>
          <p:cNvPr id="60" name="TextBox 59"/>
          <p:cNvSpPr txBox="1"/>
          <p:nvPr/>
        </p:nvSpPr>
        <p:spPr>
          <a:xfrm>
            <a:off x="3108960" y="5820156"/>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a:t>
            </a:r>
          </a:p>
        </p:txBody>
      </p:sp>
      <p:sp>
        <p:nvSpPr>
          <p:cNvPr id="61" name="TextBox 60"/>
          <p:cNvSpPr txBox="1"/>
          <p:nvPr/>
        </p:nvSpPr>
        <p:spPr>
          <a:xfrm>
            <a:off x="4114800" y="5820156"/>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100%</a:t>
            </a:r>
          </a:p>
        </p:txBody>
      </p:sp>
      <p:sp>
        <p:nvSpPr>
          <p:cNvPr id="62" name="Rectangle 61"/>
          <p:cNvSpPr/>
          <p:nvPr/>
        </p:nvSpPr>
        <p:spPr>
          <a:xfrm>
            <a:off x="685800" y="6016752"/>
            <a:ext cx="4343400" cy="265176"/>
          </a:xfrm>
          <a:prstGeom prst="rect">
            <a:avLst/>
          </a:prstGeom>
          <a:solidFill>
            <a:srgbClr val="F3F7FA"/>
          </a:solidFill>
          <a:ln>
            <a:noFill/>
          </a:ln>
          <a:effectLst/>
        </p:spPr>
        <p:txBody>
          <a:bodyPr rtlCol="0" anchor="ctr" wrap="square" lIns="0" rIns="0" tIns="0" bIns="0"/>
          <a:lstStyle/>
          <a:p>
            <a:pPr algn="ctr"/>
          </a:p>
        </p:txBody>
      </p:sp>
      <p:sp>
        <p:nvSpPr>
          <p:cNvPr id="63" name="TextBox 62"/>
          <p:cNvSpPr txBox="1"/>
          <p:nvPr/>
        </p:nvSpPr>
        <p:spPr>
          <a:xfrm>
            <a:off x="777240" y="6085332"/>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Hao Hall · Sea Group</a:t>
            </a:r>
          </a:p>
        </p:txBody>
      </p:sp>
      <p:sp>
        <p:nvSpPr>
          <p:cNvPr id="64" name="TextBox 63"/>
          <p:cNvSpPr txBox="1"/>
          <p:nvPr/>
        </p:nvSpPr>
        <p:spPr>
          <a:xfrm>
            <a:off x="3108960" y="6085332"/>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a:t>
            </a:r>
          </a:p>
        </p:txBody>
      </p:sp>
      <p:sp>
        <p:nvSpPr>
          <p:cNvPr id="65" name="TextBox 64"/>
          <p:cNvSpPr txBox="1"/>
          <p:nvPr/>
        </p:nvSpPr>
        <p:spPr>
          <a:xfrm>
            <a:off x="4114800" y="6085332"/>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100%</a:t>
            </a:r>
          </a:p>
        </p:txBody>
      </p:sp>
      <p:sp>
        <p:nvSpPr>
          <p:cNvPr id="66" name="Rounded Rectangle 65"/>
          <p:cNvSpPr/>
          <p:nvPr/>
        </p:nvSpPr>
        <p:spPr>
          <a:xfrm>
            <a:off x="6172200" y="1956816"/>
            <a:ext cx="5321808" cy="1975104"/>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67" name="TextBox 66"/>
          <p:cNvSpPr txBox="1"/>
          <p:nvPr/>
        </p:nvSpPr>
        <p:spPr>
          <a:xfrm>
            <a:off x="6419088" y="2103120"/>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R E A D I N G   T H E   T W O   T O G E T H E R</a:t>
            </a:r>
          </a:p>
        </p:txBody>
      </p:sp>
      <p:sp>
        <p:nvSpPr>
          <p:cNvPr id="68" name="TextBox 67"/>
          <p:cNvSpPr txBox="1"/>
          <p:nvPr/>
        </p:nvSpPr>
        <p:spPr>
          <a:xfrm>
            <a:off x="6419088" y="2340864"/>
            <a:ext cx="4846320" cy="1463040"/>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5A6B7B"/>
                </a:solidFill>
                <a:latin typeface="Segoe UI"/>
              </a:rPr>
              <a:t>A process that spends half its life waiting for calendars is a scheduling problem, not a hiring problem. A process whose pass rate depends on who runs the round is a calibration problem. Both are measurable only because the interview is a relation with an interviewer and a timestamp — not a status on the application.</a:t>
            </a:r>
          </a:p>
        </p:txBody>
      </p:sp>
      <p:sp>
        <p:nvSpPr>
          <p:cNvPr id="69" name="Rounded Rectangle 68"/>
          <p:cNvSpPr/>
          <p:nvPr/>
        </p:nvSpPr>
        <p:spPr>
          <a:xfrm>
            <a:off x="6172200" y="4096512"/>
            <a:ext cx="5321808" cy="1975104"/>
          </a:xfrm>
          <a:prstGeom prst="roundRect">
            <a:avLst>
              <a:gd name="adj" fmla="val 3000"/>
            </a:avLst>
          </a:prstGeom>
          <a:solidFill>
            <a:srgbClr val="FFFFFF"/>
          </a:solidFill>
          <a:ln>
            <a:noFill/>
          </a:ln>
          <a:effectLst/>
        </p:spPr>
        <p:txBody>
          <a:bodyPr rtlCol="0" anchor="ctr" wrap="square" lIns="0" rIns="0" tIns="0" bIns="0"/>
          <a:lstStyle/>
          <a:p>
            <a:pPr algn="ctr"/>
          </a:p>
        </p:txBody>
      </p:sp>
      <p:sp>
        <p:nvSpPr>
          <p:cNvPr id="70" name="Rectangle 69"/>
          <p:cNvSpPr/>
          <p:nvPr/>
        </p:nvSpPr>
        <p:spPr>
          <a:xfrm>
            <a:off x="6172200" y="4096512"/>
            <a:ext cx="45720" cy="1975104"/>
          </a:xfrm>
          <a:prstGeom prst="rect">
            <a:avLst/>
          </a:prstGeom>
          <a:solidFill>
            <a:srgbClr val="0A66C2"/>
          </a:solidFill>
          <a:ln>
            <a:noFill/>
          </a:ln>
          <a:effectLst/>
        </p:spPr>
        <p:txBody>
          <a:bodyPr rtlCol="0" anchor="ctr" wrap="square" lIns="0" rIns="0" tIns="0" bIns="0"/>
          <a:lstStyle/>
          <a:p>
            <a:pPr algn="ctr"/>
          </a:p>
        </p:txBody>
      </p:sp>
      <p:sp>
        <p:nvSpPr>
          <p:cNvPr id="71" name="TextBox 70"/>
          <p:cNvSpPr txBox="1"/>
          <p:nvPr/>
        </p:nvSpPr>
        <p:spPr>
          <a:xfrm>
            <a:off x="6419088" y="4224528"/>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T H E   A S S U M P T I O N   W E   M A D E</a:t>
            </a:r>
          </a:p>
        </p:txBody>
      </p:sp>
      <p:sp>
        <p:nvSpPr>
          <p:cNvPr id="72" name="TextBox 71"/>
          <p:cNvSpPr txBox="1"/>
          <p:nvPr/>
        </p:nvSpPr>
        <p:spPr>
          <a:xfrm>
            <a:off x="6419088" y="4462272"/>
            <a:ext cx="4846320" cy="1481328"/>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5A6B7B"/>
                </a:solidFill>
                <a:latin typeface="Segoe UI"/>
              </a:rPr>
              <a:t>Stage entry is approximated by the application date, because the schema keeps one decision timestamp rather than a transition log. That is honest for total cycle time and optimistic for per-stage time; adding application_status_history is the first item on our improvement list.</a:t>
            </a:r>
          </a:p>
        </p:txBody>
      </p:sp>
      <p:sp>
        <p:nvSpPr>
          <p:cNvPr id="73" name="Rectangle 7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74" name="TextBox 7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75" name="TextBox 7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12  ·  I  M  P  R  O  V  E  M  E  N  T</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What we would build next</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A limitation that is written down is a design decision; one that is discovered in the demo is a defect.</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93392"/>
            <a:ext cx="51206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Segoe UI"/>
              </a:rPr>
              <a:t>W O U L D   B U I L D   N E X T</a:t>
            </a:r>
          </a:p>
        </p:txBody>
      </p:sp>
      <p:sp>
        <p:nvSpPr>
          <p:cNvPr id="7" name="Rectangle 6"/>
          <p:cNvSpPr/>
          <p:nvPr/>
        </p:nvSpPr>
        <p:spPr>
          <a:xfrm>
            <a:off x="685800" y="2304288"/>
            <a:ext cx="45720" cy="713232"/>
          </a:xfrm>
          <a:prstGeom prst="rect">
            <a:avLst/>
          </a:prstGeom>
          <a:solidFill>
            <a:srgbClr val="0A66C2"/>
          </a:solidFill>
          <a:ln>
            <a:noFill/>
          </a:ln>
          <a:effectLst/>
        </p:spPr>
        <p:txBody>
          <a:bodyPr rtlCol="0" anchor="ctr" wrap="square" lIns="0" rIns="0" tIns="0" bIns="0"/>
          <a:lstStyle/>
          <a:p>
            <a:pPr algn="ctr"/>
          </a:p>
        </p:txBody>
      </p:sp>
      <p:sp>
        <p:nvSpPr>
          <p:cNvPr id="8" name="TextBox 7"/>
          <p:cNvSpPr txBox="1"/>
          <p:nvPr/>
        </p:nvSpPr>
        <p:spPr>
          <a:xfrm>
            <a:off x="868680" y="2286000"/>
            <a:ext cx="4754880" cy="219456"/>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E2A47"/>
                </a:solidFill>
                <a:latin typeface="Segoe UI"/>
              </a:rPr>
              <a:t>Status history</a:t>
            </a:r>
          </a:p>
        </p:txBody>
      </p:sp>
      <p:sp>
        <p:nvSpPr>
          <p:cNvPr id="9" name="TextBox 8"/>
          <p:cNvSpPr txBox="1"/>
          <p:nvPr/>
        </p:nvSpPr>
        <p:spPr>
          <a:xfrm>
            <a:off x="868680" y="2523744"/>
            <a:ext cx="4846320" cy="566928"/>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5A6B7B"/>
                </a:solidFill>
                <a:latin typeface="Segoe UI"/>
              </a:rPr>
              <a:t>application_status_history replaces the single decided_at, so stage</a:t>
            </a:r>
          </a:p>
          <a:p>
            <a:pPr algn="l">
              <a:lnSpc>
                <a:spcPct val="118000"/>
              </a:lnSpc>
              <a:spcBef>
                <a:spcPts val="0"/>
              </a:spcBef>
              <a:spcAft>
                <a:spcPts val="0"/>
              </a:spcAft>
            </a:pPr>
            <a:r>
              <a:rPr sz="880" b="0">
                <a:solidFill>
                  <a:srgbClr val="5A6B7B"/>
                </a:solidFill>
                <a:latin typeface="Segoe UI"/>
              </a:rPr>
              <a:t>durations stop being approximated by the application date.</a:t>
            </a:r>
          </a:p>
        </p:txBody>
      </p:sp>
      <p:sp>
        <p:nvSpPr>
          <p:cNvPr id="10" name="Rectangle 9"/>
          <p:cNvSpPr/>
          <p:nvPr/>
        </p:nvSpPr>
        <p:spPr>
          <a:xfrm>
            <a:off x="685800" y="3163824"/>
            <a:ext cx="45720" cy="713232"/>
          </a:xfrm>
          <a:prstGeom prst="rect">
            <a:avLst/>
          </a:prstGeom>
          <a:solidFill>
            <a:srgbClr val="0A66C2"/>
          </a:solidFill>
          <a:ln>
            <a:noFill/>
          </a:ln>
          <a:effectLst/>
        </p:spPr>
        <p:txBody>
          <a:bodyPr rtlCol="0" anchor="ctr" wrap="square" lIns="0" rIns="0" tIns="0" bIns="0"/>
          <a:lstStyle/>
          <a:p>
            <a:pPr algn="ctr"/>
          </a:p>
        </p:txBody>
      </p:sp>
      <p:sp>
        <p:nvSpPr>
          <p:cNvPr id="11" name="TextBox 10"/>
          <p:cNvSpPr txBox="1"/>
          <p:nvPr/>
        </p:nvSpPr>
        <p:spPr>
          <a:xfrm>
            <a:off x="868680" y="3145536"/>
            <a:ext cx="4754880" cy="219456"/>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E2A47"/>
                </a:solidFill>
                <a:latin typeface="Segoe UI"/>
              </a:rPr>
              <a:t>Offer table</a:t>
            </a:r>
          </a:p>
        </p:txBody>
      </p:sp>
      <p:sp>
        <p:nvSpPr>
          <p:cNvPr id="12" name="TextBox 11"/>
          <p:cNvSpPr txBox="1"/>
          <p:nvPr/>
        </p:nvSpPr>
        <p:spPr>
          <a:xfrm>
            <a:off x="868680" y="3383280"/>
            <a:ext cx="4846320" cy="566928"/>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5A6B7B"/>
                </a:solidFill>
                <a:latin typeface="Segoe UI"/>
              </a:rPr>
              <a:t>base, bonus, currency and acceptance date — today an above-band offer is</a:t>
            </a:r>
          </a:p>
          <a:p>
            <a:pPr algn="l">
              <a:lnSpc>
                <a:spcPct val="118000"/>
              </a:lnSpc>
              <a:spcBef>
                <a:spcPts val="0"/>
              </a:spcBef>
              <a:spcAft>
                <a:spcPts val="0"/>
              </a:spcAft>
            </a:pPr>
            <a:r>
              <a:rPr sz="880" b="0">
                <a:solidFill>
                  <a:srgbClr val="5A6B7B"/>
                </a:solidFill>
                <a:latin typeface="Segoe UI"/>
              </a:rPr>
              <a:t>invisible and the salary column stays the posting's plan.</a:t>
            </a:r>
          </a:p>
        </p:txBody>
      </p:sp>
      <p:sp>
        <p:nvSpPr>
          <p:cNvPr id="13" name="Rectangle 12"/>
          <p:cNvSpPr/>
          <p:nvPr/>
        </p:nvSpPr>
        <p:spPr>
          <a:xfrm>
            <a:off x="685800" y="4023360"/>
            <a:ext cx="45720" cy="713232"/>
          </a:xfrm>
          <a:prstGeom prst="rect">
            <a:avLst/>
          </a:prstGeom>
          <a:solidFill>
            <a:srgbClr val="0A66C2"/>
          </a:solidFill>
          <a:ln>
            <a:noFill/>
          </a:ln>
          <a:effectLst/>
        </p:spPr>
        <p:txBody>
          <a:bodyPr rtlCol="0" anchor="ctr" wrap="square" lIns="0" rIns="0" tIns="0" bIns="0"/>
          <a:lstStyle/>
          <a:p>
            <a:pPr algn="ctr"/>
          </a:p>
        </p:txBody>
      </p:sp>
      <p:sp>
        <p:nvSpPr>
          <p:cNvPr id="14" name="TextBox 13"/>
          <p:cNvSpPr txBox="1"/>
          <p:nvPr/>
        </p:nvSpPr>
        <p:spPr>
          <a:xfrm>
            <a:off x="868680" y="4005072"/>
            <a:ext cx="4754880" cy="219456"/>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E2A47"/>
                </a:solidFill>
                <a:latin typeface="Segoe UI"/>
              </a:rPr>
              <a:t>Soft delete</a:t>
            </a:r>
          </a:p>
        </p:txBody>
      </p:sp>
      <p:sp>
        <p:nvSpPr>
          <p:cNvPr id="15" name="TextBox 14"/>
          <p:cNvSpPr txBox="1"/>
          <p:nvPr/>
        </p:nvSpPr>
        <p:spPr>
          <a:xfrm>
            <a:off x="868680" y="4242816"/>
            <a:ext cx="4846320" cy="566928"/>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5A6B7B"/>
                </a:solidFill>
                <a:latin typeface="Segoe UI"/>
              </a:rPr>
              <a:t>member.deleted_at plus RESTRICT on application.member_id: deleting a</a:t>
            </a:r>
          </a:p>
          <a:p>
            <a:pPr algn="l">
              <a:lnSpc>
                <a:spcPct val="118000"/>
              </a:lnSpc>
              <a:spcBef>
                <a:spcPts val="0"/>
              </a:spcBef>
              <a:spcAft>
                <a:spcPts val="0"/>
              </a:spcAft>
            </a:pPr>
            <a:r>
              <a:rPr sz="880" b="0">
                <a:solidFill>
                  <a:srgbClr val="5A6B7B"/>
                </a:solidFill>
                <a:latin typeface="Segoe UI"/>
              </a:rPr>
              <a:t>person currently destroys their funnel history.</a:t>
            </a:r>
          </a:p>
        </p:txBody>
      </p:sp>
      <p:sp>
        <p:nvSpPr>
          <p:cNvPr id="16" name="TextBox 15"/>
          <p:cNvSpPr txBox="1"/>
          <p:nvPr/>
        </p:nvSpPr>
        <p:spPr>
          <a:xfrm>
            <a:off x="6172200" y="1993392"/>
            <a:ext cx="530352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A6741F"/>
                </a:solidFill>
                <a:latin typeface="Segoe UI"/>
              </a:rPr>
              <a:t>K N O W N   L I M I T A T I O N S</a:t>
            </a:r>
          </a:p>
        </p:txBody>
      </p:sp>
      <p:sp>
        <p:nvSpPr>
          <p:cNvPr id="17" name="TextBox 16"/>
          <p:cNvSpPr txBox="1"/>
          <p:nvPr/>
        </p:nvSpPr>
        <p:spPr>
          <a:xfrm>
            <a:off x="6172200" y="2286000"/>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18" name="TextBox 17"/>
          <p:cNvSpPr txBox="1"/>
          <p:nvPr/>
        </p:nvSpPr>
        <p:spPr>
          <a:xfrm>
            <a:off x="6382512" y="2276856"/>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Segoe UI"/>
              </a:rPr>
              <a:t>Synthetic instance</a:t>
            </a:r>
          </a:p>
        </p:txBody>
      </p:sp>
      <p:sp>
        <p:nvSpPr>
          <p:cNvPr id="19" name="TextBox 18"/>
          <p:cNvSpPr txBox="1"/>
          <p:nvPr/>
        </p:nvSpPr>
        <p:spPr>
          <a:xfrm>
            <a:off x="6382512" y="2487168"/>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Segoe UI"/>
              </a:rPr>
              <a:t>distributions are plausible, not empirical; no public dump was used.</a:t>
            </a:r>
          </a:p>
        </p:txBody>
      </p:sp>
      <p:sp>
        <p:nvSpPr>
          <p:cNvPr id="20" name="TextBox 19"/>
          <p:cNvSpPr txBox="1"/>
          <p:nvPr/>
        </p:nvSpPr>
        <p:spPr>
          <a:xfrm>
            <a:off x="6172200" y="3072384"/>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21" name="TextBox 20"/>
          <p:cNvSpPr txBox="1"/>
          <p:nvPr/>
        </p:nvSpPr>
        <p:spPr>
          <a:xfrm>
            <a:off x="6382512" y="3063240"/>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Segoe UI"/>
              </a:rPr>
              <a:t>One currency</a:t>
            </a:r>
          </a:p>
        </p:txBody>
      </p:sp>
      <p:sp>
        <p:nvSpPr>
          <p:cNvPr id="22" name="TextBox 21"/>
          <p:cNvSpPr txBox="1"/>
          <p:nvPr/>
        </p:nvSpPr>
        <p:spPr>
          <a:xfrm>
            <a:off x="6382512" y="3273552"/>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Segoe UI"/>
              </a:rPr>
              <a:t>salaries are annual USD; cross-country comparison is nominal.</a:t>
            </a:r>
          </a:p>
        </p:txBody>
      </p:sp>
      <p:sp>
        <p:nvSpPr>
          <p:cNvPr id="23" name="TextBox 22"/>
          <p:cNvSpPr txBox="1"/>
          <p:nvPr/>
        </p:nvSpPr>
        <p:spPr>
          <a:xfrm>
            <a:off x="6172200" y="3858768"/>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24" name="TextBox 23"/>
          <p:cNvSpPr txBox="1"/>
          <p:nvPr/>
        </p:nvSpPr>
        <p:spPr>
          <a:xfrm>
            <a:off x="6382512" y="3849624"/>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Segoe UI"/>
              </a:rPr>
              <a:t>Education key unenforced</a:t>
            </a:r>
          </a:p>
        </p:txBody>
      </p:sp>
      <p:sp>
        <p:nvSpPr>
          <p:cNvPr id="25" name="TextBox 24"/>
          <p:cNvSpPr txBox="1"/>
          <p:nvPr/>
        </p:nvSpPr>
        <p:spPr>
          <a:xfrm>
            <a:off x="6382512" y="4059935"/>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Segoe UI"/>
              </a:rPr>
              <a:t>the same degree can be recorded twice.</a:t>
            </a:r>
          </a:p>
        </p:txBody>
      </p:sp>
      <p:sp>
        <p:nvSpPr>
          <p:cNvPr id="26" name="TextBox 25"/>
          <p:cNvSpPr txBox="1"/>
          <p:nvPr/>
        </p:nvSpPr>
        <p:spPr>
          <a:xfrm>
            <a:off x="6172200" y="4645152"/>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27" name="TextBox 26"/>
          <p:cNvSpPr txBox="1"/>
          <p:nvPr/>
        </p:nvSpPr>
        <p:spPr>
          <a:xfrm>
            <a:off x="6382512" y="4636008"/>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Segoe UI"/>
              </a:rPr>
              <a:t>Two-hop ceiling</a:t>
            </a:r>
          </a:p>
        </p:txBody>
      </p:sp>
      <p:sp>
        <p:nvSpPr>
          <p:cNvPr id="28" name="TextBox 27"/>
          <p:cNvSpPr txBox="1"/>
          <p:nvPr/>
        </p:nvSpPr>
        <p:spPr>
          <a:xfrm>
            <a:off x="6382512" y="4846320"/>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Segoe UI"/>
              </a:rPr>
              <a:t>three hops would need a materialised reachability table or a graph store.</a:t>
            </a:r>
          </a:p>
        </p:txBody>
      </p:sp>
      <p:sp>
        <p:nvSpPr>
          <p:cNvPr id="29" name="TextBox 28"/>
          <p:cNvSpPr txBox="1"/>
          <p:nvPr/>
        </p:nvSpPr>
        <p:spPr>
          <a:xfrm>
            <a:off x="6172200" y="5431536"/>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30" name="TextBox 29"/>
          <p:cNvSpPr txBox="1"/>
          <p:nvPr/>
        </p:nvSpPr>
        <p:spPr>
          <a:xfrm>
            <a:off x="6382512" y="5422392"/>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Segoe UI"/>
              </a:rPr>
              <a:t>No stage log</a:t>
            </a:r>
          </a:p>
        </p:txBody>
      </p:sp>
      <p:sp>
        <p:nvSpPr>
          <p:cNvPr id="31" name="TextBox 30"/>
          <p:cNvSpPr txBox="1"/>
          <p:nvPr/>
        </p:nvSpPr>
        <p:spPr>
          <a:xfrm>
            <a:off x="6382512" y="5632704"/>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Segoe UI"/>
              </a:rPr>
              <a:t>decided_at doubles as 'last change', which is exact for hires and soft</a:t>
            </a:r>
          </a:p>
          <a:p>
            <a:pPr algn="l">
              <a:lnSpc>
                <a:spcPct val="115000"/>
              </a:lnSpc>
              <a:spcBef>
                <a:spcPts val="0"/>
              </a:spcBef>
              <a:spcAft>
                <a:spcPts val="0"/>
              </a:spcAft>
            </a:pPr>
            <a:r>
              <a:rPr sz="840" b="0">
                <a:solidFill>
                  <a:srgbClr val="5A6B7B"/>
                </a:solidFill>
                <a:latin typeface="Segoe UI"/>
              </a:rPr>
              <a:t>for withdrawals.</a:t>
            </a:r>
          </a:p>
        </p:txBody>
      </p:sp>
      <p:sp>
        <p:nvSpPr>
          <p:cNvPr id="32" name="Rounded Rectangle 31"/>
          <p:cNvSpPr/>
          <p:nvPr/>
        </p:nvSpPr>
        <p:spPr>
          <a:xfrm>
            <a:off x="685800" y="5138928"/>
            <a:ext cx="5074920" cy="1060704"/>
          </a:xfrm>
          <a:prstGeom prst="roundRect">
            <a:avLst>
              <a:gd name="adj" fmla="val 4000"/>
            </a:avLst>
          </a:prstGeom>
          <a:solidFill>
            <a:srgbClr val="F3F7FA"/>
          </a:solidFill>
          <a:ln>
            <a:noFill/>
          </a:ln>
          <a:effectLst/>
        </p:spPr>
        <p:txBody>
          <a:bodyPr rtlCol="0" anchor="ctr" wrap="square" lIns="0" rIns="0" tIns="0" bIns="0"/>
          <a:lstStyle/>
          <a:p>
            <a:pPr algn="ctr"/>
          </a:p>
        </p:txBody>
      </p:sp>
      <p:sp>
        <p:nvSpPr>
          <p:cNvPr id="33" name="TextBox 32"/>
          <p:cNvSpPr txBox="1"/>
          <p:nvPr/>
        </p:nvSpPr>
        <p:spPr>
          <a:xfrm>
            <a:off x="914400" y="5248656"/>
            <a:ext cx="4572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Segoe UI"/>
              </a:rPr>
              <a:t>I F   W E   F I X E D   O N E   T H I N G</a:t>
            </a:r>
          </a:p>
        </p:txBody>
      </p:sp>
      <p:sp>
        <p:nvSpPr>
          <p:cNvPr id="34" name="TextBox 33"/>
          <p:cNvSpPr txBox="1"/>
          <p:nvPr/>
        </p:nvSpPr>
        <p:spPr>
          <a:xfrm>
            <a:off x="914400" y="5486400"/>
            <a:ext cx="4663440" cy="640080"/>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0E2A47"/>
                </a:solidFill>
                <a:latin typeface="Segoe UI"/>
              </a:rPr>
              <a:t>Soft delete. Losing the applications of a departed member is a compliance problem before it is a modelling one.</a:t>
            </a:r>
          </a:p>
        </p:txBody>
      </p:sp>
      <p:sp>
        <p:nvSpPr>
          <p:cNvPr id="35" name="Rectangle 34"/>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36" name="TextBox 35"/>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37" name="TextBox 36"/>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13  ·  A  P  P  E  N  D  I  X</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Task allocation and effort</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Seven members, four dependency layers: schema → seed → views → queries → acceptance.</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Rectangle 5"/>
          <p:cNvSpPr/>
          <p:nvPr/>
        </p:nvSpPr>
        <p:spPr>
          <a:xfrm>
            <a:off x="685800" y="2103120"/>
            <a:ext cx="10378440" cy="365760"/>
          </a:xfrm>
          <a:prstGeom prst="rect">
            <a:avLst/>
          </a:prstGeom>
          <a:solidFill>
            <a:srgbClr val="0E2A47"/>
          </a:solidFill>
          <a:ln>
            <a:noFill/>
          </a:ln>
          <a:effectLst/>
        </p:spPr>
        <p:txBody>
          <a:bodyPr rtlCol="0" anchor="ctr" wrap="square" lIns="0" rIns="0" tIns="0" bIns="0"/>
          <a:lstStyle/>
          <a:p>
            <a:pPr algn="ctr"/>
          </a:p>
        </p:txBody>
      </p:sp>
      <p:sp>
        <p:nvSpPr>
          <p:cNvPr id="7" name="TextBox 6"/>
          <p:cNvSpPr txBox="1"/>
          <p:nvPr/>
        </p:nvSpPr>
        <p:spPr>
          <a:xfrm>
            <a:off x="777240" y="2167127"/>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Member</a:t>
            </a:r>
          </a:p>
        </p:txBody>
      </p:sp>
      <p:sp>
        <p:nvSpPr>
          <p:cNvPr id="8" name="TextBox 7"/>
          <p:cNvSpPr txBox="1"/>
          <p:nvPr/>
        </p:nvSpPr>
        <p:spPr>
          <a:xfrm>
            <a:off x="2651760" y="2167127"/>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Student ID</a:t>
            </a:r>
          </a:p>
        </p:txBody>
      </p:sp>
      <p:sp>
        <p:nvSpPr>
          <p:cNvPr id="9" name="TextBox 8"/>
          <p:cNvSpPr txBox="1"/>
          <p:nvPr/>
        </p:nvSpPr>
        <p:spPr>
          <a:xfrm>
            <a:off x="4069079" y="2167127"/>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Primary responsibility</a:t>
            </a:r>
          </a:p>
        </p:txBody>
      </p:sp>
      <p:sp>
        <p:nvSpPr>
          <p:cNvPr id="10" name="TextBox 9"/>
          <p:cNvSpPr txBox="1"/>
          <p:nvPr/>
        </p:nvSpPr>
        <p:spPr>
          <a:xfrm>
            <a:off x="9143999" y="2167127"/>
            <a:ext cx="99669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Difficulty</a:t>
            </a:r>
          </a:p>
        </p:txBody>
      </p:sp>
      <p:sp>
        <p:nvSpPr>
          <p:cNvPr id="11" name="TextBox 10"/>
          <p:cNvSpPr txBox="1"/>
          <p:nvPr/>
        </p:nvSpPr>
        <p:spPr>
          <a:xfrm>
            <a:off x="10286999" y="2167127"/>
            <a:ext cx="722375"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Segoe UI"/>
              </a:rPr>
              <a:t>Hours</a:t>
            </a:r>
          </a:p>
        </p:txBody>
      </p:sp>
      <p:sp>
        <p:nvSpPr>
          <p:cNvPr id="12" name="TextBox 11"/>
          <p:cNvSpPr txBox="1"/>
          <p:nvPr/>
        </p:nvSpPr>
        <p:spPr>
          <a:xfrm>
            <a:off x="777240" y="253746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Xuanmo AN</a:t>
            </a:r>
          </a:p>
        </p:txBody>
      </p:sp>
      <p:sp>
        <p:nvSpPr>
          <p:cNvPr id="13" name="TextBox 12"/>
          <p:cNvSpPr txBox="1"/>
          <p:nvPr/>
        </p:nvSpPr>
        <p:spPr>
          <a:xfrm>
            <a:off x="2651760" y="253746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1155260677</a:t>
            </a:r>
          </a:p>
        </p:txBody>
      </p:sp>
      <p:sp>
        <p:nvSpPr>
          <p:cNvPr id="14" name="TextBox 13"/>
          <p:cNvSpPr txBox="1"/>
          <p:nvPr/>
        </p:nvSpPr>
        <p:spPr>
          <a:xfrm>
            <a:off x="4069079" y="253746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Conceptual and logical E-R model; §6.7 reduction; ERD generator</a:t>
            </a:r>
          </a:p>
        </p:txBody>
      </p:sp>
      <p:sp>
        <p:nvSpPr>
          <p:cNvPr id="15" name="TextBox 14"/>
          <p:cNvSpPr txBox="1"/>
          <p:nvPr/>
        </p:nvSpPr>
        <p:spPr>
          <a:xfrm>
            <a:off x="9143999" y="253746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16" name="TextBox 15"/>
          <p:cNvSpPr txBox="1"/>
          <p:nvPr/>
        </p:nvSpPr>
        <p:spPr>
          <a:xfrm>
            <a:off x="10286999" y="253746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13</a:t>
            </a:r>
          </a:p>
        </p:txBody>
      </p:sp>
      <p:sp>
        <p:nvSpPr>
          <p:cNvPr id="17" name="Rectangle 16"/>
          <p:cNvSpPr/>
          <p:nvPr/>
        </p:nvSpPr>
        <p:spPr>
          <a:xfrm>
            <a:off x="685800" y="2834639"/>
            <a:ext cx="10378440" cy="365760"/>
          </a:xfrm>
          <a:prstGeom prst="rect">
            <a:avLst/>
          </a:prstGeom>
          <a:solidFill>
            <a:srgbClr val="F3F7FA"/>
          </a:solidFill>
          <a:ln>
            <a:noFill/>
          </a:ln>
          <a:effectLst/>
        </p:spPr>
        <p:txBody>
          <a:bodyPr rtlCol="0" anchor="ctr" wrap="square" lIns="0" rIns="0" tIns="0" bIns="0"/>
          <a:lstStyle/>
          <a:p>
            <a:pPr algn="ctr"/>
          </a:p>
        </p:txBody>
      </p:sp>
      <p:sp>
        <p:nvSpPr>
          <p:cNvPr id="18" name="TextBox 17"/>
          <p:cNvSpPr txBox="1"/>
          <p:nvPr/>
        </p:nvSpPr>
        <p:spPr>
          <a:xfrm>
            <a:off x="777240" y="290322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Yi HOU</a:t>
            </a:r>
          </a:p>
        </p:txBody>
      </p:sp>
      <p:sp>
        <p:nvSpPr>
          <p:cNvPr id="19" name="TextBox 18"/>
          <p:cNvSpPr txBox="1"/>
          <p:nvPr/>
        </p:nvSpPr>
        <p:spPr>
          <a:xfrm>
            <a:off x="2651760" y="290322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1155261383</a:t>
            </a:r>
          </a:p>
        </p:txBody>
      </p:sp>
      <p:sp>
        <p:nvSpPr>
          <p:cNvPr id="20" name="TextBox 19"/>
          <p:cNvSpPr txBox="1"/>
          <p:nvPr/>
        </p:nvSpPr>
        <p:spPr>
          <a:xfrm>
            <a:off x="4069079" y="290322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DDL, constraints and the four guard triggers</a:t>
            </a:r>
          </a:p>
        </p:txBody>
      </p:sp>
      <p:sp>
        <p:nvSpPr>
          <p:cNvPr id="21" name="TextBox 20"/>
          <p:cNvSpPr txBox="1"/>
          <p:nvPr/>
        </p:nvSpPr>
        <p:spPr>
          <a:xfrm>
            <a:off x="9143999" y="290322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22" name="TextBox 21"/>
          <p:cNvSpPr txBox="1"/>
          <p:nvPr/>
        </p:nvSpPr>
        <p:spPr>
          <a:xfrm>
            <a:off x="10286999" y="290322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13</a:t>
            </a:r>
          </a:p>
        </p:txBody>
      </p:sp>
      <p:sp>
        <p:nvSpPr>
          <p:cNvPr id="23" name="TextBox 22"/>
          <p:cNvSpPr txBox="1"/>
          <p:nvPr/>
        </p:nvSpPr>
        <p:spPr>
          <a:xfrm>
            <a:off x="777240" y="3268979"/>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Zhao Han HUANG</a:t>
            </a:r>
          </a:p>
        </p:txBody>
      </p:sp>
      <p:sp>
        <p:nvSpPr>
          <p:cNvPr id="24" name="TextBox 23"/>
          <p:cNvSpPr txBox="1"/>
          <p:nvPr/>
        </p:nvSpPr>
        <p:spPr>
          <a:xfrm>
            <a:off x="2651760" y="3268979"/>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1155272384</a:t>
            </a:r>
          </a:p>
        </p:txBody>
      </p:sp>
      <p:sp>
        <p:nvSpPr>
          <p:cNvPr id="25" name="TextBox 24"/>
          <p:cNvSpPr txBox="1"/>
          <p:nvPr/>
        </p:nvSpPr>
        <p:spPr>
          <a:xfrm>
            <a:off x="4069079" y="3268979"/>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Deterministic seed generator and the 22 cross-table invariants</a:t>
            </a:r>
          </a:p>
        </p:txBody>
      </p:sp>
      <p:sp>
        <p:nvSpPr>
          <p:cNvPr id="26" name="TextBox 25"/>
          <p:cNvSpPr txBox="1"/>
          <p:nvPr/>
        </p:nvSpPr>
        <p:spPr>
          <a:xfrm>
            <a:off x="9143999" y="3268979"/>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27" name="TextBox 26"/>
          <p:cNvSpPr txBox="1"/>
          <p:nvPr/>
        </p:nvSpPr>
        <p:spPr>
          <a:xfrm>
            <a:off x="10286999" y="3268979"/>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13</a:t>
            </a:r>
          </a:p>
        </p:txBody>
      </p:sp>
      <p:sp>
        <p:nvSpPr>
          <p:cNvPr id="28" name="Rectangle 27"/>
          <p:cNvSpPr/>
          <p:nvPr/>
        </p:nvSpPr>
        <p:spPr>
          <a:xfrm>
            <a:off x="685800" y="3566159"/>
            <a:ext cx="10378440" cy="365760"/>
          </a:xfrm>
          <a:prstGeom prst="rect">
            <a:avLst/>
          </a:prstGeom>
          <a:solidFill>
            <a:srgbClr val="F3F7FA"/>
          </a:solidFill>
          <a:ln>
            <a:noFill/>
          </a:ln>
          <a:effectLst/>
        </p:spPr>
        <p:txBody>
          <a:bodyPr rtlCol="0" anchor="ctr" wrap="square" lIns="0" rIns="0" tIns="0" bIns="0"/>
          <a:lstStyle/>
          <a:p>
            <a:pPr algn="ctr"/>
          </a:p>
        </p:txBody>
      </p:sp>
      <p:sp>
        <p:nvSpPr>
          <p:cNvPr id="29" name="TextBox 28"/>
          <p:cNvSpPr txBox="1"/>
          <p:nvPr/>
        </p:nvSpPr>
        <p:spPr>
          <a:xfrm>
            <a:off x="777240" y="3634739"/>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Jinyu LI</a:t>
            </a:r>
          </a:p>
        </p:txBody>
      </p:sp>
      <p:sp>
        <p:nvSpPr>
          <p:cNvPr id="30" name="TextBox 29"/>
          <p:cNvSpPr txBox="1"/>
          <p:nvPr/>
        </p:nvSpPr>
        <p:spPr>
          <a:xfrm>
            <a:off x="2651760" y="3634739"/>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1155261567</a:t>
            </a:r>
          </a:p>
        </p:txBody>
      </p:sp>
      <p:sp>
        <p:nvSpPr>
          <p:cNvPr id="31" name="TextBox 30"/>
          <p:cNvSpPr txBox="1"/>
          <p:nvPr/>
        </p:nvSpPr>
        <p:spPr>
          <a:xfrm>
            <a:off x="4069079" y="3634739"/>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Business queries Q07–Q13 and the CSV capture harness</a:t>
            </a:r>
          </a:p>
        </p:txBody>
      </p:sp>
      <p:sp>
        <p:nvSpPr>
          <p:cNvPr id="32" name="TextBox 31"/>
          <p:cNvSpPr txBox="1"/>
          <p:nvPr/>
        </p:nvSpPr>
        <p:spPr>
          <a:xfrm>
            <a:off x="9143999" y="3634739"/>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4</a:t>
            </a:r>
          </a:p>
        </p:txBody>
      </p:sp>
      <p:sp>
        <p:nvSpPr>
          <p:cNvPr id="33" name="TextBox 32"/>
          <p:cNvSpPr txBox="1"/>
          <p:nvPr/>
        </p:nvSpPr>
        <p:spPr>
          <a:xfrm>
            <a:off x="10286999" y="3634739"/>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11</a:t>
            </a:r>
          </a:p>
        </p:txBody>
      </p:sp>
      <p:sp>
        <p:nvSpPr>
          <p:cNvPr id="34" name="TextBox 33"/>
          <p:cNvSpPr txBox="1"/>
          <p:nvPr/>
        </p:nvSpPr>
        <p:spPr>
          <a:xfrm>
            <a:off x="777240" y="400050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Yitong NI</a:t>
            </a:r>
          </a:p>
        </p:txBody>
      </p:sp>
      <p:sp>
        <p:nvSpPr>
          <p:cNvPr id="35" name="TextBox 34"/>
          <p:cNvSpPr txBox="1"/>
          <p:nvPr/>
        </p:nvSpPr>
        <p:spPr>
          <a:xfrm>
            <a:off x="2651760" y="400050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1155265810</a:t>
            </a:r>
          </a:p>
        </p:txBody>
      </p:sp>
      <p:sp>
        <p:nvSpPr>
          <p:cNvPr id="36" name="TextBox 35"/>
          <p:cNvSpPr txBox="1"/>
          <p:nvPr/>
        </p:nvSpPr>
        <p:spPr>
          <a:xfrm>
            <a:off x="4069079" y="400050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Advanced queries Q14–Q18: CTE, window functions, two-hop recursion</a:t>
            </a:r>
          </a:p>
        </p:txBody>
      </p:sp>
      <p:sp>
        <p:nvSpPr>
          <p:cNvPr id="37" name="TextBox 36"/>
          <p:cNvSpPr txBox="1"/>
          <p:nvPr/>
        </p:nvSpPr>
        <p:spPr>
          <a:xfrm>
            <a:off x="9143999" y="400050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38" name="TextBox 37"/>
          <p:cNvSpPr txBox="1"/>
          <p:nvPr/>
        </p:nvSpPr>
        <p:spPr>
          <a:xfrm>
            <a:off x="10286999" y="400050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12</a:t>
            </a:r>
          </a:p>
        </p:txBody>
      </p:sp>
      <p:sp>
        <p:nvSpPr>
          <p:cNvPr id="39" name="Rectangle 38"/>
          <p:cNvSpPr/>
          <p:nvPr/>
        </p:nvSpPr>
        <p:spPr>
          <a:xfrm>
            <a:off x="685800" y="4297680"/>
            <a:ext cx="10378440" cy="365760"/>
          </a:xfrm>
          <a:prstGeom prst="rect">
            <a:avLst/>
          </a:prstGeom>
          <a:solidFill>
            <a:srgbClr val="F3F7FA"/>
          </a:solidFill>
          <a:ln>
            <a:noFill/>
          </a:ln>
          <a:effectLst/>
        </p:spPr>
        <p:txBody>
          <a:bodyPr rtlCol="0" anchor="ctr" wrap="square" lIns="0" rIns="0" tIns="0" bIns="0"/>
          <a:lstStyle/>
          <a:p>
            <a:pPr algn="ctr"/>
          </a:p>
        </p:txBody>
      </p:sp>
      <p:sp>
        <p:nvSpPr>
          <p:cNvPr id="40" name="TextBox 39"/>
          <p:cNvSpPr txBox="1"/>
          <p:nvPr/>
        </p:nvSpPr>
        <p:spPr>
          <a:xfrm>
            <a:off x="777240" y="436626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Shujing YE</a:t>
            </a:r>
          </a:p>
        </p:txBody>
      </p:sp>
      <p:sp>
        <p:nvSpPr>
          <p:cNvPr id="41" name="TextBox 40"/>
          <p:cNvSpPr txBox="1"/>
          <p:nvPr/>
        </p:nvSpPr>
        <p:spPr>
          <a:xfrm>
            <a:off x="2651760" y="436626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1155261750</a:t>
            </a:r>
          </a:p>
        </p:txBody>
      </p:sp>
      <p:sp>
        <p:nvSpPr>
          <p:cNvPr id="42" name="TextBox 41"/>
          <p:cNvSpPr txBox="1"/>
          <p:nvPr/>
        </p:nvSpPr>
        <p:spPr>
          <a:xfrm>
            <a:off x="4069079" y="436626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View layer (four views) and the normalization workbook</a:t>
            </a:r>
          </a:p>
        </p:txBody>
      </p:sp>
      <p:sp>
        <p:nvSpPr>
          <p:cNvPr id="43" name="TextBox 42"/>
          <p:cNvSpPr txBox="1"/>
          <p:nvPr/>
        </p:nvSpPr>
        <p:spPr>
          <a:xfrm>
            <a:off x="9143999" y="436626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4</a:t>
            </a:r>
          </a:p>
        </p:txBody>
      </p:sp>
      <p:sp>
        <p:nvSpPr>
          <p:cNvPr id="44" name="TextBox 43"/>
          <p:cNvSpPr txBox="1"/>
          <p:nvPr/>
        </p:nvSpPr>
        <p:spPr>
          <a:xfrm>
            <a:off x="10286999" y="436626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10</a:t>
            </a:r>
          </a:p>
        </p:txBody>
      </p:sp>
      <p:sp>
        <p:nvSpPr>
          <p:cNvPr id="45" name="TextBox 44"/>
          <p:cNvSpPr txBox="1"/>
          <p:nvPr/>
        </p:nvSpPr>
        <p:spPr>
          <a:xfrm>
            <a:off x="777240" y="473202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Shiyao ZHANG</a:t>
            </a:r>
          </a:p>
        </p:txBody>
      </p:sp>
      <p:sp>
        <p:nvSpPr>
          <p:cNvPr id="46" name="TextBox 45"/>
          <p:cNvSpPr txBox="1"/>
          <p:nvPr/>
        </p:nvSpPr>
        <p:spPr>
          <a:xfrm>
            <a:off x="2651760" y="473202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1155261823</a:t>
            </a:r>
          </a:p>
        </p:txBody>
      </p:sp>
      <p:sp>
        <p:nvSpPr>
          <p:cNvPr id="47" name="TextBox 46"/>
          <p:cNvSpPr txBox="1"/>
          <p:nvPr/>
        </p:nvSpPr>
        <p:spPr>
          <a:xfrm>
            <a:off x="4069079" y="473202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Acceptance: 12 checks, fault-injection suite, consistency audit</a:t>
            </a:r>
          </a:p>
        </p:txBody>
      </p:sp>
      <p:sp>
        <p:nvSpPr>
          <p:cNvPr id="48" name="TextBox 47"/>
          <p:cNvSpPr txBox="1"/>
          <p:nvPr/>
        </p:nvSpPr>
        <p:spPr>
          <a:xfrm>
            <a:off x="9143999" y="473202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4</a:t>
            </a:r>
          </a:p>
        </p:txBody>
      </p:sp>
      <p:sp>
        <p:nvSpPr>
          <p:cNvPr id="49" name="TextBox 48"/>
          <p:cNvSpPr txBox="1"/>
          <p:nvPr/>
        </p:nvSpPr>
        <p:spPr>
          <a:xfrm>
            <a:off x="10286999" y="473202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9</a:t>
            </a:r>
          </a:p>
        </p:txBody>
      </p:sp>
      <p:sp>
        <p:nvSpPr>
          <p:cNvPr id="50" name="TextBox 49"/>
          <p:cNvSpPr txBox="1"/>
          <p:nvPr/>
        </p:nvSpPr>
        <p:spPr>
          <a:xfrm>
            <a:off x="685800" y="5340096"/>
            <a:ext cx="10424160"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Total 81 person-hours · average 11.6 h · no task below difficulty 4 · every member reviewed at least one artefact they did not author.</a:t>
            </a:r>
          </a:p>
        </p:txBody>
      </p:sp>
      <p:sp>
        <p:nvSpPr>
          <p:cNvPr id="51" name="Rounded Rectangle 50"/>
          <p:cNvSpPr/>
          <p:nvPr/>
        </p:nvSpPr>
        <p:spPr>
          <a:xfrm>
            <a:off x="685800" y="5632704"/>
            <a:ext cx="23317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2" name="TextBox 51"/>
          <p:cNvSpPr txBox="1"/>
          <p:nvPr/>
        </p:nvSpPr>
        <p:spPr>
          <a:xfrm>
            <a:off x="886968" y="5705856"/>
            <a:ext cx="20574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81 h</a:t>
            </a:r>
          </a:p>
        </p:txBody>
      </p:sp>
      <p:sp>
        <p:nvSpPr>
          <p:cNvPr id="53" name="TextBox 52"/>
          <p:cNvSpPr txBox="1"/>
          <p:nvPr/>
        </p:nvSpPr>
        <p:spPr>
          <a:xfrm>
            <a:off x="886968" y="6035040"/>
            <a:ext cx="20574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TOTAL EFFORT</a:t>
            </a:r>
          </a:p>
        </p:txBody>
      </p:sp>
      <p:sp>
        <p:nvSpPr>
          <p:cNvPr id="54" name="Rounded Rectangle 53"/>
          <p:cNvSpPr/>
          <p:nvPr/>
        </p:nvSpPr>
        <p:spPr>
          <a:xfrm>
            <a:off x="3163824" y="5632704"/>
            <a:ext cx="23317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5" name="TextBox 54"/>
          <p:cNvSpPr txBox="1"/>
          <p:nvPr/>
        </p:nvSpPr>
        <p:spPr>
          <a:xfrm>
            <a:off x="3364992" y="5705856"/>
            <a:ext cx="20574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7</a:t>
            </a:r>
          </a:p>
        </p:txBody>
      </p:sp>
      <p:sp>
        <p:nvSpPr>
          <p:cNvPr id="56" name="TextBox 55"/>
          <p:cNvSpPr txBox="1"/>
          <p:nvPr/>
        </p:nvSpPr>
        <p:spPr>
          <a:xfrm>
            <a:off x="3364992" y="6035040"/>
            <a:ext cx="20574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MEMBERS</a:t>
            </a:r>
          </a:p>
        </p:txBody>
      </p:sp>
      <p:sp>
        <p:nvSpPr>
          <p:cNvPr id="57" name="Rounded Rectangle 56"/>
          <p:cNvSpPr/>
          <p:nvPr/>
        </p:nvSpPr>
        <p:spPr>
          <a:xfrm>
            <a:off x="5641848" y="5632704"/>
            <a:ext cx="251460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8" name="TextBox 57"/>
          <p:cNvSpPr txBox="1"/>
          <p:nvPr/>
        </p:nvSpPr>
        <p:spPr>
          <a:xfrm>
            <a:off x="5843016" y="5705856"/>
            <a:ext cx="224028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4</a:t>
            </a:r>
          </a:p>
        </p:txBody>
      </p:sp>
      <p:sp>
        <p:nvSpPr>
          <p:cNvPr id="59" name="TextBox 58"/>
          <p:cNvSpPr txBox="1"/>
          <p:nvPr/>
        </p:nvSpPr>
        <p:spPr>
          <a:xfrm>
            <a:off x="5843016" y="6035040"/>
            <a:ext cx="22402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DEPENDENCY LAYERS</a:t>
            </a:r>
          </a:p>
        </p:txBody>
      </p:sp>
      <p:sp>
        <p:nvSpPr>
          <p:cNvPr id="60" name="Rounded Rectangle 59"/>
          <p:cNvSpPr/>
          <p:nvPr/>
        </p:nvSpPr>
        <p:spPr>
          <a:xfrm>
            <a:off x="8211312" y="5632704"/>
            <a:ext cx="32461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61" name="TextBox 60"/>
          <p:cNvSpPr txBox="1"/>
          <p:nvPr/>
        </p:nvSpPr>
        <p:spPr>
          <a:xfrm>
            <a:off x="8412480" y="5705856"/>
            <a:ext cx="29718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0</a:t>
            </a:r>
          </a:p>
        </p:txBody>
      </p:sp>
      <p:sp>
        <p:nvSpPr>
          <p:cNvPr id="62" name="TextBox 61"/>
          <p:cNvSpPr txBox="1"/>
          <p:nvPr/>
        </p:nvSpPr>
        <p:spPr>
          <a:xfrm>
            <a:off x="8412480" y="6035040"/>
            <a:ext cx="29718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ARTEFACTS WITHOUT AN OWNER</a:t>
            </a:r>
          </a:p>
        </p:txBody>
      </p:sp>
      <p:sp>
        <p:nvSpPr>
          <p:cNvPr id="63" name="Rectangle 6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4" name="TextBox 6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65" name="TextBox 6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Segoe UI"/>
              </a:rPr>
              <a:t>14  ·  Q  &amp;  A</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Georgia"/>
              </a:rPr>
              <a:t>Backup: the conceptual model</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Segoe UI"/>
              </a:rPr>
              <a:t>Chen notation — entity rectangles, relationship diamonds, 1 / N cardinality.</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conceptual.png"/>
          <p:cNvPicPr>
            <a:picLocks noChangeAspect="1"/>
          </p:cNvPicPr>
          <p:nvPr/>
        </p:nvPicPr>
        <p:blipFill>
          <a:blip r:embed="rId2"/>
          <a:stretch>
            <a:fillRect/>
          </a:stretch>
        </p:blipFill>
        <p:spPr>
          <a:xfrm>
            <a:off x="685800" y="1938528"/>
            <a:ext cx="5715000" cy="3810000"/>
          </a:xfrm>
          <a:prstGeom prst="rect">
            <a:avLst/>
          </a:prstGeom>
        </p:spPr>
      </p:pic>
      <p:sp>
        <p:nvSpPr>
          <p:cNvPr id="7" name="TextBox 6"/>
          <p:cNvSpPr txBox="1"/>
          <p:nvPr/>
        </p:nvSpPr>
        <p:spPr>
          <a:xfrm>
            <a:off x="685800" y="5870448"/>
            <a:ext cx="5715000" cy="182880"/>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ERD_conceptual — full resolution in erd/</a:t>
            </a:r>
          </a:p>
        </p:txBody>
      </p:sp>
      <p:sp>
        <p:nvSpPr>
          <p:cNvPr id="8" name="TextBox 7"/>
          <p:cNvSpPr txBox="1"/>
          <p:nvPr/>
        </p:nvSpPr>
        <p:spPr>
          <a:xfrm>
            <a:off x="6903720" y="1975104"/>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Segoe UI"/>
              </a:rPr>
              <a:t>Why twelve tables?</a:t>
            </a:r>
          </a:p>
        </p:txBody>
      </p:sp>
      <p:sp>
        <p:nvSpPr>
          <p:cNvPr id="9" name="TextBox 8"/>
          <p:cNvSpPr txBox="1"/>
          <p:nvPr/>
        </p:nvSpPr>
        <p:spPr>
          <a:xfrm>
            <a:off x="6903720" y="2194560"/>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Segoe UI"/>
              </a:rPr>
              <a:t>One per entity set, plus two associative tables for skills. The</a:t>
            </a:r>
          </a:p>
          <a:p>
            <a:pPr algn="l">
              <a:lnSpc>
                <a:spcPct val="114000"/>
              </a:lnSpc>
              <a:spcBef>
                <a:spcPts val="0"/>
              </a:spcBef>
              <a:spcAft>
                <a:spcPts val="0"/>
              </a:spcAft>
            </a:pPr>
            <a:r>
              <a:rPr sz="819" b="0">
                <a:solidFill>
                  <a:srgbClr val="5A6B7B"/>
                </a:solidFill>
                <a:latin typeface="Segoe UI"/>
              </a:rPr>
              <a:t>mapping is §6.7 applied literally; nothing is merged for convenience.</a:t>
            </a:r>
          </a:p>
        </p:txBody>
      </p:sp>
      <p:sp>
        <p:nvSpPr>
          <p:cNvPr id="10" name="TextBox 9"/>
          <p:cNvSpPr txBox="1"/>
          <p:nvPr/>
        </p:nvSpPr>
        <p:spPr>
          <a:xfrm>
            <a:off x="6903720" y="2834640"/>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Segoe UI"/>
              </a:rPr>
              <a:t>Why no current employer column?</a:t>
            </a:r>
          </a:p>
        </p:txBody>
      </p:sp>
      <p:sp>
        <p:nvSpPr>
          <p:cNvPr id="11" name="TextBox 10"/>
          <p:cNvSpPr txBox="1"/>
          <p:nvPr/>
        </p:nvSpPr>
        <p:spPr>
          <a:xfrm>
            <a:off x="6903720" y="3054096"/>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Segoe UI"/>
              </a:rPr>
              <a:t>It is functionally determined by experience.is_current;</a:t>
            </a:r>
          </a:p>
          <a:p>
            <a:pPr algn="l">
              <a:lnSpc>
                <a:spcPct val="114000"/>
              </a:lnSpc>
              <a:spcBef>
                <a:spcPts val="0"/>
              </a:spcBef>
              <a:spcAft>
                <a:spcPts val="0"/>
              </a:spcAft>
            </a:pPr>
            <a:r>
              <a:rPr sz="819" b="0">
                <a:solidFill>
                  <a:srgbClr val="5A6B7B"/>
                </a:solidFill>
                <a:latin typeface="Segoe UI"/>
              </a:rPr>
              <a:t>storing both is an update anomaly waiting to happen.</a:t>
            </a:r>
          </a:p>
        </p:txBody>
      </p:sp>
      <p:sp>
        <p:nvSpPr>
          <p:cNvPr id="12" name="TextBox 11"/>
          <p:cNvSpPr txBox="1"/>
          <p:nvPr/>
        </p:nvSpPr>
        <p:spPr>
          <a:xfrm>
            <a:off x="6903720" y="3694176"/>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Segoe UI"/>
              </a:rPr>
              <a:t>Why is the referral not a column?</a:t>
            </a:r>
          </a:p>
        </p:txBody>
      </p:sp>
      <p:sp>
        <p:nvSpPr>
          <p:cNvPr id="13" name="TextBox 12"/>
          <p:cNvSpPr txBox="1"/>
          <p:nvPr/>
        </p:nvSpPr>
        <p:spPr>
          <a:xfrm>
            <a:off x="6903720" y="3913632"/>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Segoe UI"/>
              </a:rPr>
              <a:t>It is 1:1 and optional. A nullable column would carry</a:t>
            </a:r>
          </a:p>
          <a:p>
            <a:pPr algn="l">
              <a:lnSpc>
                <a:spcPct val="114000"/>
              </a:lnSpc>
              <a:spcBef>
                <a:spcPts val="0"/>
              </a:spcBef>
              <a:spcAft>
                <a:spcPts val="0"/>
              </a:spcAft>
            </a:pPr>
            <a:r>
              <a:rPr sz="819" b="0">
                <a:solidFill>
                  <a:srgbClr val="5A6B7B"/>
                </a:solidFill>
                <a:latin typeface="Segoe UI"/>
              </a:rPr>
              <a:t>a second candidate key and allow a referral without an</a:t>
            </a:r>
          </a:p>
          <a:p>
            <a:pPr algn="l">
              <a:lnSpc>
                <a:spcPct val="114000"/>
              </a:lnSpc>
              <a:spcBef>
                <a:spcPts val="0"/>
              </a:spcBef>
              <a:spcAft>
                <a:spcPts val="0"/>
              </a:spcAft>
            </a:pPr>
            <a:r>
              <a:rPr sz="819" b="0">
                <a:solidFill>
                  <a:srgbClr val="5A6B7B"/>
                </a:solidFill>
                <a:latin typeface="Segoe UI"/>
              </a:rPr>
              <a:t>application.</a:t>
            </a:r>
          </a:p>
        </p:txBody>
      </p:sp>
      <p:sp>
        <p:nvSpPr>
          <p:cNvPr id="14" name="TextBox 13"/>
          <p:cNvSpPr txBox="1"/>
          <p:nvPr/>
        </p:nvSpPr>
        <p:spPr>
          <a:xfrm>
            <a:off x="6903720" y="4553712"/>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Segoe UI"/>
              </a:rPr>
              <a:t>Is the data real?</a:t>
            </a:r>
          </a:p>
        </p:txBody>
      </p:sp>
      <p:sp>
        <p:nvSpPr>
          <p:cNvPr id="15" name="TextBox 14"/>
          <p:cNvSpPr txBox="1"/>
          <p:nvPr/>
        </p:nvSpPr>
        <p:spPr>
          <a:xfrm>
            <a:off x="6903720" y="4773168"/>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Segoe UI"/>
              </a:rPr>
              <a:t>No. It is synthetic but self-consistent: 22 cross-table checks pass,</a:t>
            </a:r>
          </a:p>
          <a:p>
            <a:pPr algn="l">
              <a:lnSpc>
                <a:spcPct val="114000"/>
              </a:lnSpc>
              <a:spcBef>
                <a:spcPts val="0"/>
              </a:spcBef>
              <a:spcAft>
                <a:spcPts val="0"/>
              </a:spcAft>
            </a:pPr>
            <a:r>
              <a:rPr sz="819" b="0">
                <a:solidFill>
                  <a:srgbClr val="5A6B7B"/>
                </a:solidFill>
                <a:latin typeface="Segoe UI"/>
              </a:rPr>
              <a:t>and the generator is deterministic.</a:t>
            </a:r>
          </a:p>
        </p:txBody>
      </p:sp>
      <p:sp>
        <p:nvSpPr>
          <p:cNvPr id="16" name="TextBox 15"/>
          <p:cNvSpPr txBox="1"/>
          <p:nvPr/>
        </p:nvSpPr>
        <p:spPr>
          <a:xfrm>
            <a:off x="6903720" y="5413248"/>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Segoe UI"/>
              </a:rPr>
              <a:t>What if a referrer leaves?</a:t>
            </a:r>
          </a:p>
        </p:txBody>
      </p:sp>
      <p:sp>
        <p:nvSpPr>
          <p:cNvPr id="17" name="TextBox 16"/>
          <p:cNvSpPr txBox="1"/>
          <p:nvPr/>
        </p:nvSpPr>
        <p:spPr>
          <a:xfrm>
            <a:off x="6903720" y="5632704"/>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Segoe UI"/>
              </a:rPr>
              <a:t>The referral row keeps its referrer; the bonus already paid is</a:t>
            </a:r>
          </a:p>
          <a:p>
            <a:pPr algn="l">
              <a:lnSpc>
                <a:spcPct val="114000"/>
              </a:lnSpc>
              <a:spcBef>
                <a:spcPts val="0"/>
              </a:spcBef>
              <a:spcAft>
                <a:spcPts val="0"/>
              </a:spcAft>
            </a:pPr>
            <a:r>
              <a:rPr sz="819" b="0">
                <a:solidFill>
                  <a:srgbClr val="5A6B7B"/>
                </a:solidFill>
                <a:latin typeface="Segoe UI"/>
              </a:rPr>
              <a:t>evidence. Eligibility is checked when the referral is created.</a:t>
            </a:r>
          </a:p>
        </p:txBody>
      </p:sp>
      <p:sp>
        <p:nvSpPr>
          <p:cNvPr id="18" name="Rectangle 17"/>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19" name="TextBox 18"/>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Segoe UI"/>
              </a:rPr>
              <a:t>DOTE 6751  ·  Group Project  ·  LinkedIn, reverse-engineered  ·  November 2026</a:t>
            </a:r>
          </a:p>
        </p:txBody>
      </p:sp>
      <p:sp>
        <p:nvSpPr>
          <p:cNvPr id="20" name="TextBox 19"/>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