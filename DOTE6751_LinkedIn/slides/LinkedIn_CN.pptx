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is our reverse-engineering project on LinkedIn. We did not have access to any schema; we reconstructed the part of LinkedIn that turns a job posting into a hire, and then built the database that would have to exist for the product's own behaviour to be possible. The deliverable has three parts: a twelve-table logical schema in third normal form, a deterministic data set of three hundred members and two hundred and fifty applications, and eighteen queries that answer questions the product visibly answers. I will take about three minutes on the model, then hand over to the query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observations motivated the scope. First, the product only ever shows outcomes: a filled role, a new hire badge. The two hundred and fifty applications behind that outcome are invisible, which is exactly the data a database course should model. Second, referrals are the channel every recruiter claims to value, and almost nobody can quantify; our funnel shows a threefold difference in end-to-end hire rate between referral and direct applications on the same data. Third, skill shortages are usually asserted in strategy documents; with postings and profiles in one schema they become computable. Those three observations are the spine of the eighteen queries.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loop we modelled. A recruiter creates a posting and declares the skills it requires. A member applies through one of three channels; the channel is a column on the application, not a separate table, because it describes how this application arrived. The recruiter screens, interviews are scheduled in rounds, and the application ends in exactly one of three terminal states. Each arrow on the left writes a specific row, which is the point of the slide: the diagram is a data-flow diagram as much as a process diagram. The state machine on the right is enforced by a trigger, so an application cannot jump from submitted to hired.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model. Twelve relations, seventeen foreign keys, twenty-five check constraints. Two things are worth pointing at. The member table is deliberately thin: there is no current-employer column, because that fact is already implied by the experience table with its single live row. And the application table is the hinge: everything on the left describes a person, everything on the bottom describes a decision, and the loop queries all join through it. The diagram is generated from the same table definitions that produce the DDL, so it cannot drift from the schema.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A is the person. Four tables hang off member: education, experience, connection and the skill claims. The design decision to highlight is the missing current-employer column. Storing it would duplicate a fact that experience already carries, and the two copies could disagree after an edit; that is the update anomaly the textbook warns about. Instead, is_current marks the live row, and a generated column with a unique index makes a second live row impossible. The connection table is the undirected social edge, stored once in canonical order, and it is what the recursive query on slide ten walks.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Modules B and C are the demand side and the loop. On the left, a company advertises postings and each posting declares the skills it wants with an importance flag. Notice that importance lives on job_skill, not on skill: the same skill is a hard requirement in one posting and a nice-to-have in another, which is precisely why the pair needs its own attribute. On the right, the application is at the centre, with interviews hanging off it and the referral attached one-to-one. The two modules meet at job_posting, which is why every funnel query starts there.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tables in three groups. The identity group is four tables around the person. The demand group is three tables: companies, postings and the skill vocabulary. The bottom group is the loop itself plus the two associative tables that connect people to skills and postings to skills. The counts are the seeded instance, and they matter: they are the evidence that the model is populated at a scale where the queries return distributions rather than anecdotes.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pair of queries is about where hires come from. On the left, the funnel by source channel. Referral applications are the smallest group, sixty of two hundred and fifty, but they produce almost half the hires: sixteen point seven percent end to end against five point three for direct. The interesting detail is that the interview rate is almost identical across channels; the difference is what happens after the interview, which is exactly the kind of finding a single table cannot show. On the right, the referral programme by referrer: who refers, who converts, and what the bonuses cost. Two hires from three referrals at Oracle is the top of that list.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of our two focus queries. Q09 asks a narrow question: for one named candidate, which open roles do they half-qualify for, and what exactly is missing? The candidate is Priya Walker, a project manager at Siemens. Twenty-eight open postings where she holds at least two of the hard requirements. The query returns the match percentage and, more usefully, the names of the missing skills, because 'sixty-seven percent' is not actionable and 'you are missing statistical analysis' is. The filter requires at least half of the hard requirements, so the answer set is short enough to act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focus query is the one we are proudest of. Q18 answers a question the product charges money for: who could introduce me to this hiring team? It walks the connection graph recursively, two hops from the employees of the hiring company, and crosses that reachable set with the posting's hard requirements. On the IBM delivery manager role there are thirty-three reachable people; fifteen survive the skill filter, and one of them is a single hop from an employee. The query is a recursive CTE plus an anti-join, and it is the reason the connection table stores edges once in canonical order.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pair is about the loop's cost and its fairness. On the left, where the time goes. Across seniority levels a hire takes twenty-nine to thirty-eight days; the bulk of it is not the interviews, it is the gap between them, eighteen days on average, which is scheduling latency rather than deliberation. On the right, interviewer calibration: pass rates range from zero to a hundred percent on four to six interviews each, which is a signal about the interviewers as much as about the candidates. Neither number exists in a schema that stores only the final hire.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would change. Three improvements we consider structural rather than cosmetic: a status history table, so that stage durations stop being an approximation; an offer table, because compensation above band is currently invisible; and soft deletes, because at the moment deleting a member destroys their applications and therefore the funnel history. The limitations on the right are ones we accepted knowingly: the synthetic data, the single currency, the missing education key, and the two-hop ceiling on the graph query. Each is recorded in the design rationale with the trade-off that produced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 Every member carried a comparable load, eight to fourteen hours, with difficulty between three and five. The schema and the seed were done first because every other task depends on them; the queries were split by group so that two people could work in parallel on independent SQL files; the documents and the deck ran in parallel once the schema was frozen. The allocation is not a division of page count, it is a division of dependency: nothing could start before the schema existed, and everything after it could run concurrently.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If the questions go to the model, the Chen diagram is here: twelve entity sets, fifteen relationship sets, with cardinality ratios on every edge. The five questions on the right are the ones we expect: why twelve tables, why no current employer column, why the referral is not a column on the application, whether the data is real, and what happens if a referrer leaves the company. Short answers are on the slide; the long answers are in the design documents and in the Q&amp;A preparation file.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E2A47"/>
          </a:solidFill>
          <a:ln>
            <a:noFill/>
          </a:ln>
          <a:effectLst/>
        </p:spPr>
        <p:txBody>
          <a:bodyPr rtlCol="0" anchor="ctr" wrap="square" lIns="0" rIns="0" tIns="0" bIns="0"/>
          <a:lstStyle/>
          <a:p>
            <a:pPr algn="ctr"/>
          </a:p>
        </p:txBody>
      </p:sp>
      <p:sp>
        <p:nvSpPr>
          <p:cNvPr id="3" name="TextBox 2"/>
          <p:cNvSpPr txBox="1"/>
          <p:nvPr/>
        </p:nvSpPr>
        <p:spPr>
          <a:xfrm>
            <a:off x="685800" y="68580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D O T E   6 7 5 1   ·   数 据 库 系 统   ·   小 组 作 业</a:t>
            </a:r>
          </a:p>
        </p:txBody>
      </p:sp>
      <p:sp>
        <p:nvSpPr>
          <p:cNvPr id="4" name="TextBox 3"/>
          <p:cNvSpPr txBox="1"/>
          <p:nvPr/>
        </p:nvSpPr>
        <p:spPr>
          <a:xfrm>
            <a:off x="685800" y="1115568"/>
            <a:ext cx="6126480" cy="1417320"/>
          </a:xfrm>
          <a:prstGeom prst="rect">
            <a:avLst/>
          </a:prstGeom>
          <a:noFill/>
        </p:spPr>
        <p:txBody>
          <a:bodyPr wrap="square" lIns="0" rIns="0" tIns="0" bIns="0" anchor="t">
            <a:spAutoFit/>
          </a:bodyPr>
          <a:lstStyle/>
          <a:p>
            <a:pPr algn="l">
              <a:lnSpc>
                <a:spcPct val="106000"/>
              </a:lnSpc>
              <a:spcBef>
                <a:spcPts val="0"/>
              </a:spcBef>
              <a:spcAft>
                <a:spcPts val="0"/>
              </a:spcAft>
            </a:pPr>
            <a:r>
              <a:rPr sz="3800" b="1">
                <a:solidFill>
                  <a:srgbClr val="0E2A47"/>
                </a:solidFill>
                <a:latin typeface="微软雅黑"/>
                <a:ea typeface="微软雅黑"/>
              </a:rPr>
              <a:t>逆向工程</a:t>
            </a:r>
          </a:p>
          <a:p>
            <a:pPr algn="l">
              <a:lnSpc>
                <a:spcPct val="106000"/>
              </a:lnSpc>
              <a:spcBef>
                <a:spcPts val="0"/>
              </a:spcBef>
              <a:spcAft>
                <a:spcPts val="0"/>
              </a:spcAft>
            </a:pPr>
            <a:r>
              <a:rPr sz="3800" b="1">
                <a:solidFill>
                  <a:srgbClr val="0E2A47"/>
                </a:solidFill>
                <a:latin typeface="Georgia"/>
              </a:rPr>
              <a:t>LinkedIn</a:t>
            </a:r>
          </a:p>
        </p:txBody>
      </p:sp>
      <p:sp>
        <p:nvSpPr>
          <p:cNvPr id="5" name="TextBox 4"/>
          <p:cNvSpPr txBox="1"/>
          <p:nvPr/>
        </p:nvSpPr>
        <p:spPr>
          <a:xfrm>
            <a:off x="685800" y="2615184"/>
            <a:ext cx="5806440" cy="822960"/>
          </a:xfrm>
          <a:prstGeom prst="rect">
            <a:avLst/>
          </a:prstGeom>
          <a:noFill/>
        </p:spPr>
        <p:txBody>
          <a:bodyPr wrap="square" lIns="0" rIns="0" tIns="0" bIns="0" anchor="t">
            <a:spAutoFit/>
          </a:bodyPr>
          <a:lstStyle/>
          <a:p>
            <a:pPr algn="l">
              <a:lnSpc>
                <a:spcPct val="125000"/>
              </a:lnSpc>
              <a:spcBef>
                <a:spcPts val="0"/>
              </a:spcBef>
              <a:spcAft>
                <a:spcPts val="0"/>
              </a:spcAft>
            </a:pPr>
            <a:r>
              <a:rPr sz="1250" b="0">
                <a:solidFill>
                  <a:srgbClr val="5A6B7B"/>
                </a:solidFill>
                <a:latin typeface="微软雅黑"/>
                <a:ea typeface="微软雅黑"/>
              </a:rPr>
              <a:t>把招聘闭环做成关系模式：十二张表，</a:t>
            </a:r>
          </a:p>
          <a:p>
            <a:pPr algn="l">
              <a:lnSpc>
                <a:spcPct val="125000"/>
              </a:lnSpc>
              <a:spcBef>
                <a:spcPts val="0"/>
              </a:spcBef>
              <a:spcAft>
                <a:spcPts val="0"/>
              </a:spcAft>
            </a:pPr>
            <a:r>
              <a:rPr sz="1250" b="0">
                <a:solidFill>
                  <a:srgbClr val="5A6B7B"/>
                </a:solidFill>
                <a:latin typeface="微软雅黑"/>
                <a:ea typeface="微软雅黑"/>
              </a:rPr>
              <a:t>一个闭环，十八条产品从不展示答案的查询。</a:t>
            </a:r>
          </a:p>
        </p:txBody>
      </p:sp>
      <p:sp>
        <p:nvSpPr>
          <p:cNvPr id="6" name="Rectangle 5"/>
          <p:cNvSpPr/>
          <p:nvPr/>
        </p:nvSpPr>
        <p:spPr>
          <a:xfrm>
            <a:off x="685800" y="3584448"/>
            <a:ext cx="2926080" cy="32004"/>
          </a:xfrm>
          <a:prstGeom prst="rect">
            <a:avLst/>
          </a:prstGeom>
          <a:solidFill>
            <a:srgbClr val="0A66C2"/>
          </a:solidFill>
          <a:ln>
            <a:noFill/>
          </a:ln>
          <a:effectLst/>
        </p:spPr>
        <p:txBody>
          <a:bodyPr rtlCol="0" anchor="ctr" wrap="square" lIns="0" rIns="0" tIns="0" bIns="0"/>
          <a:lstStyle/>
          <a:p>
            <a:pPr algn="ctr"/>
          </a:p>
        </p:txBody>
      </p:sp>
      <p:sp>
        <p:nvSpPr>
          <p:cNvPr id="7" name="TextBox 6"/>
          <p:cNvSpPr txBox="1"/>
          <p:nvPr/>
        </p:nvSpPr>
        <p:spPr>
          <a:xfrm>
            <a:off x="685800" y="3822191"/>
            <a:ext cx="54864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1">
                <a:solidFill>
                  <a:srgbClr val="8A99A6"/>
                </a:solidFill>
                <a:latin typeface="微软雅黑"/>
                <a:ea typeface="微软雅黑"/>
              </a:rPr>
              <a:t>团 队</a:t>
            </a:r>
          </a:p>
        </p:txBody>
      </p:sp>
      <p:sp>
        <p:nvSpPr>
          <p:cNvPr id="8" name="TextBox 7"/>
          <p:cNvSpPr txBox="1"/>
          <p:nvPr/>
        </p:nvSpPr>
        <p:spPr>
          <a:xfrm>
            <a:off x="685800" y="4096512"/>
            <a:ext cx="5852160" cy="731520"/>
          </a:xfrm>
          <a:prstGeom prst="rect">
            <a:avLst/>
          </a:prstGeom>
          <a:noFill/>
        </p:spPr>
        <p:txBody>
          <a:bodyPr wrap="square" lIns="0" rIns="0" tIns="0" bIns="0" anchor="t">
            <a:spAutoFit/>
          </a:bodyPr>
          <a:lstStyle/>
          <a:p>
            <a:pPr algn="l">
              <a:lnSpc>
                <a:spcPct val="135000"/>
              </a:lnSpc>
              <a:spcBef>
                <a:spcPts val="0"/>
              </a:spcBef>
              <a:spcAft>
                <a:spcPts val="0"/>
              </a:spcAft>
            </a:pPr>
            <a:r>
              <a:rPr sz="1100" b="0">
                <a:solidFill>
                  <a:srgbClr val="0E2A47"/>
                </a:solidFill>
                <a:latin typeface="Segoe UI"/>
              </a:rPr>
              <a:t>Xuanmo AN  ·  Yi HOU  ·  Zhao Han HUANG</a:t>
            </a:r>
          </a:p>
          <a:p>
            <a:pPr algn="l">
              <a:lnSpc>
                <a:spcPct val="135000"/>
              </a:lnSpc>
              <a:spcBef>
                <a:spcPts val="0"/>
              </a:spcBef>
              <a:spcAft>
                <a:spcPts val="0"/>
              </a:spcAft>
            </a:pPr>
            <a:r>
              <a:rPr sz="1100" b="0">
                <a:solidFill>
                  <a:srgbClr val="0E2A47"/>
                </a:solidFill>
                <a:latin typeface="Segoe UI"/>
              </a:rPr>
              <a:t>Jinyu LI  ·  Yitong NI  ·  Shujing YE  ·  Shiyao ZHANG</a:t>
            </a:r>
          </a:p>
        </p:txBody>
      </p:sp>
      <p:sp>
        <p:nvSpPr>
          <p:cNvPr id="9" name="TextBox 8"/>
          <p:cNvSpPr txBox="1"/>
          <p:nvPr/>
        </p:nvSpPr>
        <p:spPr>
          <a:xfrm>
            <a:off x="685800" y="4901184"/>
            <a:ext cx="5486400" cy="237744"/>
          </a:xfrm>
          <a:prstGeom prst="rect">
            <a:avLst/>
          </a:prstGeom>
          <a:noFill/>
        </p:spPr>
        <p:txBody>
          <a:bodyPr wrap="square" lIns="0" rIns="0" tIns="0" bIns="0" anchor="t">
            <a:spAutoFit/>
          </a:bodyPr>
          <a:lstStyle/>
          <a:p>
            <a:pPr algn="l">
              <a:lnSpc>
                <a:spcPct val="100000"/>
              </a:lnSpc>
              <a:spcBef>
                <a:spcPts val="0"/>
              </a:spcBef>
              <a:spcAft>
                <a:spcPts val="0"/>
              </a:spcAft>
            </a:pPr>
            <a:r>
              <a:rPr sz="850" b="1">
                <a:solidFill>
                  <a:srgbClr val="8A99A6"/>
                </a:solidFill>
                <a:latin typeface="微软雅黑"/>
                <a:ea typeface="微软雅黑"/>
              </a:rPr>
              <a:t>日 期</a:t>
            </a:r>
          </a:p>
        </p:txBody>
      </p:sp>
      <p:sp>
        <p:nvSpPr>
          <p:cNvPr id="10" name="TextBox 9"/>
          <p:cNvSpPr txBox="1"/>
          <p:nvPr/>
        </p:nvSpPr>
        <p:spPr>
          <a:xfrm>
            <a:off x="685800" y="5175504"/>
            <a:ext cx="3657600" cy="274320"/>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0E2A47"/>
                </a:solidFill>
                <a:latin typeface="微软雅黑"/>
                <a:ea typeface="微软雅黑"/>
              </a:rPr>
              <a:t>2026 年 11 月</a:t>
            </a:r>
          </a:p>
        </p:txBody>
      </p:sp>
      <p:pic>
        <p:nvPicPr>
          <p:cNvPr id="11" name="Picture 10" descr="ERD_conceptual.png"/>
          <p:cNvPicPr>
            <a:picLocks noChangeAspect="1"/>
          </p:cNvPicPr>
          <p:nvPr/>
        </p:nvPicPr>
        <p:blipFill>
          <a:blip r:embed="rId2"/>
          <a:stretch>
            <a:fillRect/>
          </a:stretch>
        </p:blipFill>
        <p:spPr>
          <a:xfrm>
            <a:off x="6903720" y="932688"/>
            <a:ext cx="4709160" cy="3139440"/>
          </a:xfrm>
          <a:prstGeom prst="rect">
            <a:avLst/>
          </a:prstGeom>
        </p:spPr>
      </p:pic>
      <p:sp>
        <p:nvSpPr>
          <p:cNvPr id="12" name="TextBox 11"/>
          <p:cNvSpPr txBox="1"/>
          <p:nvPr/>
        </p:nvSpPr>
        <p:spPr>
          <a:xfrm>
            <a:off x="6903720" y="4224528"/>
            <a:ext cx="4709160" cy="237744"/>
          </a:xfrm>
          <a:prstGeom prst="rect">
            <a:avLst/>
          </a:prstGeom>
          <a:noFill/>
        </p:spPr>
        <p:txBody>
          <a:bodyPr wrap="square" lIns="0" rIns="0" tIns="0" bIns="0" anchor="t">
            <a:spAutoFit/>
          </a:bodyPr>
          <a:lstStyle/>
          <a:p>
            <a:pPr algn="ctr">
              <a:lnSpc>
                <a:spcPct val="100000"/>
              </a:lnSpc>
              <a:spcBef>
                <a:spcPts val="0"/>
              </a:spcBef>
              <a:spcAft>
                <a:spcPts val="0"/>
              </a:spcAft>
            </a:pPr>
            <a:r>
              <a:rPr sz="800" b="0">
                <a:solidFill>
                  <a:srgbClr val="8A99A6"/>
                </a:solidFill>
                <a:latin typeface="微软雅黑"/>
                <a:ea typeface="微软雅黑"/>
              </a:rPr>
              <a:t>概念模型 —— Chen 记法</a:t>
            </a:r>
          </a:p>
        </p:txBody>
      </p:sp>
      <p:sp>
        <p:nvSpPr>
          <p:cNvPr id="13" name="Rounded Rectangle 12"/>
          <p:cNvSpPr/>
          <p:nvPr/>
        </p:nvSpPr>
        <p:spPr>
          <a:xfrm>
            <a:off x="6903720" y="4590288"/>
            <a:ext cx="14173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14" name="TextBox 13"/>
          <p:cNvSpPr txBox="1"/>
          <p:nvPr/>
        </p:nvSpPr>
        <p:spPr>
          <a:xfrm>
            <a:off x="7104888" y="4663440"/>
            <a:ext cx="11430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12</a:t>
            </a:r>
          </a:p>
        </p:txBody>
      </p:sp>
      <p:sp>
        <p:nvSpPr>
          <p:cNvPr id="15" name="TextBox 14"/>
          <p:cNvSpPr txBox="1"/>
          <p:nvPr/>
        </p:nvSpPr>
        <p:spPr>
          <a:xfrm>
            <a:off x="7104888" y="4992624"/>
            <a:ext cx="11430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关 系 表</a:t>
            </a:r>
          </a:p>
        </p:txBody>
      </p:sp>
      <p:sp>
        <p:nvSpPr>
          <p:cNvPr id="16" name="Rounded Rectangle 15"/>
          <p:cNvSpPr/>
          <p:nvPr/>
        </p:nvSpPr>
        <p:spPr>
          <a:xfrm>
            <a:off x="8430768" y="4590288"/>
            <a:ext cx="14173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17" name="TextBox 16"/>
          <p:cNvSpPr txBox="1"/>
          <p:nvPr/>
        </p:nvSpPr>
        <p:spPr>
          <a:xfrm>
            <a:off x="8631936" y="4663440"/>
            <a:ext cx="11430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17</a:t>
            </a:r>
          </a:p>
        </p:txBody>
      </p:sp>
      <p:sp>
        <p:nvSpPr>
          <p:cNvPr id="18" name="TextBox 17"/>
          <p:cNvSpPr txBox="1"/>
          <p:nvPr/>
        </p:nvSpPr>
        <p:spPr>
          <a:xfrm>
            <a:off x="8631936" y="4992624"/>
            <a:ext cx="11430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外 键</a:t>
            </a:r>
          </a:p>
        </p:txBody>
      </p:sp>
      <p:sp>
        <p:nvSpPr>
          <p:cNvPr id="19" name="Rounded Rectangle 18"/>
          <p:cNvSpPr/>
          <p:nvPr/>
        </p:nvSpPr>
        <p:spPr>
          <a:xfrm>
            <a:off x="9957816" y="4590288"/>
            <a:ext cx="146304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20" name="TextBox 19"/>
          <p:cNvSpPr txBox="1"/>
          <p:nvPr/>
        </p:nvSpPr>
        <p:spPr>
          <a:xfrm>
            <a:off x="10158984" y="4663440"/>
            <a:ext cx="118872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18</a:t>
            </a:r>
          </a:p>
        </p:txBody>
      </p:sp>
      <p:sp>
        <p:nvSpPr>
          <p:cNvPr id="21" name="TextBox 20"/>
          <p:cNvSpPr txBox="1"/>
          <p:nvPr/>
        </p:nvSpPr>
        <p:spPr>
          <a:xfrm>
            <a:off x="10158984" y="4992624"/>
            <a:ext cx="118872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查 询</a:t>
            </a:r>
          </a:p>
        </p:txBody>
      </p:sp>
      <p:sp>
        <p:nvSpPr>
          <p:cNvPr id="22" name="TextBox 21"/>
          <p:cNvSpPr txBox="1"/>
          <p:nvPr/>
        </p:nvSpPr>
        <p:spPr>
          <a:xfrm>
            <a:off x="6903720" y="5449824"/>
            <a:ext cx="4709160" cy="548640"/>
          </a:xfrm>
          <a:prstGeom prst="rect">
            <a:avLst/>
          </a:prstGeom>
          <a:noFill/>
        </p:spPr>
        <p:txBody>
          <a:bodyPr wrap="square" lIns="0" rIns="0" tIns="0" bIns="0" anchor="t">
            <a:spAutoFit/>
          </a:bodyPr>
          <a:lstStyle/>
          <a:p>
            <a:pPr algn="l">
              <a:lnSpc>
                <a:spcPct val="120000"/>
              </a:lnSpc>
              <a:spcBef>
                <a:spcPts val="0"/>
              </a:spcBef>
              <a:spcAft>
                <a:spcPts val="0"/>
              </a:spcAft>
            </a:pPr>
            <a:r>
              <a:rPr sz="860" b="0">
                <a:solidFill>
                  <a:srgbClr val="5A6B7B"/>
                </a:solidFill>
                <a:latin typeface="微软雅黑"/>
                <a:ea typeface="微软雅黑"/>
              </a:rPr>
              <a:t>从产品行为逆推出的模式：每一张表</a:t>
            </a:r>
          </a:p>
          <a:p>
            <a:pPr algn="l">
              <a:lnSpc>
                <a:spcPct val="120000"/>
              </a:lnSpc>
              <a:spcBef>
                <a:spcPts val="0"/>
              </a:spcBef>
              <a:spcAft>
                <a:spcPts val="0"/>
              </a:spcAft>
            </a:pPr>
            <a:r>
              <a:rPr sz="860" b="0">
                <a:solidFill>
                  <a:srgbClr val="5A6B7B"/>
                </a:solidFill>
                <a:latin typeface="微软雅黑"/>
                <a:ea typeface="微软雅黑"/>
              </a:rPr>
              <a:t>之所以存在，是因为某个界面暗示了它。</a:t>
            </a:r>
          </a:p>
        </p:txBody>
      </p:sp>
      <p:sp>
        <p:nvSpPr>
          <p:cNvPr id="23" name="Rectangle 22"/>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24" name="TextBox 23"/>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25" name="TextBox 24"/>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02  ·  动 机</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看得见的产品，只是看不见的记录露出的一角</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LinkedIn 给你看的每一屏，都是一次你看不见的连接的结果。</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2084831"/>
            <a:ext cx="384048" cy="31089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01</a:t>
            </a:r>
          </a:p>
        </p:txBody>
      </p:sp>
      <p:sp>
        <p:nvSpPr>
          <p:cNvPr id="7" name="TextBox 6"/>
          <p:cNvSpPr txBox="1"/>
          <p:nvPr/>
        </p:nvSpPr>
        <p:spPr>
          <a:xfrm>
            <a:off x="1115568" y="2066543"/>
            <a:ext cx="5852160" cy="274320"/>
          </a:xfrm>
          <a:prstGeom prst="rect">
            <a:avLst/>
          </a:prstGeom>
          <a:noFill/>
        </p:spPr>
        <p:txBody>
          <a:bodyPr wrap="square" lIns="0" rIns="0" tIns="0" bIns="0" anchor="t">
            <a:spAutoFit/>
          </a:bodyPr>
          <a:lstStyle/>
          <a:p>
            <a:pPr algn="l">
              <a:lnSpc>
                <a:spcPct val="100000"/>
              </a:lnSpc>
              <a:spcBef>
                <a:spcPts val="0"/>
              </a:spcBef>
              <a:spcAft>
                <a:spcPts val="0"/>
              </a:spcAft>
            </a:pPr>
            <a:r>
              <a:rPr sz="1350" b="1">
                <a:solidFill>
                  <a:srgbClr val="0E2A47"/>
                </a:solidFill>
                <a:latin typeface="微软雅黑"/>
                <a:ea typeface="微软雅黑"/>
              </a:rPr>
              <a:t>结果可见，过程不可见</a:t>
            </a:r>
          </a:p>
        </p:txBody>
      </p:sp>
      <p:sp>
        <p:nvSpPr>
          <p:cNvPr id="8" name="TextBox 7"/>
          <p:cNvSpPr txBox="1"/>
          <p:nvPr/>
        </p:nvSpPr>
        <p:spPr>
          <a:xfrm>
            <a:off x="1115568" y="2359151"/>
            <a:ext cx="5760720" cy="713232"/>
          </a:xfrm>
          <a:prstGeom prst="rect">
            <a:avLst/>
          </a:prstGeom>
          <a:noFill/>
        </p:spPr>
        <p:txBody>
          <a:bodyPr wrap="square" lIns="0" rIns="0" tIns="0" bIns="0" anchor="t">
            <a:spAutoFit/>
          </a:bodyPr>
          <a:lstStyle/>
          <a:p>
            <a:pPr algn="l">
              <a:lnSpc>
                <a:spcPct val="118000"/>
              </a:lnSpc>
              <a:spcBef>
                <a:spcPts val="0"/>
              </a:spcBef>
              <a:spcAft>
                <a:spcPts val="0"/>
              </a:spcAft>
            </a:pPr>
            <a:r>
              <a:rPr sz="950" b="0">
                <a:solidFill>
                  <a:srgbClr val="5A6B7B"/>
                </a:solidFill>
                <a:latin typeface="微软雅黑"/>
                <a:ea typeface="微软雅黑"/>
              </a:rPr>
              <a:t>一个招满的职位只是一个徽章。它背后的 250 份申请、210 场面试、12 种合法状态</a:t>
            </a:r>
          </a:p>
          <a:p>
            <a:pPr algn="l">
              <a:lnSpc>
                <a:spcPct val="118000"/>
              </a:lnSpc>
              <a:spcBef>
                <a:spcPts val="0"/>
              </a:spcBef>
              <a:spcAft>
                <a:spcPts val="0"/>
              </a:spcAft>
            </a:pPr>
            <a:r>
              <a:rPr sz="950" b="0">
                <a:solidFill>
                  <a:srgbClr val="5A6B7B"/>
                </a:solidFill>
                <a:latin typeface="微软雅黑"/>
                <a:ea typeface="微软雅黑"/>
              </a:rPr>
              <a:t>在任何界面都不显示——而那才是有意思的数据。</a:t>
            </a:r>
          </a:p>
        </p:txBody>
      </p:sp>
      <p:sp>
        <p:nvSpPr>
          <p:cNvPr id="9" name="TextBox 8"/>
          <p:cNvSpPr txBox="1"/>
          <p:nvPr/>
        </p:nvSpPr>
        <p:spPr>
          <a:xfrm>
            <a:off x="685800" y="3255263"/>
            <a:ext cx="384048" cy="31089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02</a:t>
            </a:r>
          </a:p>
        </p:txBody>
      </p:sp>
      <p:sp>
        <p:nvSpPr>
          <p:cNvPr id="10" name="TextBox 9"/>
          <p:cNvSpPr txBox="1"/>
          <p:nvPr/>
        </p:nvSpPr>
        <p:spPr>
          <a:xfrm>
            <a:off x="1115568" y="3236975"/>
            <a:ext cx="5852160" cy="274320"/>
          </a:xfrm>
          <a:prstGeom prst="rect">
            <a:avLst/>
          </a:prstGeom>
          <a:noFill/>
        </p:spPr>
        <p:txBody>
          <a:bodyPr wrap="square" lIns="0" rIns="0" tIns="0" bIns="0" anchor="t">
            <a:spAutoFit/>
          </a:bodyPr>
          <a:lstStyle/>
          <a:p>
            <a:pPr algn="l">
              <a:lnSpc>
                <a:spcPct val="100000"/>
              </a:lnSpc>
              <a:spcBef>
                <a:spcPts val="0"/>
              </a:spcBef>
              <a:spcAft>
                <a:spcPts val="0"/>
              </a:spcAft>
            </a:pPr>
            <a:r>
              <a:rPr sz="1350" b="1">
                <a:solidFill>
                  <a:srgbClr val="0E2A47"/>
                </a:solidFill>
                <a:latin typeface="微软雅黑"/>
                <a:ea typeface="微软雅黑"/>
              </a:rPr>
              <a:t>内推人人称赞，很少被度量</a:t>
            </a:r>
          </a:p>
        </p:txBody>
      </p:sp>
      <p:sp>
        <p:nvSpPr>
          <p:cNvPr id="11" name="TextBox 10"/>
          <p:cNvSpPr txBox="1"/>
          <p:nvPr/>
        </p:nvSpPr>
        <p:spPr>
          <a:xfrm>
            <a:off x="1115568" y="3529583"/>
            <a:ext cx="5760720" cy="713232"/>
          </a:xfrm>
          <a:prstGeom prst="rect">
            <a:avLst/>
          </a:prstGeom>
          <a:noFill/>
        </p:spPr>
        <p:txBody>
          <a:bodyPr wrap="square" lIns="0" rIns="0" tIns="0" bIns="0" anchor="t">
            <a:spAutoFit/>
          </a:bodyPr>
          <a:lstStyle/>
          <a:p>
            <a:pPr algn="l">
              <a:lnSpc>
                <a:spcPct val="118000"/>
              </a:lnSpc>
              <a:spcBef>
                <a:spcPts val="0"/>
              </a:spcBef>
              <a:spcAft>
                <a:spcPts val="0"/>
              </a:spcAft>
            </a:pPr>
            <a:r>
              <a:rPr sz="950" b="0">
                <a:solidFill>
                  <a:srgbClr val="5A6B7B"/>
                </a:solidFill>
                <a:latin typeface="微软雅黑"/>
                <a:ea typeface="微软雅黑"/>
              </a:rPr>
              <a:t>每个招聘官都说内推转化高。可申请上没有渠道这一列，</a:t>
            </a:r>
          </a:p>
          <a:p>
            <a:pPr algn="l">
              <a:lnSpc>
                <a:spcPct val="118000"/>
              </a:lnSpc>
              <a:spcBef>
                <a:spcPts val="0"/>
              </a:spcBef>
              <a:spcAft>
                <a:spcPts val="0"/>
              </a:spcAft>
            </a:pPr>
            <a:r>
              <a:rPr sz="950" b="0">
                <a:solidFill>
                  <a:srgbClr val="5A6B7B"/>
                </a:solidFill>
                <a:latin typeface="微软雅黑"/>
                <a:ea typeface="微软雅黑"/>
              </a:rPr>
              <a:t>这句话就无法检验。这里可以：端到端 16.7% 对 5.3%。</a:t>
            </a:r>
          </a:p>
        </p:txBody>
      </p:sp>
      <p:sp>
        <p:nvSpPr>
          <p:cNvPr id="12" name="TextBox 11"/>
          <p:cNvSpPr txBox="1"/>
          <p:nvPr/>
        </p:nvSpPr>
        <p:spPr>
          <a:xfrm>
            <a:off x="685800" y="4425696"/>
            <a:ext cx="384048" cy="31089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03</a:t>
            </a:r>
          </a:p>
        </p:txBody>
      </p:sp>
      <p:sp>
        <p:nvSpPr>
          <p:cNvPr id="13" name="TextBox 12"/>
          <p:cNvSpPr txBox="1"/>
          <p:nvPr/>
        </p:nvSpPr>
        <p:spPr>
          <a:xfrm>
            <a:off x="1115568" y="4407408"/>
            <a:ext cx="5852160" cy="274320"/>
          </a:xfrm>
          <a:prstGeom prst="rect">
            <a:avLst/>
          </a:prstGeom>
          <a:noFill/>
        </p:spPr>
        <p:txBody>
          <a:bodyPr wrap="square" lIns="0" rIns="0" tIns="0" bIns="0" anchor="t">
            <a:spAutoFit/>
          </a:bodyPr>
          <a:lstStyle/>
          <a:p>
            <a:pPr algn="l">
              <a:lnSpc>
                <a:spcPct val="100000"/>
              </a:lnSpc>
              <a:spcBef>
                <a:spcPts val="0"/>
              </a:spcBef>
              <a:spcAft>
                <a:spcPts val="0"/>
              </a:spcAft>
            </a:pPr>
            <a:r>
              <a:rPr sz="1350" b="1">
                <a:solidFill>
                  <a:srgbClr val="0E2A47"/>
                </a:solidFill>
                <a:latin typeface="微软雅黑"/>
                <a:ea typeface="微软雅黑"/>
              </a:rPr>
              <a:t>技能缺口靠断言，不靠计算</a:t>
            </a:r>
          </a:p>
        </p:txBody>
      </p:sp>
      <p:sp>
        <p:nvSpPr>
          <p:cNvPr id="14" name="TextBox 13"/>
          <p:cNvSpPr txBox="1"/>
          <p:nvPr/>
        </p:nvSpPr>
        <p:spPr>
          <a:xfrm>
            <a:off x="1115568" y="4700016"/>
            <a:ext cx="5760720" cy="713232"/>
          </a:xfrm>
          <a:prstGeom prst="rect">
            <a:avLst/>
          </a:prstGeom>
          <a:noFill/>
        </p:spPr>
        <p:txBody>
          <a:bodyPr wrap="square" lIns="0" rIns="0" tIns="0" bIns="0" anchor="t">
            <a:spAutoFit/>
          </a:bodyPr>
          <a:lstStyle/>
          <a:p>
            <a:pPr algn="l">
              <a:lnSpc>
                <a:spcPct val="118000"/>
              </a:lnSpc>
              <a:spcBef>
                <a:spcPts val="0"/>
              </a:spcBef>
              <a:spcAft>
                <a:spcPts val="0"/>
              </a:spcAft>
            </a:pPr>
            <a:r>
              <a:rPr sz="950" b="0">
                <a:solidFill>
                  <a:srgbClr val="5A6B7B"/>
                </a:solidFill>
                <a:latin typeface="微软雅黑"/>
                <a:ea typeface="微软雅黑"/>
              </a:rPr>
              <a:t>职位写要求，档案写拥有。两者放进同一个模式，</a:t>
            </a:r>
          </a:p>
          <a:p>
            <a:pPr algn="l">
              <a:lnSpc>
                <a:spcPct val="118000"/>
              </a:lnSpc>
              <a:spcBef>
                <a:spcPts val="0"/>
              </a:spcBef>
              <a:spcAft>
                <a:spcPts val="0"/>
              </a:spcAft>
            </a:pPr>
            <a:r>
              <a:rPr sz="950" b="0">
                <a:solidFill>
                  <a:srgbClr val="5A6B7B"/>
                </a:solidFill>
                <a:latin typeface="微软雅黑"/>
                <a:ea typeface="微软雅黑"/>
              </a:rPr>
              <a:t>缺口就成了一次连接，而不是一种看法。</a:t>
            </a:r>
          </a:p>
        </p:txBody>
      </p:sp>
      <p:sp>
        <p:nvSpPr>
          <p:cNvPr id="15" name="Rounded Rectangle 14"/>
          <p:cNvSpPr/>
          <p:nvPr/>
        </p:nvSpPr>
        <p:spPr>
          <a:xfrm>
            <a:off x="7269480" y="2139696"/>
            <a:ext cx="201168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16" name="TextBox 15"/>
          <p:cNvSpPr txBox="1"/>
          <p:nvPr/>
        </p:nvSpPr>
        <p:spPr>
          <a:xfrm>
            <a:off x="7470648" y="2212848"/>
            <a:ext cx="173736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250</a:t>
            </a:r>
          </a:p>
        </p:txBody>
      </p:sp>
      <p:sp>
        <p:nvSpPr>
          <p:cNvPr id="17" name="TextBox 16"/>
          <p:cNvSpPr txBox="1"/>
          <p:nvPr/>
        </p:nvSpPr>
        <p:spPr>
          <a:xfrm>
            <a:off x="7470648" y="2542032"/>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申 请 数</a:t>
            </a:r>
          </a:p>
        </p:txBody>
      </p:sp>
      <p:sp>
        <p:nvSpPr>
          <p:cNvPr id="18" name="Rounded Rectangle 17"/>
          <p:cNvSpPr/>
          <p:nvPr/>
        </p:nvSpPr>
        <p:spPr>
          <a:xfrm>
            <a:off x="9418320" y="2139696"/>
            <a:ext cx="201168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19" name="TextBox 18"/>
          <p:cNvSpPr txBox="1"/>
          <p:nvPr/>
        </p:nvSpPr>
        <p:spPr>
          <a:xfrm>
            <a:off x="9619488" y="2212848"/>
            <a:ext cx="173736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8.4%</a:t>
            </a:r>
          </a:p>
        </p:txBody>
      </p:sp>
      <p:sp>
        <p:nvSpPr>
          <p:cNvPr id="20" name="TextBox 19"/>
          <p:cNvSpPr txBox="1"/>
          <p:nvPr/>
        </p:nvSpPr>
        <p:spPr>
          <a:xfrm>
            <a:off x="9619488" y="2542032"/>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录 用 转 化</a:t>
            </a:r>
          </a:p>
        </p:txBody>
      </p:sp>
      <p:sp>
        <p:nvSpPr>
          <p:cNvPr id="21" name="Rounded Rectangle 20"/>
          <p:cNvSpPr/>
          <p:nvPr/>
        </p:nvSpPr>
        <p:spPr>
          <a:xfrm>
            <a:off x="7269480" y="2944368"/>
            <a:ext cx="201168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22" name="TextBox 21"/>
          <p:cNvSpPr txBox="1"/>
          <p:nvPr/>
        </p:nvSpPr>
        <p:spPr>
          <a:xfrm>
            <a:off x="7470648" y="3017520"/>
            <a:ext cx="173736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3.1×</a:t>
            </a:r>
          </a:p>
        </p:txBody>
      </p:sp>
      <p:sp>
        <p:nvSpPr>
          <p:cNvPr id="23" name="TextBox 22"/>
          <p:cNvSpPr txBox="1"/>
          <p:nvPr/>
        </p:nvSpPr>
        <p:spPr>
          <a:xfrm>
            <a:off x="7470648" y="3346704"/>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内 推 优 势</a:t>
            </a:r>
          </a:p>
        </p:txBody>
      </p:sp>
      <p:sp>
        <p:nvSpPr>
          <p:cNvPr id="24" name="Rounded Rectangle 23"/>
          <p:cNvSpPr/>
          <p:nvPr/>
        </p:nvSpPr>
        <p:spPr>
          <a:xfrm>
            <a:off x="9418320" y="2944368"/>
            <a:ext cx="201168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25" name="TextBox 24"/>
          <p:cNvSpPr txBox="1"/>
          <p:nvPr/>
        </p:nvSpPr>
        <p:spPr>
          <a:xfrm>
            <a:off x="9619488" y="3017520"/>
            <a:ext cx="173736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6.0</a:t>
            </a:r>
          </a:p>
        </p:txBody>
      </p:sp>
      <p:sp>
        <p:nvSpPr>
          <p:cNvPr id="26" name="TextBox 25"/>
          <p:cNvSpPr txBox="1"/>
          <p:nvPr/>
        </p:nvSpPr>
        <p:spPr>
          <a:xfrm>
            <a:off x="9619488" y="3346704"/>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历 史 月 数</a:t>
            </a:r>
          </a:p>
        </p:txBody>
      </p:sp>
      <p:sp>
        <p:nvSpPr>
          <p:cNvPr id="27" name="TextBox 26"/>
          <p:cNvSpPr txBox="1"/>
          <p:nvPr/>
        </p:nvSpPr>
        <p:spPr>
          <a:xfrm>
            <a:off x="7269480" y="3931920"/>
            <a:ext cx="4160520" cy="219456"/>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8A99A6"/>
                </a:solidFill>
                <a:latin typeface="微软雅黑"/>
                <a:ea typeface="微软雅黑"/>
              </a:rPr>
              <a:t>我 们 做 了 什 么</a:t>
            </a:r>
          </a:p>
        </p:txBody>
      </p:sp>
      <p:sp>
        <p:nvSpPr>
          <p:cNvPr id="28" name="TextBox 27"/>
          <p:cNvSpPr txBox="1"/>
          <p:nvPr/>
        </p:nvSpPr>
        <p:spPr>
          <a:xfrm>
            <a:off x="7269480" y="4206240"/>
            <a:ext cx="4160520" cy="1737360"/>
          </a:xfrm>
          <a:prstGeom prst="rect">
            <a:avLst/>
          </a:prstGeom>
          <a:noFill/>
        </p:spPr>
        <p:txBody>
          <a:bodyPr wrap="square" lIns="0" rIns="0" tIns="0" bIns="0" anchor="t">
            <a:spAutoFit/>
          </a:bodyPr>
          <a:lstStyle/>
          <a:p>
            <a:pPr algn="l">
              <a:lnSpc>
                <a:spcPct val="125000"/>
              </a:lnSpc>
              <a:spcBef>
                <a:spcPts val="0"/>
              </a:spcBef>
              <a:spcAft>
                <a:spcPts val="0"/>
              </a:spcAft>
            </a:pPr>
            <a:r>
              <a:rPr sz="950" b="0">
                <a:solidFill>
                  <a:srgbClr val="5A6B7B"/>
                </a:solidFill>
                <a:latin typeface="微软雅黑"/>
                <a:ea typeface="微软雅黑"/>
              </a:rPr>
              <a:t>一个从产品行为推导出的逻辑模式、一份确定性数据、十八条查询。模式满足第三范式；数据通过 22 项跨表一致性检查；每条查询都能在 Navicat 里独立运行。</a:t>
            </a:r>
          </a:p>
        </p:txBody>
      </p:sp>
      <p:sp>
        <p:nvSpPr>
          <p:cNvPr id="29" name="Rectangle 28"/>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30" name="TextBox 29"/>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31" name="TextBox 30"/>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03  ·  业 务 背 景</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一次录用怎么发生——每一步写了哪一行</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六个步骤、三个渠道、一个状态机。模式跟着数据走，不跟着界面走。</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Rectangle 5"/>
          <p:cNvSpPr/>
          <p:nvPr/>
        </p:nvSpPr>
        <p:spPr>
          <a:xfrm>
            <a:off x="859536" y="2377440"/>
            <a:ext cx="10972" cy="566928"/>
          </a:xfrm>
          <a:prstGeom prst="rect">
            <a:avLst/>
          </a:prstGeom>
          <a:solidFill>
            <a:srgbClr val="D8E0E8"/>
          </a:solidFill>
          <a:ln>
            <a:noFill/>
          </a:ln>
          <a:effectLst/>
        </p:spPr>
        <p:txBody>
          <a:bodyPr rtlCol="0" anchor="ctr" wrap="square" lIns="0" rIns="0" tIns="0" bIns="0"/>
          <a:lstStyle/>
          <a:p>
            <a:pPr algn="ctr"/>
          </a:p>
        </p:txBody>
      </p:sp>
      <p:sp>
        <p:nvSpPr>
          <p:cNvPr id="7" name="Oval 6"/>
          <p:cNvSpPr/>
          <p:nvPr/>
        </p:nvSpPr>
        <p:spPr>
          <a:xfrm>
            <a:off x="704088" y="2066544"/>
            <a:ext cx="310896" cy="310896"/>
          </a:xfrm>
          <a:prstGeom prst="ellipse">
            <a:avLst/>
          </a:prstGeom>
          <a:solidFill>
            <a:srgbClr val="0E2A47"/>
          </a:solidFill>
          <a:ln>
            <a:noFill/>
          </a:ln>
          <a:effectLst/>
        </p:spPr>
        <p:txBody>
          <a:bodyPr rtlCol="0" anchor="ctr" wrap="square" lIns="0" rIns="0" tIns="0" bIns="0"/>
          <a:lstStyle/>
          <a:p>
            <a:pPr algn="ctr"/>
            <a:r>
              <a:rPr sz="1100" b="1">
                <a:solidFill>
                  <a:srgbClr val="FFFFFF"/>
                </a:solidFill>
                <a:latin typeface="Segoe UI"/>
              </a:rPr>
              <a:t>1</a:t>
            </a:r>
          </a:p>
        </p:txBody>
      </p:sp>
      <p:sp>
        <p:nvSpPr>
          <p:cNvPr id="8" name="TextBox 7"/>
          <p:cNvSpPr txBox="1"/>
          <p:nvPr/>
        </p:nvSpPr>
        <p:spPr>
          <a:xfrm>
            <a:off x="1170432" y="2048256"/>
            <a:ext cx="3108960"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微软雅黑"/>
                <a:ea typeface="微软雅黑"/>
              </a:rPr>
              <a:t>公司发岗</a:t>
            </a:r>
          </a:p>
        </p:txBody>
      </p:sp>
      <p:sp>
        <p:nvSpPr>
          <p:cNvPr id="9" name="TextBox 8"/>
          <p:cNvSpPr txBox="1"/>
          <p:nvPr/>
        </p:nvSpPr>
        <p:spPr>
          <a:xfrm>
            <a:off x="1170432" y="2276856"/>
            <a:ext cx="4206240" cy="512064"/>
          </a:xfrm>
          <a:prstGeom prst="rect">
            <a:avLst/>
          </a:prstGeom>
          <a:noFill/>
        </p:spPr>
        <p:txBody>
          <a:bodyPr wrap="square" lIns="0" rIns="0" tIns="0" bIns="0" anchor="t">
            <a:spAutoFit/>
          </a:bodyPr>
          <a:lstStyle/>
          <a:p>
            <a:pPr algn="l">
              <a:lnSpc>
                <a:spcPct val="115000"/>
              </a:lnSpc>
              <a:spcBef>
                <a:spcPts val="0"/>
              </a:spcBef>
              <a:spcAft>
                <a:spcPts val="0"/>
              </a:spcAft>
            </a:pPr>
            <a:r>
              <a:rPr sz="850" b="0">
                <a:solidFill>
                  <a:srgbClr val="5A6B7B"/>
                </a:solidFill>
                <a:latin typeface="Segoe UI"/>
              </a:rPr>
              <a:t>job_posting + job_skill</a:t>
            </a:r>
          </a:p>
          <a:p>
            <a:pPr algn="l">
              <a:lnSpc>
                <a:spcPct val="115000"/>
              </a:lnSpc>
              <a:spcBef>
                <a:spcPts val="0"/>
              </a:spcBef>
              <a:spcAft>
                <a:spcPts val="0"/>
              </a:spcAft>
            </a:pPr>
            <a:r>
              <a:rPr sz="850" b="0">
                <a:solidFill>
                  <a:srgbClr val="5A6B7B"/>
                </a:solidFill>
                <a:latin typeface="微软雅黑"/>
                <a:ea typeface="微软雅黑"/>
              </a:rPr>
              <a:t>技能、职级、薪资带、名额</a:t>
            </a:r>
          </a:p>
        </p:txBody>
      </p:sp>
      <p:sp>
        <p:nvSpPr>
          <p:cNvPr id="10" name="Rectangle 9"/>
          <p:cNvSpPr/>
          <p:nvPr/>
        </p:nvSpPr>
        <p:spPr>
          <a:xfrm>
            <a:off x="859536" y="3090672"/>
            <a:ext cx="10972" cy="566928"/>
          </a:xfrm>
          <a:prstGeom prst="rect">
            <a:avLst/>
          </a:prstGeom>
          <a:solidFill>
            <a:srgbClr val="D8E0E8"/>
          </a:solidFill>
          <a:ln>
            <a:noFill/>
          </a:ln>
          <a:effectLst/>
        </p:spPr>
        <p:txBody>
          <a:bodyPr rtlCol="0" anchor="ctr" wrap="square" lIns="0" rIns="0" tIns="0" bIns="0"/>
          <a:lstStyle/>
          <a:p>
            <a:pPr algn="ctr"/>
          </a:p>
        </p:txBody>
      </p:sp>
      <p:sp>
        <p:nvSpPr>
          <p:cNvPr id="11" name="Oval 10"/>
          <p:cNvSpPr/>
          <p:nvPr/>
        </p:nvSpPr>
        <p:spPr>
          <a:xfrm>
            <a:off x="704088" y="2779776"/>
            <a:ext cx="310896" cy="310896"/>
          </a:xfrm>
          <a:prstGeom prst="ellipse">
            <a:avLst/>
          </a:prstGeom>
          <a:solidFill>
            <a:srgbClr val="0E2A47"/>
          </a:solidFill>
          <a:ln>
            <a:noFill/>
          </a:ln>
          <a:effectLst/>
        </p:spPr>
        <p:txBody>
          <a:bodyPr rtlCol="0" anchor="ctr" wrap="square" lIns="0" rIns="0" tIns="0" bIns="0"/>
          <a:lstStyle/>
          <a:p>
            <a:pPr algn="ctr"/>
            <a:r>
              <a:rPr sz="1100" b="1">
                <a:solidFill>
                  <a:srgbClr val="FFFFFF"/>
                </a:solidFill>
                <a:latin typeface="Segoe UI"/>
              </a:rPr>
              <a:t>2</a:t>
            </a:r>
          </a:p>
        </p:txBody>
      </p:sp>
      <p:sp>
        <p:nvSpPr>
          <p:cNvPr id="12" name="TextBox 11"/>
          <p:cNvSpPr txBox="1"/>
          <p:nvPr/>
        </p:nvSpPr>
        <p:spPr>
          <a:xfrm>
            <a:off x="1170432" y="2761488"/>
            <a:ext cx="3108960"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微软雅黑"/>
                <a:ea typeface="微软雅黑"/>
              </a:rPr>
              <a:t>会员投递</a:t>
            </a:r>
          </a:p>
        </p:txBody>
      </p:sp>
      <p:sp>
        <p:nvSpPr>
          <p:cNvPr id="13" name="TextBox 12"/>
          <p:cNvSpPr txBox="1"/>
          <p:nvPr/>
        </p:nvSpPr>
        <p:spPr>
          <a:xfrm>
            <a:off x="1170432" y="2990088"/>
            <a:ext cx="4206240" cy="512064"/>
          </a:xfrm>
          <a:prstGeom prst="rect">
            <a:avLst/>
          </a:prstGeom>
          <a:noFill/>
        </p:spPr>
        <p:txBody>
          <a:bodyPr wrap="square" lIns="0" rIns="0" tIns="0" bIns="0" anchor="t">
            <a:spAutoFit/>
          </a:bodyPr>
          <a:lstStyle/>
          <a:p>
            <a:pPr algn="l">
              <a:lnSpc>
                <a:spcPct val="115000"/>
              </a:lnSpc>
              <a:spcBef>
                <a:spcPts val="0"/>
              </a:spcBef>
              <a:spcAft>
                <a:spcPts val="0"/>
              </a:spcAft>
            </a:pPr>
            <a:r>
              <a:rPr sz="850" b="0">
                <a:solidFill>
                  <a:srgbClr val="5A6B7B"/>
                </a:solidFill>
                <a:latin typeface="Segoe UI"/>
              </a:rPr>
              <a:t>application</a:t>
            </a:r>
          </a:p>
          <a:p>
            <a:pPr algn="l">
              <a:lnSpc>
                <a:spcPct val="115000"/>
              </a:lnSpc>
              <a:spcBef>
                <a:spcPts val="0"/>
              </a:spcBef>
              <a:spcAft>
                <a:spcPts val="0"/>
              </a:spcAft>
            </a:pPr>
            <a:r>
              <a:rPr sz="850" b="0">
                <a:solidFill>
                  <a:srgbClr val="5A6B7B"/>
                </a:solidFill>
                <a:latin typeface="微软雅黑"/>
                <a:ea typeface="微软雅黑"/>
              </a:rPr>
              <a:t>渠道 ∈ {直投, 内推, 寻访}</a:t>
            </a:r>
          </a:p>
        </p:txBody>
      </p:sp>
      <p:sp>
        <p:nvSpPr>
          <p:cNvPr id="14" name="Rectangle 13"/>
          <p:cNvSpPr/>
          <p:nvPr/>
        </p:nvSpPr>
        <p:spPr>
          <a:xfrm>
            <a:off x="859536" y="3803904"/>
            <a:ext cx="10972" cy="566928"/>
          </a:xfrm>
          <a:prstGeom prst="rect">
            <a:avLst/>
          </a:prstGeom>
          <a:solidFill>
            <a:srgbClr val="D8E0E8"/>
          </a:solidFill>
          <a:ln>
            <a:noFill/>
          </a:ln>
          <a:effectLst/>
        </p:spPr>
        <p:txBody>
          <a:bodyPr rtlCol="0" anchor="ctr" wrap="square" lIns="0" rIns="0" tIns="0" bIns="0"/>
          <a:lstStyle/>
          <a:p>
            <a:pPr algn="ctr"/>
          </a:p>
        </p:txBody>
      </p:sp>
      <p:sp>
        <p:nvSpPr>
          <p:cNvPr id="15" name="Oval 14"/>
          <p:cNvSpPr/>
          <p:nvPr/>
        </p:nvSpPr>
        <p:spPr>
          <a:xfrm>
            <a:off x="704088" y="3493008"/>
            <a:ext cx="310896" cy="310896"/>
          </a:xfrm>
          <a:prstGeom prst="ellipse">
            <a:avLst/>
          </a:prstGeom>
          <a:solidFill>
            <a:srgbClr val="0E2A47"/>
          </a:solidFill>
          <a:ln>
            <a:noFill/>
          </a:ln>
          <a:effectLst/>
        </p:spPr>
        <p:txBody>
          <a:bodyPr rtlCol="0" anchor="ctr" wrap="square" lIns="0" rIns="0" tIns="0" bIns="0"/>
          <a:lstStyle/>
          <a:p>
            <a:pPr algn="ctr"/>
            <a:r>
              <a:rPr sz="1100" b="1">
                <a:solidFill>
                  <a:srgbClr val="FFFFFF"/>
                </a:solidFill>
                <a:latin typeface="Segoe UI"/>
              </a:rPr>
              <a:t>3</a:t>
            </a:r>
          </a:p>
        </p:txBody>
      </p:sp>
      <p:sp>
        <p:nvSpPr>
          <p:cNvPr id="16" name="TextBox 15"/>
          <p:cNvSpPr txBox="1"/>
          <p:nvPr/>
        </p:nvSpPr>
        <p:spPr>
          <a:xfrm>
            <a:off x="1170432" y="3474720"/>
            <a:ext cx="3108960"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微软雅黑"/>
                <a:ea typeface="微软雅黑"/>
              </a:rPr>
              <a:t>招聘官筛选</a:t>
            </a:r>
          </a:p>
        </p:txBody>
      </p:sp>
      <p:sp>
        <p:nvSpPr>
          <p:cNvPr id="17" name="TextBox 16"/>
          <p:cNvSpPr txBox="1"/>
          <p:nvPr/>
        </p:nvSpPr>
        <p:spPr>
          <a:xfrm>
            <a:off x="1170432" y="3703320"/>
            <a:ext cx="4206240" cy="512064"/>
          </a:xfrm>
          <a:prstGeom prst="rect">
            <a:avLst/>
          </a:prstGeom>
          <a:noFill/>
        </p:spPr>
        <p:txBody>
          <a:bodyPr wrap="square" lIns="0" rIns="0" tIns="0" bIns="0" anchor="t">
            <a:spAutoFit/>
          </a:bodyPr>
          <a:lstStyle/>
          <a:p>
            <a:pPr algn="l">
              <a:lnSpc>
                <a:spcPct val="115000"/>
              </a:lnSpc>
              <a:spcBef>
                <a:spcPts val="0"/>
              </a:spcBef>
              <a:spcAft>
                <a:spcPts val="0"/>
              </a:spcAft>
            </a:pPr>
            <a:r>
              <a:rPr sz="850" b="0">
                <a:solidFill>
                  <a:srgbClr val="5A6B7B"/>
                </a:solidFill>
                <a:latin typeface="Segoe UI"/>
              </a:rPr>
              <a:t>application.status = SCREENING</a:t>
            </a:r>
          </a:p>
          <a:p>
            <a:pPr algn="l">
              <a:lnSpc>
                <a:spcPct val="115000"/>
              </a:lnSpc>
              <a:spcBef>
                <a:spcPts val="0"/>
              </a:spcBef>
              <a:spcAft>
                <a:spcPts val="0"/>
              </a:spcAft>
            </a:pPr>
            <a:r>
              <a:rPr sz="850" b="0">
                <a:solidFill>
                  <a:srgbClr val="5A6B7B"/>
                </a:solidFill>
                <a:latin typeface="微软雅黑"/>
                <a:ea typeface="微软雅黑"/>
              </a:rPr>
              <a:t>或 REJECTED / WITHDRAWN</a:t>
            </a:r>
          </a:p>
        </p:txBody>
      </p:sp>
      <p:sp>
        <p:nvSpPr>
          <p:cNvPr id="18" name="Rectangle 17"/>
          <p:cNvSpPr/>
          <p:nvPr/>
        </p:nvSpPr>
        <p:spPr>
          <a:xfrm>
            <a:off x="859536" y="4517136"/>
            <a:ext cx="10972" cy="566928"/>
          </a:xfrm>
          <a:prstGeom prst="rect">
            <a:avLst/>
          </a:prstGeom>
          <a:solidFill>
            <a:srgbClr val="D8E0E8"/>
          </a:solidFill>
          <a:ln>
            <a:noFill/>
          </a:ln>
          <a:effectLst/>
        </p:spPr>
        <p:txBody>
          <a:bodyPr rtlCol="0" anchor="ctr" wrap="square" lIns="0" rIns="0" tIns="0" bIns="0"/>
          <a:lstStyle/>
          <a:p>
            <a:pPr algn="ctr"/>
          </a:p>
        </p:txBody>
      </p:sp>
      <p:sp>
        <p:nvSpPr>
          <p:cNvPr id="19" name="Oval 18"/>
          <p:cNvSpPr/>
          <p:nvPr/>
        </p:nvSpPr>
        <p:spPr>
          <a:xfrm>
            <a:off x="704088" y="4206240"/>
            <a:ext cx="310896" cy="310896"/>
          </a:xfrm>
          <a:prstGeom prst="ellipse">
            <a:avLst/>
          </a:prstGeom>
          <a:solidFill>
            <a:srgbClr val="0E2A47"/>
          </a:solidFill>
          <a:ln>
            <a:noFill/>
          </a:ln>
          <a:effectLst/>
        </p:spPr>
        <p:txBody>
          <a:bodyPr rtlCol="0" anchor="ctr" wrap="square" lIns="0" rIns="0" tIns="0" bIns="0"/>
          <a:lstStyle/>
          <a:p>
            <a:pPr algn="ctr"/>
            <a:r>
              <a:rPr sz="1100" b="1">
                <a:solidFill>
                  <a:srgbClr val="FFFFFF"/>
                </a:solidFill>
                <a:latin typeface="Segoe UI"/>
              </a:rPr>
              <a:t>4</a:t>
            </a:r>
          </a:p>
        </p:txBody>
      </p:sp>
      <p:sp>
        <p:nvSpPr>
          <p:cNvPr id="20" name="TextBox 19"/>
          <p:cNvSpPr txBox="1"/>
          <p:nvPr/>
        </p:nvSpPr>
        <p:spPr>
          <a:xfrm>
            <a:off x="1170432" y="4187952"/>
            <a:ext cx="3108960"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微软雅黑"/>
                <a:ea typeface="微软雅黑"/>
              </a:rPr>
              <a:t>安排面试</a:t>
            </a:r>
          </a:p>
        </p:txBody>
      </p:sp>
      <p:sp>
        <p:nvSpPr>
          <p:cNvPr id="21" name="TextBox 20"/>
          <p:cNvSpPr txBox="1"/>
          <p:nvPr/>
        </p:nvSpPr>
        <p:spPr>
          <a:xfrm>
            <a:off x="1170432" y="4416552"/>
            <a:ext cx="4206240" cy="512064"/>
          </a:xfrm>
          <a:prstGeom prst="rect">
            <a:avLst/>
          </a:prstGeom>
          <a:noFill/>
        </p:spPr>
        <p:txBody>
          <a:bodyPr wrap="square" lIns="0" rIns="0" tIns="0" bIns="0" anchor="t">
            <a:spAutoFit/>
          </a:bodyPr>
          <a:lstStyle/>
          <a:p>
            <a:pPr algn="l">
              <a:lnSpc>
                <a:spcPct val="115000"/>
              </a:lnSpc>
              <a:spcBef>
                <a:spcPts val="0"/>
              </a:spcBef>
              <a:spcAft>
                <a:spcPts val="0"/>
              </a:spcAft>
            </a:pPr>
            <a:r>
              <a:rPr sz="850" b="0">
                <a:solidFill>
                  <a:srgbClr val="5A6B7B"/>
                </a:solidFill>
                <a:latin typeface="微软雅黑"/>
                <a:ea typeface="微软雅黑"/>
              </a:rPr>
              <a:t>interview，第 1..n 轮</a:t>
            </a:r>
          </a:p>
          <a:p>
            <a:pPr algn="l">
              <a:lnSpc>
                <a:spcPct val="115000"/>
              </a:lnSpc>
              <a:spcBef>
                <a:spcPts val="0"/>
              </a:spcBef>
              <a:spcAft>
                <a:spcPts val="0"/>
              </a:spcAft>
            </a:pPr>
            <a:r>
              <a:rPr sz="850" b="0">
                <a:solidFill>
                  <a:srgbClr val="5A6B7B"/>
                </a:solidFill>
                <a:latin typeface="微软雅黑"/>
                <a:ea typeface="微软雅黑"/>
              </a:rPr>
              <a:t>面试官、结果、评分</a:t>
            </a:r>
          </a:p>
        </p:txBody>
      </p:sp>
      <p:sp>
        <p:nvSpPr>
          <p:cNvPr id="22" name="Rectangle 21"/>
          <p:cNvSpPr/>
          <p:nvPr/>
        </p:nvSpPr>
        <p:spPr>
          <a:xfrm>
            <a:off x="859536" y="5230368"/>
            <a:ext cx="10972" cy="566928"/>
          </a:xfrm>
          <a:prstGeom prst="rect">
            <a:avLst/>
          </a:prstGeom>
          <a:solidFill>
            <a:srgbClr val="D8E0E8"/>
          </a:solidFill>
          <a:ln>
            <a:noFill/>
          </a:ln>
          <a:effectLst/>
        </p:spPr>
        <p:txBody>
          <a:bodyPr rtlCol="0" anchor="ctr" wrap="square" lIns="0" rIns="0" tIns="0" bIns="0"/>
          <a:lstStyle/>
          <a:p>
            <a:pPr algn="ctr"/>
          </a:p>
        </p:txBody>
      </p:sp>
      <p:sp>
        <p:nvSpPr>
          <p:cNvPr id="23" name="Oval 22"/>
          <p:cNvSpPr/>
          <p:nvPr/>
        </p:nvSpPr>
        <p:spPr>
          <a:xfrm>
            <a:off x="704088" y="4919472"/>
            <a:ext cx="310896" cy="310896"/>
          </a:xfrm>
          <a:prstGeom prst="ellipse">
            <a:avLst/>
          </a:prstGeom>
          <a:solidFill>
            <a:srgbClr val="0E2A47"/>
          </a:solidFill>
          <a:ln>
            <a:noFill/>
          </a:ln>
          <a:effectLst/>
        </p:spPr>
        <p:txBody>
          <a:bodyPr rtlCol="0" anchor="ctr" wrap="square" lIns="0" rIns="0" tIns="0" bIns="0"/>
          <a:lstStyle/>
          <a:p>
            <a:pPr algn="ctr"/>
            <a:r>
              <a:rPr sz="1100" b="1">
                <a:solidFill>
                  <a:srgbClr val="FFFFFF"/>
                </a:solidFill>
                <a:latin typeface="Segoe UI"/>
              </a:rPr>
              <a:t>5</a:t>
            </a:r>
          </a:p>
        </p:txBody>
      </p:sp>
      <p:sp>
        <p:nvSpPr>
          <p:cNvPr id="24" name="TextBox 23"/>
          <p:cNvSpPr txBox="1"/>
          <p:nvPr/>
        </p:nvSpPr>
        <p:spPr>
          <a:xfrm>
            <a:off x="1170432" y="4901184"/>
            <a:ext cx="3108960"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微软雅黑"/>
                <a:ea typeface="微软雅黑"/>
              </a:rPr>
              <a:t>发 offer 与决策</a:t>
            </a:r>
          </a:p>
        </p:txBody>
      </p:sp>
      <p:sp>
        <p:nvSpPr>
          <p:cNvPr id="25" name="TextBox 24"/>
          <p:cNvSpPr txBox="1"/>
          <p:nvPr/>
        </p:nvSpPr>
        <p:spPr>
          <a:xfrm>
            <a:off x="1170432" y="5129784"/>
            <a:ext cx="4206240" cy="512064"/>
          </a:xfrm>
          <a:prstGeom prst="rect">
            <a:avLst/>
          </a:prstGeom>
          <a:noFill/>
        </p:spPr>
        <p:txBody>
          <a:bodyPr wrap="square" lIns="0" rIns="0" tIns="0" bIns="0" anchor="t">
            <a:spAutoFit/>
          </a:bodyPr>
          <a:lstStyle/>
          <a:p>
            <a:pPr algn="l">
              <a:lnSpc>
                <a:spcPct val="115000"/>
              </a:lnSpc>
              <a:spcBef>
                <a:spcPts val="0"/>
              </a:spcBef>
              <a:spcAft>
                <a:spcPts val="0"/>
              </a:spcAft>
            </a:pPr>
            <a:r>
              <a:rPr sz="850" b="0">
                <a:solidFill>
                  <a:srgbClr val="5A6B7B"/>
                </a:solidFill>
                <a:latin typeface="Segoe UI"/>
              </a:rPr>
              <a:t>status → OFFER → HIRED / REJECTED</a:t>
            </a:r>
          </a:p>
          <a:p>
            <a:pPr algn="l">
              <a:lnSpc>
                <a:spcPct val="115000"/>
              </a:lnSpc>
              <a:spcBef>
                <a:spcPts val="0"/>
              </a:spcBef>
              <a:spcAft>
                <a:spcPts val="0"/>
              </a:spcAft>
            </a:pPr>
            <a:r>
              <a:rPr sz="850" b="0">
                <a:solidFill>
                  <a:srgbClr val="5A6B7B"/>
                </a:solidFill>
                <a:latin typeface="微软雅黑"/>
                <a:ea typeface="微软雅黑"/>
              </a:rPr>
              <a:t>decided_at 落时间</a:t>
            </a:r>
          </a:p>
        </p:txBody>
      </p:sp>
      <p:sp>
        <p:nvSpPr>
          <p:cNvPr id="26" name="Oval 25"/>
          <p:cNvSpPr/>
          <p:nvPr/>
        </p:nvSpPr>
        <p:spPr>
          <a:xfrm>
            <a:off x="704088" y="5632704"/>
            <a:ext cx="310896" cy="310896"/>
          </a:xfrm>
          <a:prstGeom prst="ellipse">
            <a:avLst/>
          </a:prstGeom>
          <a:solidFill>
            <a:srgbClr val="0E2A47"/>
          </a:solidFill>
          <a:ln>
            <a:noFill/>
          </a:ln>
          <a:effectLst/>
        </p:spPr>
        <p:txBody>
          <a:bodyPr rtlCol="0" anchor="ctr" wrap="square" lIns="0" rIns="0" tIns="0" bIns="0"/>
          <a:lstStyle/>
          <a:p>
            <a:pPr algn="ctr"/>
            <a:r>
              <a:rPr sz="1100" b="1">
                <a:solidFill>
                  <a:srgbClr val="FFFFFF"/>
                </a:solidFill>
                <a:latin typeface="Segoe UI"/>
              </a:rPr>
              <a:t>6</a:t>
            </a:r>
          </a:p>
        </p:txBody>
      </p:sp>
      <p:sp>
        <p:nvSpPr>
          <p:cNvPr id="27" name="TextBox 26"/>
          <p:cNvSpPr txBox="1"/>
          <p:nvPr/>
        </p:nvSpPr>
        <p:spPr>
          <a:xfrm>
            <a:off x="1170432" y="5614416"/>
            <a:ext cx="3108960"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微软雅黑"/>
                <a:ea typeface="微软雅黑"/>
              </a:rPr>
              <a:t>内推结算</a:t>
            </a:r>
          </a:p>
        </p:txBody>
      </p:sp>
      <p:sp>
        <p:nvSpPr>
          <p:cNvPr id="28" name="TextBox 27"/>
          <p:cNvSpPr txBox="1"/>
          <p:nvPr/>
        </p:nvSpPr>
        <p:spPr>
          <a:xfrm>
            <a:off x="1170432" y="5843016"/>
            <a:ext cx="4206240" cy="512064"/>
          </a:xfrm>
          <a:prstGeom prst="rect">
            <a:avLst/>
          </a:prstGeom>
          <a:noFill/>
        </p:spPr>
        <p:txBody>
          <a:bodyPr wrap="square" lIns="0" rIns="0" tIns="0" bIns="0" anchor="t">
            <a:spAutoFit/>
          </a:bodyPr>
          <a:lstStyle/>
          <a:p>
            <a:pPr algn="l">
              <a:lnSpc>
                <a:spcPct val="115000"/>
              </a:lnSpc>
              <a:spcBef>
                <a:spcPts val="0"/>
              </a:spcBef>
              <a:spcAft>
                <a:spcPts val="0"/>
              </a:spcAft>
            </a:pPr>
            <a:r>
              <a:rPr sz="850" b="0">
                <a:solidFill>
                  <a:srgbClr val="5A6B7B"/>
                </a:solidFill>
                <a:latin typeface="Segoe UI"/>
              </a:rPr>
              <a:t>referral.bonus_status</a:t>
            </a:r>
          </a:p>
          <a:p>
            <a:pPr algn="l">
              <a:lnSpc>
                <a:spcPct val="115000"/>
              </a:lnSpc>
              <a:spcBef>
                <a:spcPts val="0"/>
              </a:spcBef>
              <a:spcAft>
                <a:spcPts val="0"/>
              </a:spcAft>
            </a:pPr>
            <a:r>
              <a:rPr sz="850" b="0">
                <a:solidFill>
                  <a:srgbClr val="5A6B7B"/>
                </a:solidFill>
                <a:latin typeface="Segoe UI"/>
              </a:rPr>
              <a:t>PENDING → PAID / FORFEITED</a:t>
            </a:r>
          </a:p>
        </p:txBody>
      </p:sp>
      <p:sp>
        <p:nvSpPr>
          <p:cNvPr id="29" name="Rounded Rectangle 28"/>
          <p:cNvSpPr/>
          <p:nvPr/>
        </p:nvSpPr>
        <p:spPr>
          <a:xfrm>
            <a:off x="5989320" y="2048256"/>
            <a:ext cx="5440680" cy="3822191"/>
          </a:xfrm>
          <a:prstGeom prst="roundRect">
            <a:avLst>
              <a:gd name="adj" fmla="val 3000"/>
            </a:avLst>
          </a:prstGeom>
          <a:solidFill>
            <a:srgbClr val="F3F7FA"/>
          </a:solidFill>
          <a:ln>
            <a:noFill/>
          </a:ln>
          <a:effectLst/>
        </p:spPr>
        <p:txBody>
          <a:bodyPr rtlCol="0" anchor="ctr" wrap="square" lIns="0" rIns="0" tIns="0" bIns="0"/>
          <a:lstStyle/>
          <a:p>
            <a:pPr algn="ctr"/>
          </a:p>
        </p:txBody>
      </p:sp>
      <p:sp>
        <p:nvSpPr>
          <p:cNvPr id="30" name="TextBox 29"/>
          <p:cNvSpPr txBox="1"/>
          <p:nvPr/>
        </p:nvSpPr>
        <p:spPr>
          <a:xfrm>
            <a:off x="6263640" y="2212848"/>
            <a:ext cx="475488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8A99A6"/>
                </a:solidFill>
                <a:latin typeface="微软雅黑"/>
                <a:ea typeface="微软雅黑"/>
              </a:rPr>
              <a:t>状 态 机  ·  申 请</a:t>
            </a:r>
          </a:p>
        </p:txBody>
      </p:sp>
      <p:sp>
        <p:nvSpPr>
          <p:cNvPr id="31" name="Rounded Rectangle 30"/>
          <p:cNvSpPr/>
          <p:nvPr/>
        </p:nvSpPr>
        <p:spPr>
          <a:xfrm>
            <a:off x="6263640" y="2523744"/>
            <a:ext cx="896112" cy="292608"/>
          </a:xfrm>
          <a:prstGeom prst="roundRect">
            <a:avLst>
              <a:gd name="adj" fmla="val 22000"/>
            </a:avLst>
          </a:prstGeom>
          <a:solidFill>
            <a:srgbClr val="0E2A47"/>
          </a:solidFill>
          <a:ln>
            <a:noFill/>
          </a:ln>
          <a:effectLst/>
        </p:spPr>
        <p:txBody>
          <a:bodyPr rtlCol="0" anchor="ctr" wrap="square" lIns="0" rIns="0" tIns="0" bIns="0"/>
          <a:lstStyle/>
          <a:p>
            <a:pPr algn="ctr"/>
          </a:p>
        </p:txBody>
      </p:sp>
      <p:sp>
        <p:nvSpPr>
          <p:cNvPr id="32" name="TextBox 31"/>
          <p:cNvSpPr txBox="1"/>
          <p:nvPr/>
        </p:nvSpPr>
        <p:spPr>
          <a:xfrm>
            <a:off x="6263640" y="2583180"/>
            <a:ext cx="896112" cy="182880"/>
          </a:xfrm>
          <a:prstGeom prst="rect">
            <a:avLst/>
          </a:prstGeom>
          <a:noFill/>
        </p:spPr>
        <p:txBody>
          <a:bodyPr wrap="square" lIns="0" rIns="0" tIns="0" bIns="0" anchor="t">
            <a:spAutoFit/>
          </a:bodyPr>
          <a:lstStyle/>
          <a:p>
            <a:pPr algn="ctr">
              <a:lnSpc>
                <a:spcPct val="100000"/>
              </a:lnSpc>
              <a:spcBef>
                <a:spcPts val="0"/>
              </a:spcBef>
              <a:spcAft>
                <a:spcPts val="0"/>
              </a:spcAft>
            </a:pPr>
            <a:r>
              <a:rPr sz="660" b="1">
                <a:solidFill>
                  <a:srgbClr val="FFFFFF"/>
                </a:solidFill>
                <a:latin typeface="Segoe UI"/>
              </a:rPr>
              <a:t>SUBMITTED</a:t>
            </a:r>
          </a:p>
        </p:txBody>
      </p:sp>
      <p:sp>
        <p:nvSpPr>
          <p:cNvPr id="33" name="TextBox 32"/>
          <p:cNvSpPr txBox="1"/>
          <p:nvPr/>
        </p:nvSpPr>
        <p:spPr>
          <a:xfrm>
            <a:off x="7168896" y="2574036"/>
            <a:ext cx="109728" cy="182880"/>
          </a:xfrm>
          <a:prstGeom prst="rect">
            <a:avLst/>
          </a:prstGeom>
          <a:noFill/>
        </p:spPr>
        <p:txBody>
          <a:bodyPr wrap="square" lIns="0" rIns="0" tIns="0" bIns="0" anchor="t">
            <a:spAutoFit/>
          </a:bodyPr>
          <a:lstStyle/>
          <a:p>
            <a:pPr algn="ctr">
              <a:lnSpc>
                <a:spcPct val="100000"/>
              </a:lnSpc>
              <a:spcBef>
                <a:spcPts val="0"/>
              </a:spcBef>
              <a:spcAft>
                <a:spcPts val="0"/>
              </a:spcAft>
            </a:pPr>
            <a:r>
              <a:rPr sz="1000" b="1">
                <a:solidFill>
                  <a:srgbClr val="8A99A6"/>
                </a:solidFill>
                <a:latin typeface="Segoe UI"/>
              </a:rPr>
              <a:t>›</a:t>
            </a:r>
          </a:p>
        </p:txBody>
      </p:sp>
      <p:sp>
        <p:nvSpPr>
          <p:cNvPr id="34" name="Rounded Rectangle 33"/>
          <p:cNvSpPr/>
          <p:nvPr/>
        </p:nvSpPr>
        <p:spPr>
          <a:xfrm>
            <a:off x="7287768" y="2523744"/>
            <a:ext cx="969264" cy="292608"/>
          </a:xfrm>
          <a:prstGeom prst="roundRect">
            <a:avLst>
              <a:gd name="adj" fmla="val 22000"/>
            </a:avLst>
          </a:prstGeom>
          <a:solidFill>
            <a:srgbClr val="0E2A47"/>
          </a:solidFill>
          <a:ln>
            <a:noFill/>
          </a:ln>
          <a:effectLst/>
        </p:spPr>
        <p:txBody>
          <a:bodyPr rtlCol="0" anchor="ctr" wrap="square" lIns="0" rIns="0" tIns="0" bIns="0"/>
          <a:lstStyle/>
          <a:p>
            <a:pPr algn="ctr"/>
          </a:p>
        </p:txBody>
      </p:sp>
      <p:sp>
        <p:nvSpPr>
          <p:cNvPr id="35" name="TextBox 34"/>
          <p:cNvSpPr txBox="1"/>
          <p:nvPr/>
        </p:nvSpPr>
        <p:spPr>
          <a:xfrm>
            <a:off x="7287768" y="2583180"/>
            <a:ext cx="969264" cy="182880"/>
          </a:xfrm>
          <a:prstGeom prst="rect">
            <a:avLst/>
          </a:prstGeom>
          <a:noFill/>
        </p:spPr>
        <p:txBody>
          <a:bodyPr wrap="square" lIns="0" rIns="0" tIns="0" bIns="0" anchor="t">
            <a:spAutoFit/>
          </a:bodyPr>
          <a:lstStyle/>
          <a:p>
            <a:pPr algn="ctr">
              <a:lnSpc>
                <a:spcPct val="100000"/>
              </a:lnSpc>
              <a:spcBef>
                <a:spcPts val="0"/>
              </a:spcBef>
              <a:spcAft>
                <a:spcPts val="0"/>
              </a:spcAft>
            </a:pPr>
            <a:r>
              <a:rPr sz="660" b="1">
                <a:solidFill>
                  <a:srgbClr val="FFFFFF"/>
                </a:solidFill>
                <a:latin typeface="Segoe UI"/>
              </a:rPr>
              <a:t>SCREENING</a:t>
            </a:r>
          </a:p>
        </p:txBody>
      </p:sp>
      <p:sp>
        <p:nvSpPr>
          <p:cNvPr id="36" name="TextBox 35"/>
          <p:cNvSpPr txBox="1"/>
          <p:nvPr/>
        </p:nvSpPr>
        <p:spPr>
          <a:xfrm>
            <a:off x="8266175" y="2574036"/>
            <a:ext cx="109728" cy="182880"/>
          </a:xfrm>
          <a:prstGeom prst="rect">
            <a:avLst/>
          </a:prstGeom>
          <a:noFill/>
        </p:spPr>
        <p:txBody>
          <a:bodyPr wrap="square" lIns="0" rIns="0" tIns="0" bIns="0" anchor="t">
            <a:spAutoFit/>
          </a:bodyPr>
          <a:lstStyle/>
          <a:p>
            <a:pPr algn="ctr">
              <a:lnSpc>
                <a:spcPct val="100000"/>
              </a:lnSpc>
              <a:spcBef>
                <a:spcPts val="0"/>
              </a:spcBef>
              <a:spcAft>
                <a:spcPts val="0"/>
              </a:spcAft>
            </a:pPr>
            <a:r>
              <a:rPr sz="1000" b="1">
                <a:solidFill>
                  <a:srgbClr val="8A99A6"/>
                </a:solidFill>
                <a:latin typeface="Segoe UI"/>
              </a:rPr>
              <a:t>›</a:t>
            </a:r>
          </a:p>
        </p:txBody>
      </p:sp>
      <p:sp>
        <p:nvSpPr>
          <p:cNvPr id="37" name="Rounded Rectangle 36"/>
          <p:cNvSpPr/>
          <p:nvPr/>
        </p:nvSpPr>
        <p:spPr>
          <a:xfrm>
            <a:off x="8385048" y="2523744"/>
            <a:ext cx="896112" cy="292608"/>
          </a:xfrm>
          <a:prstGeom prst="roundRect">
            <a:avLst>
              <a:gd name="adj" fmla="val 22000"/>
            </a:avLst>
          </a:prstGeom>
          <a:solidFill>
            <a:srgbClr val="0E2A47"/>
          </a:solidFill>
          <a:ln>
            <a:noFill/>
          </a:ln>
          <a:effectLst/>
        </p:spPr>
        <p:txBody>
          <a:bodyPr rtlCol="0" anchor="ctr" wrap="square" lIns="0" rIns="0" tIns="0" bIns="0"/>
          <a:lstStyle/>
          <a:p>
            <a:pPr algn="ctr"/>
          </a:p>
        </p:txBody>
      </p:sp>
      <p:sp>
        <p:nvSpPr>
          <p:cNvPr id="38" name="TextBox 37"/>
          <p:cNvSpPr txBox="1"/>
          <p:nvPr/>
        </p:nvSpPr>
        <p:spPr>
          <a:xfrm>
            <a:off x="8385048" y="2583180"/>
            <a:ext cx="896112" cy="182880"/>
          </a:xfrm>
          <a:prstGeom prst="rect">
            <a:avLst/>
          </a:prstGeom>
          <a:noFill/>
        </p:spPr>
        <p:txBody>
          <a:bodyPr wrap="square" lIns="0" rIns="0" tIns="0" bIns="0" anchor="t">
            <a:spAutoFit/>
          </a:bodyPr>
          <a:lstStyle/>
          <a:p>
            <a:pPr algn="ctr">
              <a:lnSpc>
                <a:spcPct val="100000"/>
              </a:lnSpc>
              <a:spcBef>
                <a:spcPts val="0"/>
              </a:spcBef>
              <a:spcAft>
                <a:spcPts val="0"/>
              </a:spcAft>
            </a:pPr>
            <a:r>
              <a:rPr sz="660" b="1">
                <a:solidFill>
                  <a:srgbClr val="FFFFFF"/>
                </a:solidFill>
                <a:latin typeface="Segoe UI"/>
              </a:rPr>
              <a:t>INTERVIEW</a:t>
            </a:r>
          </a:p>
        </p:txBody>
      </p:sp>
      <p:sp>
        <p:nvSpPr>
          <p:cNvPr id="39" name="TextBox 38"/>
          <p:cNvSpPr txBox="1"/>
          <p:nvPr/>
        </p:nvSpPr>
        <p:spPr>
          <a:xfrm>
            <a:off x="9290304" y="2574036"/>
            <a:ext cx="109728" cy="182880"/>
          </a:xfrm>
          <a:prstGeom prst="rect">
            <a:avLst/>
          </a:prstGeom>
          <a:noFill/>
        </p:spPr>
        <p:txBody>
          <a:bodyPr wrap="square" lIns="0" rIns="0" tIns="0" bIns="0" anchor="t">
            <a:spAutoFit/>
          </a:bodyPr>
          <a:lstStyle/>
          <a:p>
            <a:pPr algn="ctr">
              <a:lnSpc>
                <a:spcPct val="100000"/>
              </a:lnSpc>
              <a:spcBef>
                <a:spcPts val="0"/>
              </a:spcBef>
              <a:spcAft>
                <a:spcPts val="0"/>
              </a:spcAft>
            </a:pPr>
            <a:r>
              <a:rPr sz="1000" b="1">
                <a:solidFill>
                  <a:srgbClr val="8A99A6"/>
                </a:solidFill>
                <a:latin typeface="Segoe UI"/>
              </a:rPr>
              <a:t>›</a:t>
            </a:r>
          </a:p>
        </p:txBody>
      </p:sp>
      <p:sp>
        <p:nvSpPr>
          <p:cNvPr id="40" name="Rounded Rectangle 39"/>
          <p:cNvSpPr/>
          <p:nvPr/>
        </p:nvSpPr>
        <p:spPr>
          <a:xfrm>
            <a:off x="9409176" y="2523744"/>
            <a:ext cx="896112" cy="292608"/>
          </a:xfrm>
          <a:prstGeom prst="roundRect">
            <a:avLst>
              <a:gd name="adj" fmla="val 22000"/>
            </a:avLst>
          </a:prstGeom>
          <a:solidFill>
            <a:srgbClr val="0A66C2"/>
          </a:solidFill>
          <a:ln>
            <a:noFill/>
          </a:ln>
          <a:effectLst/>
        </p:spPr>
        <p:txBody>
          <a:bodyPr rtlCol="0" anchor="ctr" wrap="square" lIns="0" rIns="0" tIns="0" bIns="0"/>
          <a:lstStyle/>
          <a:p>
            <a:pPr algn="ctr"/>
          </a:p>
        </p:txBody>
      </p:sp>
      <p:sp>
        <p:nvSpPr>
          <p:cNvPr id="41" name="TextBox 40"/>
          <p:cNvSpPr txBox="1"/>
          <p:nvPr/>
        </p:nvSpPr>
        <p:spPr>
          <a:xfrm>
            <a:off x="9409176" y="2583180"/>
            <a:ext cx="896112" cy="182880"/>
          </a:xfrm>
          <a:prstGeom prst="rect">
            <a:avLst/>
          </a:prstGeom>
          <a:noFill/>
        </p:spPr>
        <p:txBody>
          <a:bodyPr wrap="square" lIns="0" rIns="0" tIns="0" bIns="0" anchor="t">
            <a:spAutoFit/>
          </a:bodyPr>
          <a:lstStyle/>
          <a:p>
            <a:pPr algn="ctr">
              <a:lnSpc>
                <a:spcPct val="100000"/>
              </a:lnSpc>
              <a:spcBef>
                <a:spcPts val="0"/>
              </a:spcBef>
              <a:spcAft>
                <a:spcPts val="0"/>
              </a:spcAft>
            </a:pPr>
            <a:r>
              <a:rPr sz="660" b="1">
                <a:solidFill>
                  <a:srgbClr val="FFFFFF"/>
                </a:solidFill>
                <a:latin typeface="Segoe UI"/>
              </a:rPr>
              <a:t>OFFER</a:t>
            </a:r>
          </a:p>
        </p:txBody>
      </p:sp>
      <p:sp>
        <p:nvSpPr>
          <p:cNvPr id="42" name="TextBox 41"/>
          <p:cNvSpPr txBox="1"/>
          <p:nvPr/>
        </p:nvSpPr>
        <p:spPr>
          <a:xfrm>
            <a:off x="10314432" y="2574036"/>
            <a:ext cx="109728" cy="182880"/>
          </a:xfrm>
          <a:prstGeom prst="rect">
            <a:avLst/>
          </a:prstGeom>
          <a:noFill/>
        </p:spPr>
        <p:txBody>
          <a:bodyPr wrap="square" lIns="0" rIns="0" tIns="0" bIns="0" anchor="t">
            <a:spAutoFit/>
          </a:bodyPr>
          <a:lstStyle/>
          <a:p>
            <a:pPr algn="ctr">
              <a:lnSpc>
                <a:spcPct val="100000"/>
              </a:lnSpc>
              <a:spcBef>
                <a:spcPts val="0"/>
              </a:spcBef>
              <a:spcAft>
                <a:spcPts val="0"/>
              </a:spcAft>
            </a:pPr>
            <a:r>
              <a:rPr sz="1000" b="1">
                <a:solidFill>
                  <a:srgbClr val="8A99A6"/>
                </a:solidFill>
                <a:latin typeface="Segoe UI"/>
              </a:rPr>
              <a:t>›</a:t>
            </a:r>
          </a:p>
        </p:txBody>
      </p:sp>
      <p:sp>
        <p:nvSpPr>
          <p:cNvPr id="43" name="Rounded Rectangle 42"/>
          <p:cNvSpPr/>
          <p:nvPr/>
        </p:nvSpPr>
        <p:spPr>
          <a:xfrm>
            <a:off x="10433304" y="2523744"/>
            <a:ext cx="896112" cy="292608"/>
          </a:xfrm>
          <a:prstGeom prst="roundRect">
            <a:avLst>
              <a:gd name="adj" fmla="val 22000"/>
            </a:avLst>
          </a:prstGeom>
          <a:solidFill>
            <a:srgbClr val="0A66C2"/>
          </a:solidFill>
          <a:ln>
            <a:noFill/>
          </a:ln>
          <a:effectLst/>
        </p:spPr>
        <p:txBody>
          <a:bodyPr rtlCol="0" anchor="ctr" wrap="square" lIns="0" rIns="0" tIns="0" bIns="0"/>
          <a:lstStyle/>
          <a:p>
            <a:pPr algn="ctr"/>
          </a:p>
        </p:txBody>
      </p:sp>
      <p:sp>
        <p:nvSpPr>
          <p:cNvPr id="44" name="TextBox 43"/>
          <p:cNvSpPr txBox="1"/>
          <p:nvPr/>
        </p:nvSpPr>
        <p:spPr>
          <a:xfrm>
            <a:off x="10433304" y="2583180"/>
            <a:ext cx="896112" cy="182880"/>
          </a:xfrm>
          <a:prstGeom prst="rect">
            <a:avLst/>
          </a:prstGeom>
          <a:noFill/>
        </p:spPr>
        <p:txBody>
          <a:bodyPr wrap="square" lIns="0" rIns="0" tIns="0" bIns="0" anchor="t">
            <a:spAutoFit/>
          </a:bodyPr>
          <a:lstStyle/>
          <a:p>
            <a:pPr algn="ctr">
              <a:lnSpc>
                <a:spcPct val="100000"/>
              </a:lnSpc>
              <a:spcBef>
                <a:spcPts val="0"/>
              </a:spcBef>
              <a:spcAft>
                <a:spcPts val="0"/>
              </a:spcAft>
            </a:pPr>
            <a:r>
              <a:rPr sz="660" b="1">
                <a:solidFill>
                  <a:srgbClr val="FFFFFF"/>
                </a:solidFill>
                <a:latin typeface="Segoe UI"/>
              </a:rPr>
              <a:t>HIRED</a:t>
            </a:r>
          </a:p>
        </p:txBody>
      </p:sp>
      <p:sp>
        <p:nvSpPr>
          <p:cNvPr id="45" name="TextBox 44"/>
          <p:cNvSpPr txBox="1"/>
          <p:nvPr/>
        </p:nvSpPr>
        <p:spPr>
          <a:xfrm>
            <a:off x="6263640" y="2944368"/>
            <a:ext cx="4846320" cy="219456"/>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A6741F"/>
                </a:solidFill>
                <a:latin typeface="微软雅黑"/>
                <a:ea typeface="微软雅黑"/>
              </a:rPr>
              <a:t>任一阶段退出 →  REJECTED  或  WITHDRAWN</a:t>
            </a:r>
          </a:p>
        </p:txBody>
      </p:sp>
      <p:sp>
        <p:nvSpPr>
          <p:cNvPr id="46" name="Rectangle 45"/>
          <p:cNvSpPr/>
          <p:nvPr/>
        </p:nvSpPr>
        <p:spPr>
          <a:xfrm>
            <a:off x="6263640" y="3236976"/>
            <a:ext cx="4892040" cy="9144"/>
          </a:xfrm>
          <a:prstGeom prst="rect">
            <a:avLst/>
          </a:prstGeom>
          <a:solidFill>
            <a:srgbClr val="D8E0E8"/>
          </a:solidFill>
          <a:ln>
            <a:noFill/>
          </a:ln>
          <a:effectLst/>
        </p:spPr>
        <p:txBody>
          <a:bodyPr rtlCol="0" anchor="ctr" wrap="square" lIns="0" rIns="0" tIns="0" bIns="0"/>
          <a:lstStyle/>
          <a:p>
            <a:pPr algn="ctr"/>
          </a:p>
        </p:txBody>
      </p:sp>
      <p:sp>
        <p:nvSpPr>
          <p:cNvPr id="47" name="TextBox 46"/>
          <p:cNvSpPr txBox="1"/>
          <p:nvPr/>
        </p:nvSpPr>
        <p:spPr>
          <a:xfrm>
            <a:off x="6263640" y="3346704"/>
            <a:ext cx="23774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8A99A6"/>
                </a:solidFill>
                <a:latin typeface="微软雅黑"/>
                <a:ea typeface="微软雅黑"/>
              </a:rPr>
              <a:t>数 据 库 会 拒 绝 什 么</a:t>
            </a:r>
          </a:p>
        </p:txBody>
      </p:sp>
      <p:sp>
        <p:nvSpPr>
          <p:cNvPr id="48" name="TextBox 47"/>
          <p:cNvSpPr txBox="1"/>
          <p:nvPr/>
        </p:nvSpPr>
        <p:spPr>
          <a:xfrm>
            <a:off x="6263640" y="3621024"/>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A66C2"/>
                </a:solidFill>
                <a:latin typeface="Segoe UI"/>
              </a:rPr>
              <a:t>·</a:t>
            </a:r>
          </a:p>
        </p:txBody>
      </p:sp>
      <p:sp>
        <p:nvSpPr>
          <p:cNvPr id="49" name="TextBox 48"/>
          <p:cNvSpPr txBox="1"/>
          <p:nvPr/>
        </p:nvSpPr>
        <p:spPr>
          <a:xfrm>
            <a:off x="6446520" y="3621024"/>
            <a:ext cx="4663440" cy="201168"/>
          </a:xfrm>
          <a:prstGeom prst="rect">
            <a:avLst/>
          </a:prstGeom>
          <a:noFill/>
        </p:spPr>
        <p:txBody>
          <a:bodyPr wrap="square" lIns="0" rIns="0" tIns="0" bIns="0" anchor="t">
            <a:spAutoFit/>
          </a:bodyPr>
          <a:lstStyle/>
          <a:p>
            <a:pPr algn="l">
              <a:lnSpc>
                <a:spcPct val="100000"/>
              </a:lnSpc>
              <a:spcBef>
                <a:spcPts val="0"/>
              </a:spcBef>
              <a:spcAft>
                <a:spcPts val="0"/>
              </a:spcAft>
            </a:pPr>
            <a:r>
              <a:rPr sz="900" b="0">
                <a:solidFill>
                  <a:srgbClr val="5A6B7B"/>
                </a:solidFill>
                <a:latin typeface="微软雅黑"/>
                <a:ea typeface="微软雅黑"/>
              </a:rPr>
              <a:t>从 SUBMITTED 直接跳到 HIRED</a:t>
            </a:r>
          </a:p>
        </p:txBody>
      </p:sp>
      <p:sp>
        <p:nvSpPr>
          <p:cNvPr id="50" name="TextBox 49"/>
          <p:cNvSpPr txBox="1"/>
          <p:nvPr/>
        </p:nvSpPr>
        <p:spPr>
          <a:xfrm>
            <a:off x="6263640" y="3895344"/>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A66C2"/>
                </a:solidFill>
                <a:latin typeface="Segoe UI"/>
              </a:rPr>
              <a:t>·</a:t>
            </a:r>
          </a:p>
        </p:txBody>
      </p:sp>
      <p:sp>
        <p:nvSpPr>
          <p:cNvPr id="51" name="TextBox 50"/>
          <p:cNvSpPr txBox="1"/>
          <p:nvPr/>
        </p:nvSpPr>
        <p:spPr>
          <a:xfrm>
            <a:off x="6446520" y="3895344"/>
            <a:ext cx="4663440" cy="201168"/>
          </a:xfrm>
          <a:prstGeom prst="rect">
            <a:avLst/>
          </a:prstGeom>
          <a:noFill/>
        </p:spPr>
        <p:txBody>
          <a:bodyPr wrap="square" lIns="0" rIns="0" tIns="0" bIns="0" anchor="t">
            <a:spAutoFit/>
          </a:bodyPr>
          <a:lstStyle/>
          <a:p>
            <a:pPr algn="l">
              <a:lnSpc>
                <a:spcPct val="100000"/>
              </a:lnSpc>
              <a:spcBef>
                <a:spcPts val="0"/>
              </a:spcBef>
              <a:spcAft>
                <a:spcPts val="0"/>
              </a:spcAft>
            </a:pPr>
            <a:r>
              <a:rPr sz="900" b="0">
                <a:solidFill>
                  <a:srgbClr val="5A6B7B"/>
                </a:solidFill>
                <a:latin typeface="微软雅黑"/>
                <a:ea typeface="微软雅黑"/>
              </a:rPr>
              <a:t>申请还没到就排面试</a:t>
            </a:r>
          </a:p>
        </p:txBody>
      </p:sp>
      <p:sp>
        <p:nvSpPr>
          <p:cNvPr id="52" name="TextBox 51"/>
          <p:cNvSpPr txBox="1"/>
          <p:nvPr/>
        </p:nvSpPr>
        <p:spPr>
          <a:xfrm>
            <a:off x="6263640" y="4169663"/>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A66C2"/>
                </a:solidFill>
                <a:latin typeface="Segoe UI"/>
              </a:rPr>
              <a:t>·</a:t>
            </a:r>
          </a:p>
        </p:txBody>
      </p:sp>
      <p:sp>
        <p:nvSpPr>
          <p:cNvPr id="53" name="TextBox 52"/>
          <p:cNvSpPr txBox="1"/>
          <p:nvPr/>
        </p:nvSpPr>
        <p:spPr>
          <a:xfrm>
            <a:off x="6446520" y="4169663"/>
            <a:ext cx="4663440" cy="201168"/>
          </a:xfrm>
          <a:prstGeom prst="rect">
            <a:avLst/>
          </a:prstGeom>
          <a:noFill/>
        </p:spPr>
        <p:txBody>
          <a:bodyPr wrap="square" lIns="0" rIns="0" tIns="0" bIns="0" anchor="t">
            <a:spAutoFit/>
          </a:bodyPr>
          <a:lstStyle/>
          <a:p>
            <a:pPr algn="l">
              <a:lnSpc>
                <a:spcPct val="100000"/>
              </a:lnSpc>
              <a:spcBef>
                <a:spcPts val="0"/>
              </a:spcBef>
              <a:spcAft>
                <a:spcPts val="0"/>
              </a:spcAft>
            </a:pPr>
            <a:r>
              <a:rPr sz="900" b="0">
                <a:solidFill>
                  <a:srgbClr val="5A6B7B"/>
                </a:solidFill>
                <a:latin typeface="微软雅黑"/>
                <a:ea typeface="微软雅黑"/>
              </a:rPr>
              <a:t>同一申请出现两轮都编号 2</a:t>
            </a:r>
          </a:p>
        </p:txBody>
      </p:sp>
      <p:sp>
        <p:nvSpPr>
          <p:cNvPr id="54" name="TextBox 53"/>
          <p:cNvSpPr txBox="1"/>
          <p:nvPr/>
        </p:nvSpPr>
        <p:spPr>
          <a:xfrm>
            <a:off x="6263640" y="4443983"/>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A66C2"/>
                </a:solidFill>
                <a:latin typeface="Segoe UI"/>
              </a:rPr>
              <a:t>·</a:t>
            </a:r>
          </a:p>
        </p:txBody>
      </p:sp>
      <p:sp>
        <p:nvSpPr>
          <p:cNvPr id="55" name="TextBox 54"/>
          <p:cNvSpPr txBox="1"/>
          <p:nvPr/>
        </p:nvSpPr>
        <p:spPr>
          <a:xfrm>
            <a:off x="6446520" y="4443983"/>
            <a:ext cx="4663440" cy="201168"/>
          </a:xfrm>
          <a:prstGeom prst="rect">
            <a:avLst/>
          </a:prstGeom>
          <a:noFill/>
        </p:spPr>
        <p:txBody>
          <a:bodyPr wrap="square" lIns="0" rIns="0" tIns="0" bIns="0" anchor="t">
            <a:spAutoFit/>
          </a:bodyPr>
          <a:lstStyle/>
          <a:p>
            <a:pPr algn="l">
              <a:lnSpc>
                <a:spcPct val="100000"/>
              </a:lnSpc>
              <a:spcBef>
                <a:spcPts val="0"/>
              </a:spcBef>
              <a:spcAft>
                <a:spcPts val="0"/>
              </a:spcAft>
            </a:pPr>
            <a:r>
              <a:rPr sz="900" b="0">
                <a:solidFill>
                  <a:srgbClr val="5A6B7B"/>
                </a:solidFill>
                <a:latin typeface="微软雅黑"/>
                <a:ea typeface="微软雅黑"/>
              </a:rPr>
              <a:t>公司外部的人写内推</a:t>
            </a:r>
          </a:p>
        </p:txBody>
      </p:sp>
      <p:sp>
        <p:nvSpPr>
          <p:cNvPr id="56" name="TextBox 55"/>
          <p:cNvSpPr txBox="1"/>
          <p:nvPr/>
        </p:nvSpPr>
        <p:spPr>
          <a:xfrm>
            <a:off x="6263640" y="4718303"/>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A66C2"/>
                </a:solidFill>
                <a:latin typeface="Segoe UI"/>
              </a:rPr>
              <a:t>·</a:t>
            </a:r>
          </a:p>
        </p:txBody>
      </p:sp>
      <p:sp>
        <p:nvSpPr>
          <p:cNvPr id="57" name="TextBox 56"/>
          <p:cNvSpPr txBox="1"/>
          <p:nvPr/>
        </p:nvSpPr>
        <p:spPr>
          <a:xfrm>
            <a:off x="6446520" y="4718303"/>
            <a:ext cx="4663440" cy="201168"/>
          </a:xfrm>
          <a:prstGeom prst="rect">
            <a:avLst/>
          </a:prstGeom>
          <a:noFill/>
        </p:spPr>
        <p:txBody>
          <a:bodyPr wrap="square" lIns="0" rIns="0" tIns="0" bIns="0" anchor="t">
            <a:spAutoFit/>
          </a:bodyPr>
          <a:lstStyle/>
          <a:p>
            <a:pPr algn="l">
              <a:lnSpc>
                <a:spcPct val="100000"/>
              </a:lnSpc>
              <a:spcBef>
                <a:spcPts val="0"/>
              </a:spcBef>
              <a:spcAft>
                <a:spcPts val="0"/>
              </a:spcAft>
            </a:pPr>
            <a:r>
              <a:rPr sz="900" b="0">
                <a:solidFill>
                  <a:srgbClr val="5A6B7B"/>
                </a:solidFill>
                <a:latin typeface="微软雅黑"/>
                <a:ea typeface="微软雅黑"/>
              </a:rPr>
              <a:t>终态却没有 decided_at</a:t>
            </a:r>
          </a:p>
        </p:txBody>
      </p:sp>
      <p:sp>
        <p:nvSpPr>
          <p:cNvPr id="58" name="TextBox 57"/>
          <p:cNvSpPr txBox="1"/>
          <p:nvPr/>
        </p:nvSpPr>
        <p:spPr>
          <a:xfrm>
            <a:off x="6263640" y="5084064"/>
            <a:ext cx="4892040" cy="566928"/>
          </a:xfrm>
          <a:prstGeom prst="rect">
            <a:avLst/>
          </a:prstGeom>
          <a:noFill/>
        </p:spPr>
        <p:txBody>
          <a:bodyPr wrap="square" lIns="0" rIns="0" tIns="0" bIns="0" anchor="t">
            <a:spAutoFit/>
          </a:bodyPr>
          <a:lstStyle/>
          <a:p>
            <a:pPr algn="l">
              <a:lnSpc>
                <a:spcPct val="120000"/>
              </a:lnSpc>
              <a:spcBef>
                <a:spcPts val="0"/>
              </a:spcBef>
              <a:spcAft>
                <a:spcPts val="0"/>
              </a:spcAft>
            </a:pPr>
            <a:r>
              <a:rPr sz="850" b="0">
                <a:solidFill>
                  <a:srgbClr val="0A66C2"/>
                </a:solidFill>
                <a:latin typeface="微软雅黑"/>
                <a:ea typeface="微软雅黑"/>
              </a:rPr>
              <a:t>一个 BEFORE UPDATE 触发器管住全部十二种合法迁移；</a:t>
            </a:r>
          </a:p>
          <a:p>
            <a:pPr algn="l">
              <a:lnSpc>
                <a:spcPct val="120000"/>
              </a:lnSpc>
              <a:spcBef>
                <a:spcPts val="0"/>
              </a:spcBef>
              <a:spcAft>
                <a:spcPts val="0"/>
              </a:spcAft>
            </a:pPr>
            <a:r>
              <a:rPr sz="850" b="0">
                <a:solidFill>
                  <a:srgbClr val="0A66C2"/>
                </a:solidFill>
                <a:latin typeface="微软雅黑"/>
                <a:ea typeface="微软雅黑"/>
              </a:rPr>
              <a:t>另外三个触发器承担跨表规则。</a:t>
            </a:r>
          </a:p>
        </p:txBody>
      </p:sp>
      <p:sp>
        <p:nvSpPr>
          <p:cNvPr id="59" name="Rectangle 58"/>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60" name="TextBox 59"/>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61" name="TextBox 60"/>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04  ·  数 据 模 型</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十二张表，一个铰链</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会员与公司描述双方；application 是每条查询都要穿过的铰链。</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pic>
        <p:nvPicPr>
          <p:cNvPr id="6" name="Picture 5" descr="ERD_logical_full.png"/>
          <p:cNvPicPr>
            <a:picLocks noChangeAspect="1"/>
          </p:cNvPicPr>
          <p:nvPr/>
        </p:nvPicPr>
        <p:blipFill>
          <a:blip r:embed="rId2"/>
          <a:stretch>
            <a:fillRect/>
          </a:stretch>
        </p:blipFill>
        <p:spPr>
          <a:xfrm>
            <a:off x="685800" y="1993392"/>
            <a:ext cx="4156290" cy="4224528"/>
          </a:xfrm>
          <a:prstGeom prst="rect">
            <a:avLst/>
          </a:prstGeom>
        </p:spPr>
      </p:pic>
      <p:sp>
        <p:nvSpPr>
          <p:cNvPr id="7" name="TextBox 6"/>
          <p:cNvSpPr txBox="1"/>
          <p:nvPr/>
        </p:nvSpPr>
        <p:spPr>
          <a:xfrm>
            <a:off x="685800" y="6254496"/>
            <a:ext cx="4206240" cy="164592"/>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ERD_logical_full —— 主键加粗、外键斜体、多端画鸦爪</a:t>
            </a:r>
          </a:p>
        </p:txBody>
      </p:sp>
      <p:sp>
        <p:nvSpPr>
          <p:cNvPr id="8" name="TextBox 7"/>
          <p:cNvSpPr txBox="1"/>
          <p:nvPr/>
        </p:nvSpPr>
        <p:spPr>
          <a:xfrm>
            <a:off x="5230368" y="1993392"/>
            <a:ext cx="6217920" cy="237744"/>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8A99A6"/>
                </a:solidFill>
                <a:latin typeface="微软雅黑"/>
                <a:ea typeface="微软雅黑"/>
              </a:rPr>
              <a:t>这 张 图 说 明 了 什 么</a:t>
            </a:r>
          </a:p>
        </p:txBody>
      </p:sp>
      <p:sp>
        <p:nvSpPr>
          <p:cNvPr id="9" name="TextBox 8"/>
          <p:cNvSpPr txBox="1"/>
          <p:nvPr/>
        </p:nvSpPr>
        <p:spPr>
          <a:xfrm>
            <a:off x="5230368" y="2304288"/>
            <a:ext cx="128016"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a:t>
            </a:r>
          </a:p>
        </p:txBody>
      </p:sp>
      <p:sp>
        <p:nvSpPr>
          <p:cNvPr id="10" name="TextBox 9"/>
          <p:cNvSpPr txBox="1"/>
          <p:nvPr/>
        </p:nvSpPr>
        <p:spPr>
          <a:xfrm>
            <a:off x="5431536" y="2286000"/>
            <a:ext cx="5394960"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a:solidFill>
                  <a:srgbClr val="0E2A47"/>
                </a:solidFill>
                <a:latin typeface="微软雅黑"/>
                <a:ea typeface="微软雅黑"/>
              </a:rPr>
              <a:t>两个主体，一个铰链</a:t>
            </a:r>
          </a:p>
        </p:txBody>
      </p:sp>
      <p:sp>
        <p:nvSpPr>
          <p:cNvPr id="11" name="TextBox 10"/>
          <p:cNvSpPr txBox="1"/>
          <p:nvPr/>
        </p:nvSpPr>
        <p:spPr>
          <a:xfrm>
            <a:off x="5431536" y="2542032"/>
            <a:ext cx="5486400" cy="566928"/>
          </a:xfrm>
          <a:prstGeom prst="rect">
            <a:avLst/>
          </a:prstGeom>
          <a:noFill/>
        </p:spPr>
        <p:txBody>
          <a:bodyPr wrap="square" lIns="0" rIns="0" tIns="0" bIns="0" anchor="t">
            <a:spAutoFit/>
          </a:bodyPr>
          <a:lstStyle/>
          <a:p>
            <a:pPr algn="l">
              <a:lnSpc>
                <a:spcPct val="115000"/>
              </a:lnSpc>
              <a:spcBef>
                <a:spcPts val="0"/>
              </a:spcBef>
              <a:spcAft>
                <a:spcPts val="0"/>
              </a:spcAft>
            </a:pPr>
            <a:r>
              <a:rPr sz="880" b="0">
                <a:solidFill>
                  <a:srgbClr val="5A6B7B"/>
                </a:solidFill>
                <a:latin typeface="微软雅黑"/>
                <a:ea typeface="微软雅黑"/>
              </a:rPr>
              <a:t>录用之前只有会员和公司两个实体；application 是</a:t>
            </a:r>
          </a:p>
          <a:p>
            <a:pPr algn="l">
              <a:lnSpc>
                <a:spcPct val="115000"/>
              </a:lnSpc>
              <a:spcBef>
                <a:spcPts val="0"/>
              </a:spcBef>
              <a:spcAft>
                <a:spcPts val="0"/>
              </a:spcAft>
            </a:pPr>
            <a:r>
              <a:rPr sz="880" b="0">
                <a:solidFill>
                  <a:srgbClr val="5A6B7B"/>
                </a:solidFill>
                <a:latin typeface="微软雅黑"/>
                <a:ea typeface="微软雅黑"/>
              </a:rPr>
              <a:t>记录两者相遇的关联实体。</a:t>
            </a:r>
          </a:p>
        </p:txBody>
      </p:sp>
      <p:sp>
        <p:nvSpPr>
          <p:cNvPr id="12" name="TextBox 11"/>
          <p:cNvSpPr txBox="1"/>
          <p:nvPr/>
        </p:nvSpPr>
        <p:spPr>
          <a:xfrm>
            <a:off x="5230368" y="3163824"/>
            <a:ext cx="128016"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a:t>
            </a:r>
          </a:p>
        </p:txBody>
      </p:sp>
      <p:sp>
        <p:nvSpPr>
          <p:cNvPr id="13" name="TextBox 12"/>
          <p:cNvSpPr txBox="1"/>
          <p:nvPr/>
        </p:nvSpPr>
        <p:spPr>
          <a:xfrm>
            <a:off x="5431536" y="3145536"/>
            <a:ext cx="5394960"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a:solidFill>
                  <a:srgbClr val="0E2A47"/>
                </a:solidFill>
                <a:latin typeface="微软雅黑"/>
                <a:ea typeface="微软雅黑"/>
              </a:rPr>
              <a:t>当前雇主是推出来的</a:t>
            </a:r>
          </a:p>
        </p:txBody>
      </p:sp>
      <p:sp>
        <p:nvSpPr>
          <p:cNvPr id="14" name="TextBox 13"/>
          <p:cNvSpPr txBox="1"/>
          <p:nvPr/>
        </p:nvSpPr>
        <p:spPr>
          <a:xfrm>
            <a:off x="5431536" y="3401568"/>
            <a:ext cx="5486400" cy="566928"/>
          </a:xfrm>
          <a:prstGeom prst="rect">
            <a:avLst/>
          </a:prstGeom>
          <a:noFill/>
        </p:spPr>
        <p:txBody>
          <a:bodyPr wrap="square" lIns="0" rIns="0" tIns="0" bIns="0" anchor="t">
            <a:spAutoFit/>
          </a:bodyPr>
          <a:lstStyle/>
          <a:p>
            <a:pPr algn="l">
              <a:lnSpc>
                <a:spcPct val="115000"/>
              </a:lnSpc>
              <a:spcBef>
                <a:spcPts val="0"/>
              </a:spcBef>
              <a:spcAft>
                <a:spcPts val="0"/>
              </a:spcAft>
            </a:pPr>
            <a:r>
              <a:rPr sz="880" b="0">
                <a:solidFill>
                  <a:srgbClr val="5A6B7B"/>
                </a:solidFill>
                <a:latin typeface="微软雅黑"/>
                <a:ea typeface="微软雅黑"/>
              </a:rPr>
              <a:t>没有 member.current_company_id：experience.is_current 加一个</a:t>
            </a:r>
          </a:p>
          <a:p>
            <a:pPr algn="l">
              <a:lnSpc>
                <a:spcPct val="115000"/>
              </a:lnSpc>
              <a:spcBef>
                <a:spcPts val="0"/>
              </a:spcBef>
              <a:spcAft>
                <a:spcPts val="0"/>
              </a:spcAft>
            </a:pPr>
            <a:r>
              <a:rPr sz="880" b="0">
                <a:solidFill>
                  <a:srgbClr val="5A6B7B"/>
                </a:solidFill>
                <a:latin typeface="微软雅黑"/>
                <a:ea typeface="微软雅黑"/>
              </a:rPr>
              <a:t>生成列上的唯一索引，保证每人只有一段在职经历。</a:t>
            </a:r>
          </a:p>
        </p:txBody>
      </p:sp>
      <p:sp>
        <p:nvSpPr>
          <p:cNvPr id="15" name="TextBox 14"/>
          <p:cNvSpPr txBox="1"/>
          <p:nvPr/>
        </p:nvSpPr>
        <p:spPr>
          <a:xfrm>
            <a:off x="5230368" y="4023360"/>
            <a:ext cx="128016"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a:t>
            </a:r>
          </a:p>
        </p:txBody>
      </p:sp>
      <p:sp>
        <p:nvSpPr>
          <p:cNvPr id="16" name="TextBox 15"/>
          <p:cNvSpPr txBox="1"/>
          <p:nvPr/>
        </p:nvSpPr>
        <p:spPr>
          <a:xfrm>
            <a:off x="5431536" y="4005072"/>
            <a:ext cx="5394960"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a:solidFill>
                  <a:srgbClr val="0E2A47"/>
                </a:solidFill>
                <a:latin typeface="微软雅黑"/>
                <a:ea typeface="微软雅黑"/>
              </a:rPr>
              <a:t>技能是关系，不是文本</a:t>
            </a:r>
          </a:p>
        </p:txBody>
      </p:sp>
      <p:sp>
        <p:nvSpPr>
          <p:cNvPr id="17" name="TextBox 16"/>
          <p:cNvSpPr txBox="1"/>
          <p:nvPr/>
        </p:nvSpPr>
        <p:spPr>
          <a:xfrm>
            <a:off x="5431536" y="4261104"/>
            <a:ext cx="5486400" cy="566928"/>
          </a:xfrm>
          <a:prstGeom prst="rect">
            <a:avLst/>
          </a:prstGeom>
          <a:noFill/>
        </p:spPr>
        <p:txBody>
          <a:bodyPr wrap="square" lIns="0" rIns="0" tIns="0" bIns="0" anchor="t">
            <a:spAutoFit/>
          </a:bodyPr>
          <a:lstStyle/>
          <a:p>
            <a:pPr algn="l">
              <a:lnSpc>
                <a:spcPct val="115000"/>
              </a:lnSpc>
              <a:spcBef>
                <a:spcPts val="0"/>
              </a:spcBef>
              <a:spcAft>
                <a:spcPts val="0"/>
              </a:spcAft>
            </a:pPr>
            <a:r>
              <a:rPr sz="880" b="0">
                <a:solidFill>
                  <a:srgbClr val="5A6B7B"/>
                </a:solidFill>
                <a:latin typeface="微软雅黑"/>
                <a:ea typeface="微软雅黑"/>
              </a:rPr>
              <a:t>member_skill 与 job_skill 带熟练度和重要性，</a:t>
            </a:r>
          </a:p>
          <a:p>
            <a:pPr algn="l">
              <a:lnSpc>
                <a:spcPct val="115000"/>
              </a:lnSpc>
              <a:spcBef>
                <a:spcPts val="0"/>
              </a:spcBef>
              <a:spcAft>
                <a:spcPts val="0"/>
              </a:spcAft>
            </a:pPr>
            <a:r>
              <a:rPr sz="880" b="0">
                <a:solidFill>
                  <a:srgbClr val="5A6B7B"/>
                </a:solidFill>
                <a:latin typeface="微软雅黑"/>
                <a:ea typeface="微软雅黑"/>
              </a:rPr>
              <a:t>关键词才变成可计算的匹配度。</a:t>
            </a:r>
          </a:p>
        </p:txBody>
      </p:sp>
      <p:sp>
        <p:nvSpPr>
          <p:cNvPr id="18" name="TextBox 17"/>
          <p:cNvSpPr txBox="1"/>
          <p:nvPr/>
        </p:nvSpPr>
        <p:spPr>
          <a:xfrm>
            <a:off x="5230368" y="4882896"/>
            <a:ext cx="128016" cy="219456"/>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A66C2"/>
                </a:solidFill>
                <a:latin typeface="Segoe UI"/>
              </a:rPr>
              <a:t>—</a:t>
            </a:r>
          </a:p>
        </p:txBody>
      </p:sp>
      <p:sp>
        <p:nvSpPr>
          <p:cNvPr id="19" name="TextBox 18"/>
          <p:cNvSpPr txBox="1"/>
          <p:nvPr/>
        </p:nvSpPr>
        <p:spPr>
          <a:xfrm>
            <a:off x="5431536" y="4864608"/>
            <a:ext cx="5394960"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a:solidFill>
                  <a:srgbClr val="0E2A47"/>
                </a:solidFill>
                <a:latin typeface="微软雅黑"/>
                <a:ea typeface="微软雅黑"/>
              </a:rPr>
              <a:t>内推与申请是 1:1</a:t>
            </a:r>
          </a:p>
        </p:txBody>
      </p:sp>
      <p:sp>
        <p:nvSpPr>
          <p:cNvPr id="20" name="TextBox 19"/>
          <p:cNvSpPr txBox="1"/>
          <p:nvPr/>
        </p:nvSpPr>
        <p:spPr>
          <a:xfrm>
            <a:off x="5431536" y="5120640"/>
            <a:ext cx="5486400" cy="566928"/>
          </a:xfrm>
          <a:prstGeom prst="rect">
            <a:avLst/>
          </a:prstGeom>
          <a:noFill/>
        </p:spPr>
        <p:txBody>
          <a:bodyPr wrap="square" lIns="0" rIns="0" tIns="0" bIns="0" anchor="t">
            <a:spAutoFit/>
          </a:bodyPr>
          <a:lstStyle/>
          <a:p>
            <a:pPr algn="l">
              <a:lnSpc>
                <a:spcPct val="115000"/>
              </a:lnSpc>
              <a:spcBef>
                <a:spcPts val="0"/>
              </a:spcBef>
              <a:spcAft>
                <a:spcPts val="0"/>
              </a:spcAft>
            </a:pPr>
            <a:r>
              <a:rPr sz="880" b="0">
                <a:solidFill>
                  <a:srgbClr val="5A6B7B"/>
                </a:solidFill>
                <a:latin typeface="微软雅黑"/>
                <a:ea typeface="微软雅黑"/>
              </a:rPr>
              <a:t>内推表只存推荐人和奖金；候选人与职位</a:t>
            </a:r>
          </a:p>
          <a:p>
            <a:pPr algn="l">
              <a:lnSpc>
                <a:spcPct val="115000"/>
              </a:lnSpc>
              <a:spcBef>
                <a:spcPts val="0"/>
              </a:spcBef>
              <a:spcAft>
                <a:spcPts val="0"/>
              </a:spcAft>
            </a:pPr>
            <a:r>
              <a:rPr sz="880" b="0">
                <a:solidFill>
                  <a:srgbClr val="5A6B7B"/>
                </a:solidFill>
                <a:latin typeface="微软雅黑"/>
                <a:ea typeface="微软雅黑"/>
              </a:rPr>
              <a:t>都从申请读，因此不可能互相矛盾。</a:t>
            </a:r>
          </a:p>
        </p:txBody>
      </p:sp>
      <p:sp>
        <p:nvSpPr>
          <p:cNvPr id="21" name="Rounded Rectangle 20"/>
          <p:cNvSpPr/>
          <p:nvPr/>
        </p:nvSpPr>
        <p:spPr>
          <a:xfrm>
            <a:off x="5230368" y="5687568"/>
            <a:ext cx="1298448"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22" name="TextBox 21"/>
          <p:cNvSpPr txBox="1"/>
          <p:nvPr/>
        </p:nvSpPr>
        <p:spPr>
          <a:xfrm>
            <a:off x="5431536" y="5760720"/>
            <a:ext cx="1024127"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12</a:t>
            </a:r>
          </a:p>
        </p:txBody>
      </p:sp>
      <p:sp>
        <p:nvSpPr>
          <p:cNvPr id="23" name="TextBox 22"/>
          <p:cNvSpPr txBox="1"/>
          <p:nvPr/>
        </p:nvSpPr>
        <p:spPr>
          <a:xfrm>
            <a:off x="5431536" y="6089904"/>
            <a:ext cx="1024127"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关 系 表</a:t>
            </a:r>
          </a:p>
        </p:txBody>
      </p:sp>
      <p:sp>
        <p:nvSpPr>
          <p:cNvPr id="24" name="Rounded Rectangle 23"/>
          <p:cNvSpPr/>
          <p:nvPr/>
        </p:nvSpPr>
        <p:spPr>
          <a:xfrm>
            <a:off x="6620256" y="5687568"/>
            <a:ext cx="1298448"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25" name="TextBox 24"/>
          <p:cNvSpPr txBox="1"/>
          <p:nvPr/>
        </p:nvSpPr>
        <p:spPr>
          <a:xfrm>
            <a:off x="6821424" y="5760720"/>
            <a:ext cx="1024127"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17</a:t>
            </a:r>
          </a:p>
        </p:txBody>
      </p:sp>
      <p:sp>
        <p:nvSpPr>
          <p:cNvPr id="26" name="TextBox 25"/>
          <p:cNvSpPr txBox="1"/>
          <p:nvPr/>
        </p:nvSpPr>
        <p:spPr>
          <a:xfrm>
            <a:off x="6821424" y="6089904"/>
            <a:ext cx="1024127"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外 键</a:t>
            </a:r>
          </a:p>
        </p:txBody>
      </p:sp>
      <p:sp>
        <p:nvSpPr>
          <p:cNvPr id="27" name="Rounded Rectangle 26"/>
          <p:cNvSpPr/>
          <p:nvPr/>
        </p:nvSpPr>
        <p:spPr>
          <a:xfrm>
            <a:off x="8010144" y="5687568"/>
            <a:ext cx="1298448"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28" name="TextBox 27"/>
          <p:cNvSpPr txBox="1"/>
          <p:nvPr/>
        </p:nvSpPr>
        <p:spPr>
          <a:xfrm>
            <a:off x="8211312" y="5760720"/>
            <a:ext cx="1024127"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25</a:t>
            </a:r>
          </a:p>
        </p:txBody>
      </p:sp>
      <p:sp>
        <p:nvSpPr>
          <p:cNvPr id="29" name="TextBox 28"/>
          <p:cNvSpPr txBox="1"/>
          <p:nvPr/>
        </p:nvSpPr>
        <p:spPr>
          <a:xfrm>
            <a:off x="8211312" y="6089904"/>
            <a:ext cx="1024127"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CHECK</a:t>
            </a:r>
          </a:p>
        </p:txBody>
      </p:sp>
      <p:sp>
        <p:nvSpPr>
          <p:cNvPr id="30" name="Rounded Rectangle 29"/>
          <p:cNvSpPr/>
          <p:nvPr/>
        </p:nvSpPr>
        <p:spPr>
          <a:xfrm>
            <a:off x="9400032" y="5687568"/>
            <a:ext cx="14173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31" name="TextBox 30"/>
          <p:cNvSpPr txBox="1"/>
          <p:nvPr/>
        </p:nvSpPr>
        <p:spPr>
          <a:xfrm>
            <a:off x="9601200" y="5760720"/>
            <a:ext cx="11430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3NF</a:t>
            </a:r>
          </a:p>
        </p:txBody>
      </p:sp>
      <p:sp>
        <p:nvSpPr>
          <p:cNvPr id="32" name="TextBox 31"/>
          <p:cNvSpPr txBox="1"/>
          <p:nvPr/>
        </p:nvSpPr>
        <p:spPr>
          <a:xfrm>
            <a:off x="9601200" y="6089904"/>
            <a:ext cx="11430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逐 表 证 明</a:t>
            </a:r>
          </a:p>
        </p:txBody>
      </p:sp>
      <p:sp>
        <p:nvSpPr>
          <p:cNvPr id="33" name="Rectangle 32"/>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34" name="TextBox 33"/>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35" name="TextBox 34"/>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05  ·  模 块 A</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身份：一个人，周围四条记录</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档案、学历、经历与关系图——职位出现之前，产品所知道的一切。</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pic>
        <p:nvPicPr>
          <p:cNvPr id="6" name="Picture 5" descr="ERD_module_identity.png"/>
          <p:cNvPicPr>
            <a:picLocks noChangeAspect="1"/>
          </p:cNvPicPr>
          <p:nvPr/>
        </p:nvPicPr>
        <p:blipFill>
          <a:blip r:embed="rId2"/>
          <a:stretch>
            <a:fillRect/>
          </a:stretch>
        </p:blipFill>
        <p:spPr>
          <a:xfrm>
            <a:off x="685800" y="2048256"/>
            <a:ext cx="6903720" cy="3473570"/>
          </a:xfrm>
          <a:prstGeom prst="rect">
            <a:avLst/>
          </a:prstGeom>
        </p:spPr>
      </p:pic>
      <p:sp>
        <p:nvSpPr>
          <p:cNvPr id="7" name="TextBox 6"/>
          <p:cNvSpPr txBox="1"/>
          <p:nvPr/>
        </p:nvSpPr>
        <p:spPr>
          <a:xfrm>
            <a:off x="685800" y="5504688"/>
            <a:ext cx="6903720" cy="164592"/>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Segoe UI"/>
              </a:rPr>
              <a:t>ERD_module_identity</a:t>
            </a:r>
          </a:p>
        </p:txBody>
      </p:sp>
      <p:sp>
        <p:nvSpPr>
          <p:cNvPr id="8" name="Rounded Rectangle 7"/>
          <p:cNvSpPr/>
          <p:nvPr/>
        </p:nvSpPr>
        <p:spPr>
          <a:xfrm>
            <a:off x="7882127" y="2029968"/>
            <a:ext cx="3611880" cy="3931920"/>
          </a:xfrm>
          <a:prstGeom prst="roundRect">
            <a:avLst>
              <a:gd name="adj" fmla="val 3000"/>
            </a:avLst>
          </a:prstGeom>
          <a:solidFill>
            <a:srgbClr val="F3F7FA"/>
          </a:solidFill>
          <a:ln>
            <a:noFill/>
          </a:ln>
          <a:effectLst/>
        </p:spPr>
        <p:txBody>
          <a:bodyPr rtlCol="0" anchor="ctr" wrap="square" lIns="0" rIns="0" tIns="0" bIns="0"/>
          <a:lstStyle/>
          <a:p>
            <a:pPr algn="ctr"/>
          </a:p>
        </p:txBody>
      </p:sp>
      <p:sp>
        <p:nvSpPr>
          <p:cNvPr id="9" name="TextBox 8"/>
          <p:cNvSpPr txBox="1"/>
          <p:nvPr/>
        </p:nvSpPr>
        <p:spPr>
          <a:xfrm>
            <a:off x="8138159" y="2194560"/>
            <a:ext cx="31089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微软雅黑"/>
                <a:ea typeface="微软雅黑"/>
              </a:rPr>
              <a:t>唯 一 一 个 真 正 的 决 定</a:t>
            </a:r>
          </a:p>
        </p:txBody>
      </p:sp>
      <p:sp>
        <p:nvSpPr>
          <p:cNvPr id="10" name="TextBox 9"/>
          <p:cNvSpPr txBox="1"/>
          <p:nvPr/>
        </p:nvSpPr>
        <p:spPr>
          <a:xfrm>
            <a:off x="8138159" y="2450592"/>
            <a:ext cx="3108960"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a:solidFill>
                  <a:srgbClr val="0E2A47"/>
                </a:solidFill>
                <a:latin typeface="微软雅黑"/>
                <a:ea typeface="微软雅黑"/>
              </a:rPr>
              <a:t>不设</a:t>
            </a:r>
          </a:p>
          <a:p>
            <a:pPr algn="l">
              <a:lnSpc>
                <a:spcPct val="110000"/>
              </a:lnSpc>
              <a:spcBef>
                <a:spcPts val="0"/>
              </a:spcBef>
              <a:spcAft>
                <a:spcPts val="0"/>
              </a:spcAft>
            </a:pPr>
            <a:r>
              <a:rPr sz="1250" b="1">
                <a:solidFill>
                  <a:srgbClr val="0E2A47"/>
                </a:solidFill>
                <a:latin typeface="微软雅黑"/>
                <a:ea typeface="微软雅黑"/>
              </a:rPr>
              <a:t>当前雇主列</a:t>
            </a:r>
          </a:p>
        </p:txBody>
      </p:sp>
      <p:sp>
        <p:nvSpPr>
          <p:cNvPr id="11" name="TextBox 10"/>
          <p:cNvSpPr txBox="1"/>
          <p:nvPr/>
        </p:nvSpPr>
        <p:spPr>
          <a:xfrm>
            <a:off x="8138159" y="3072384"/>
            <a:ext cx="3127248" cy="1600200"/>
          </a:xfrm>
          <a:prstGeom prst="rect">
            <a:avLst/>
          </a:prstGeom>
          <a:noFill/>
        </p:spPr>
        <p:txBody>
          <a:bodyPr wrap="square" lIns="0" rIns="0" tIns="0" bIns="0" anchor="t">
            <a:spAutoFit/>
          </a:bodyPr>
          <a:lstStyle/>
          <a:p>
            <a:pPr algn="l">
              <a:lnSpc>
                <a:spcPct val="122000"/>
              </a:lnSpc>
              <a:spcBef>
                <a:spcPts val="0"/>
              </a:spcBef>
              <a:spcAft>
                <a:spcPts val="0"/>
              </a:spcAft>
            </a:pPr>
            <a:r>
              <a:rPr sz="860" b="0">
                <a:solidFill>
                  <a:srgbClr val="5A6B7B"/>
                </a:solidFill>
                <a:latin typeface="微软雅黑"/>
                <a:ea typeface="微软雅黑"/>
              </a:rPr>
              <a:t>它已经被 experience 隐含了。两者都存会造出数据库管不了的冗余：两行、一个事实、改一次就悄悄不一致。</a:t>
            </a:r>
          </a:p>
        </p:txBody>
      </p:sp>
      <p:sp>
        <p:nvSpPr>
          <p:cNvPr id="12" name="Rectangle 11"/>
          <p:cNvSpPr/>
          <p:nvPr/>
        </p:nvSpPr>
        <p:spPr>
          <a:xfrm>
            <a:off x="8138159" y="4041648"/>
            <a:ext cx="3108960" cy="9144"/>
          </a:xfrm>
          <a:prstGeom prst="rect">
            <a:avLst/>
          </a:prstGeom>
          <a:solidFill>
            <a:srgbClr val="D8E0E8"/>
          </a:solidFill>
          <a:ln>
            <a:noFill/>
          </a:ln>
          <a:effectLst/>
        </p:spPr>
        <p:txBody>
          <a:bodyPr rtlCol="0" anchor="ctr" wrap="square" lIns="0" rIns="0" tIns="0" bIns="0"/>
          <a:lstStyle/>
          <a:p>
            <a:pPr algn="ctr"/>
          </a:p>
        </p:txBody>
      </p:sp>
      <p:sp>
        <p:nvSpPr>
          <p:cNvPr id="13" name="TextBox 12"/>
          <p:cNvSpPr txBox="1"/>
          <p:nvPr/>
        </p:nvSpPr>
        <p:spPr>
          <a:xfrm>
            <a:off x="8138159" y="4151376"/>
            <a:ext cx="3072384"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微软雅黑"/>
                <a:ea typeface="微软雅黑"/>
              </a:rPr>
              <a:t>改 用</a:t>
            </a:r>
          </a:p>
        </p:txBody>
      </p:sp>
      <p:sp>
        <p:nvSpPr>
          <p:cNvPr id="14" name="TextBox 13"/>
          <p:cNvSpPr txBox="1"/>
          <p:nvPr/>
        </p:nvSpPr>
        <p:spPr>
          <a:xfrm>
            <a:off x="8138159" y="4389120"/>
            <a:ext cx="3127248" cy="868680"/>
          </a:xfrm>
          <a:prstGeom prst="rect">
            <a:avLst/>
          </a:prstGeom>
          <a:noFill/>
        </p:spPr>
        <p:txBody>
          <a:bodyPr wrap="square" lIns="0" rIns="0" tIns="0" bIns="0" anchor="t">
            <a:spAutoFit/>
          </a:bodyPr>
          <a:lstStyle/>
          <a:p>
            <a:pPr algn="l">
              <a:lnSpc>
                <a:spcPct val="120000"/>
              </a:lnSpc>
              <a:spcBef>
                <a:spcPts val="0"/>
              </a:spcBef>
              <a:spcAft>
                <a:spcPts val="0"/>
              </a:spcAft>
            </a:pPr>
            <a:r>
              <a:rPr sz="840" b="0">
                <a:solidFill>
                  <a:srgbClr val="0A66C2"/>
                </a:solidFill>
                <a:latin typeface="Segoe UI"/>
              </a:rPr>
              <a:t>is_current = 1</a:t>
            </a:r>
          </a:p>
          <a:p>
            <a:pPr algn="l">
              <a:lnSpc>
                <a:spcPct val="120000"/>
              </a:lnSpc>
              <a:spcBef>
                <a:spcPts val="0"/>
              </a:spcBef>
              <a:spcAft>
                <a:spcPts val="0"/>
              </a:spcAft>
            </a:pPr>
            <a:r>
              <a:rPr sz="840" b="0">
                <a:solidFill>
                  <a:srgbClr val="0A66C2"/>
                </a:solidFill>
                <a:latin typeface="微软雅黑"/>
                <a:ea typeface="微软雅黑"/>
              </a:rPr>
              <a:t>+ 生成列上的唯一索引</a:t>
            </a:r>
          </a:p>
          <a:p>
            <a:pPr algn="l">
              <a:lnSpc>
                <a:spcPct val="120000"/>
              </a:lnSpc>
              <a:spcBef>
                <a:spcPts val="0"/>
              </a:spcBef>
              <a:spcAft>
                <a:spcPts val="0"/>
              </a:spcAft>
            </a:pPr>
            <a:r>
              <a:rPr sz="840" b="0">
                <a:solidFill>
                  <a:srgbClr val="0A66C2"/>
                </a:solidFill>
                <a:latin typeface="微软雅黑"/>
                <a:ea typeface="微软雅黑"/>
              </a:rPr>
              <a:t>→ 最多一段在职</a:t>
            </a:r>
          </a:p>
        </p:txBody>
      </p:sp>
      <p:sp>
        <p:nvSpPr>
          <p:cNvPr id="15" name="Rectangle 14"/>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16" name="TextBox 15"/>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17" name="TextBox 16"/>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06  ·  模 块 B 与 C</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需求与决策：两半在此相接</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职位是对技能的请求；申请是对它的回答。</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pic>
        <p:nvPicPr>
          <p:cNvPr id="6" name="Picture 5" descr="ERD_module_demand.png"/>
          <p:cNvPicPr>
            <a:picLocks noChangeAspect="1"/>
          </p:cNvPicPr>
          <p:nvPr/>
        </p:nvPicPr>
        <p:blipFill>
          <a:blip r:embed="rId2"/>
          <a:stretch>
            <a:fillRect/>
          </a:stretch>
        </p:blipFill>
        <p:spPr>
          <a:xfrm>
            <a:off x="685800" y="2084831"/>
            <a:ext cx="5349240" cy="3036686"/>
          </a:xfrm>
          <a:prstGeom prst="rect">
            <a:avLst/>
          </a:prstGeom>
        </p:spPr>
      </p:pic>
      <p:sp>
        <p:nvSpPr>
          <p:cNvPr id="7" name="TextBox 6"/>
          <p:cNvSpPr txBox="1"/>
          <p:nvPr/>
        </p:nvSpPr>
        <p:spPr>
          <a:xfrm>
            <a:off x="685800" y="5230368"/>
            <a:ext cx="5349240" cy="182880"/>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ERD_module_demand —— 公司、职位、技能</a:t>
            </a:r>
          </a:p>
        </p:txBody>
      </p:sp>
      <p:sp>
        <p:nvSpPr>
          <p:cNvPr id="8" name="TextBox 7"/>
          <p:cNvSpPr txBox="1"/>
          <p:nvPr/>
        </p:nvSpPr>
        <p:spPr>
          <a:xfrm>
            <a:off x="685800" y="5468112"/>
            <a:ext cx="5349240" cy="868680"/>
          </a:xfrm>
          <a:prstGeom prst="rect">
            <a:avLst/>
          </a:prstGeom>
          <a:noFill/>
        </p:spPr>
        <p:txBody>
          <a:bodyPr wrap="square" lIns="0" rIns="0" tIns="0" bIns="0" anchor="t">
            <a:spAutoFit/>
          </a:bodyPr>
          <a:lstStyle/>
          <a:p>
            <a:pPr algn="l">
              <a:lnSpc>
                <a:spcPct val="120000"/>
              </a:lnSpc>
              <a:spcBef>
                <a:spcPts val="0"/>
              </a:spcBef>
              <a:spcAft>
                <a:spcPts val="0"/>
              </a:spcAft>
            </a:pPr>
            <a:r>
              <a:rPr sz="860" b="0">
                <a:solidFill>
                  <a:srgbClr val="5A6B7B"/>
                </a:solidFill>
                <a:latin typeface="微软雅黑"/>
                <a:ea typeface="微软雅黑"/>
              </a:rPr>
              <a:t>重要性挂在“职位-技能”这一对上，不在技能本身：同一个技能此处 REQUIRED、</a:t>
            </a:r>
          </a:p>
          <a:p>
            <a:pPr algn="l">
              <a:lnSpc>
                <a:spcPct val="120000"/>
              </a:lnSpc>
              <a:spcBef>
                <a:spcPts val="0"/>
              </a:spcBef>
              <a:spcAft>
                <a:spcPts val="0"/>
              </a:spcAft>
            </a:pPr>
            <a:r>
              <a:rPr sz="860" b="0">
                <a:solidFill>
                  <a:srgbClr val="5A6B7B"/>
                </a:solidFill>
                <a:latin typeface="微软雅黑"/>
                <a:ea typeface="微软雅黑"/>
              </a:rPr>
              <a:t>彼处 PREFERRED。正是这一个属性，让匹配度站得住。</a:t>
            </a:r>
          </a:p>
        </p:txBody>
      </p:sp>
      <p:pic>
        <p:nvPicPr>
          <p:cNvPr id="9" name="Picture 8" descr="ERD_module_hiring_loop.png"/>
          <p:cNvPicPr>
            <a:picLocks noChangeAspect="1"/>
          </p:cNvPicPr>
          <p:nvPr/>
        </p:nvPicPr>
        <p:blipFill>
          <a:blip r:embed="rId3"/>
          <a:stretch>
            <a:fillRect/>
          </a:stretch>
        </p:blipFill>
        <p:spPr>
          <a:xfrm>
            <a:off x="6355080" y="2084831"/>
            <a:ext cx="5166360" cy="3083272"/>
          </a:xfrm>
          <a:prstGeom prst="rect">
            <a:avLst/>
          </a:prstGeom>
        </p:spPr>
      </p:pic>
      <p:sp>
        <p:nvSpPr>
          <p:cNvPr id="10" name="TextBox 9"/>
          <p:cNvSpPr txBox="1"/>
          <p:nvPr/>
        </p:nvSpPr>
        <p:spPr>
          <a:xfrm>
            <a:off x="6355080" y="5230368"/>
            <a:ext cx="5166360" cy="182880"/>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ERD_module_hiring_loop —— 申请、面试、内推</a:t>
            </a:r>
          </a:p>
        </p:txBody>
      </p:sp>
      <p:sp>
        <p:nvSpPr>
          <p:cNvPr id="11" name="TextBox 10"/>
          <p:cNvSpPr txBox="1"/>
          <p:nvPr/>
        </p:nvSpPr>
        <p:spPr>
          <a:xfrm>
            <a:off x="6355080" y="5468112"/>
            <a:ext cx="5166360" cy="868680"/>
          </a:xfrm>
          <a:prstGeom prst="rect">
            <a:avLst/>
          </a:prstGeom>
          <a:noFill/>
        </p:spPr>
        <p:txBody>
          <a:bodyPr wrap="square" lIns="0" rIns="0" tIns="0" bIns="0" anchor="t">
            <a:spAutoFit/>
          </a:bodyPr>
          <a:lstStyle/>
          <a:p>
            <a:pPr algn="l">
              <a:lnSpc>
                <a:spcPct val="120000"/>
              </a:lnSpc>
              <a:spcBef>
                <a:spcPts val="0"/>
              </a:spcBef>
              <a:spcAft>
                <a:spcPts val="0"/>
              </a:spcAft>
            </a:pPr>
            <a:r>
              <a:rPr sz="860" b="0">
                <a:solidFill>
                  <a:srgbClr val="5A6B7B"/>
                </a:solidFill>
                <a:latin typeface="微软雅黑"/>
                <a:ea typeface="微软雅黑"/>
              </a:rPr>
              <a:t>面试按申请编号，不按职位；内推与它所对应的申请</a:t>
            </a:r>
          </a:p>
          <a:p>
            <a:pPr algn="l">
              <a:lnSpc>
                <a:spcPct val="120000"/>
              </a:lnSpc>
              <a:spcBef>
                <a:spcPts val="0"/>
              </a:spcBef>
              <a:spcAft>
                <a:spcPts val="0"/>
              </a:spcAft>
            </a:pPr>
            <a:r>
              <a:rPr sz="860" b="0">
                <a:solidFill>
                  <a:srgbClr val="5A6B7B"/>
                </a:solidFill>
                <a:latin typeface="微软雅黑"/>
                <a:ea typeface="微软雅黑"/>
              </a:rPr>
              <a:t>是 1:1，所以它的候选人和职位不会与之矛盾。</a:t>
            </a:r>
          </a:p>
        </p:txBody>
      </p:sp>
      <p:sp>
        <p:nvSpPr>
          <p:cNvPr id="12" name="Rectangle 11"/>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13" name="TextBox 12"/>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14" name="TextBox 13"/>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07  ·  这 些 表</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十二张表，三组，各有一个用途</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行数是种子数据的量：够看出分布，也够手工核对。</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2029968"/>
            <a:ext cx="3063239"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微软雅黑"/>
                <a:ea typeface="微软雅黑"/>
              </a:rPr>
              <a:t>身 份   ·   4 张表</a:t>
            </a:r>
          </a:p>
        </p:txBody>
      </p:sp>
      <p:sp>
        <p:nvSpPr>
          <p:cNvPr id="7" name="Rounded Rectangle 6"/>
          <p:cNvSpPr/>
          <p:nvPr/>
        </p:nvSpPr>
        <p:spPr>
          <a:xfrm>
            <a:off x="685800" y="2286000"/>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8" name="TextBox 7"/>
          <p:cNvSpPr txBox="1"/>
          <p:nvPr/>
        </p:nvSpPr>
        <p:spPr>
          <a:xfrm>
            <a:off x="832104" y="2368296"/>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member</a:t>
            </a:r>
          </a:p>
        </p:txBody>
      </p:sp>
      <p:sp>
        <p:nvSpPr>
          <p:cNvPr id="9" name="TextBox 8"/>
          <p:cNvSpPr txBox="1"/>
          <p:nvPr/>
        </p:nvSpPr>
        <p:spPr>
          <a:xfrm>
            <a:off x="3035808" y="2368296"/>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300</a:t>
            </a:r>
          </a:p>
        </p:txBody>
      </p:sp>
      <p:sp>
        <p:nvSpPr>
          <p:cNvPr id="10" name="TextBox 9"/>
          <p:cNvSpPr txBox="1"/>
          <p:nvPr/>
        </p:nvSpPr>
        <p:spPr>
          <a:xfrm>
            <a:off x="832104" y="2615184"/>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微软雅黑"/>
                <a:ea typeface="微软雅黑"/>
              </a:rPr>
              <a:t>人；角色是关系，不是子类型</a:t>
            </a:r>
          </a:p>
        </p:txBody>
      </p:sp>
      <p:sp>
        <p:nvSpPr>
          <p:cNvPr id="11" name="Rounded Rectangle 10"/>
          <p:cNvSpPr/>
          <p:nvPr/>
        </p:nvSpPr>
        <p:spPr>
          <a:xfrm>
            <a:off x="685800" y="3072384"/>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12" name="TextBox 11"/>
          <p:cNvSpPr txBox="1"/>
          <p:nvPr/>
        </p:nvSpPr>
        <p:spPr>
          <a:xfrm>
            <a:off x="832104" y="3154679"/>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education</a:t>
            </a:r>
          </a:p>
        </p:txBody>
      </p:sp>
      <p:sp>
        <p:nvSpPr>
          <p:cNvPr id="13" name="TextBox 12"/>
          <p:cNvSpPr txBox="1"/>
          <p:nvPr/>
        </p:nvSpPr>
        <p:spPr>
          <a:xfrm>
            <a:off x="3035808" y="3154679"/>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393</a:t>
            </a:r>
          </a:p>
        </p:txBody>
      </p:sp>
      <p:sp>
        <p:nvSpPr>
          <p:cNvPr id="14" name="TextBox 13"/>
          <p:cNvSpPr txBox="1"/>
          <p:nvPr/>
        </p:nvSpPr>
        <p:spPr>
          <a:xfrm>
            <a:off x="832104" y="3401568"/>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微软雅黑"/>
                <a:ea typeface="微软雅黑"/>
              </a:rPr>
              <a:t>学历，从 member 来 1:N</a:t>
            </a:r>
          </a:p>
        </p:txBody>
      </p:sp>
      <p:sp>
        <p:nvSpPr>
          <p:cNvPr id="15" name="Rounded Rectangle 14"/>
          <p:cNvSpPr/>
          <p:nvPr/>
        </p:nvSpPr>
        <p:spPr>
          <a:xfrm>
            <a:off x="685800" y="3858768"/>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16" name="TextBox 15"/>
          <p:cNvSpPr txBox="1"/>
          <p:nvPr/>
        </p:nvSpPr>
        <p:spPr>
          <a:xfrm>
            <a:off x="832104" y="3941063"/>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experience</a:t>
            </a:r>
          </a:p>
        </p:txBody>
      </p:sp>
      <p:sp>
        <p:nvSpPr>
          <p:cNvPr id="17" name="TextBox 16"/>
          <p:cNvSpPr txBox="1"/>
          <p:nvPr/>
        </p:nvSpPr>
        <p:spPr>
          <a:xfrm>
            <a:off x="3035808" y="3941063"/>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492</a:t>
            </a:r>
          </a:p>
        </p:txBody>
      </p:sp>
      <p:sp>
        <p:nvSpPr>
          <p:cNvPr id="18" name="TextBox 17"/>
          <p:cNvSpPr txBox="1"/>
          <p:nvPr/>
        </p:nvSpPr>
        <p:spPr>
          <a:xfrm>
            <a:off x="832104" y="4187952"/>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微软雅黑"/>
                <a:ea typeface="微软雅黑"/>
              </a:rPr>
              <a:t>任职历史；每人只有一行在职</a:t>
            </a:r>
          </a:p>
        </p:txBody>
      </p:sp>
      <p:sp>
        <p:nvSpPr>
          <p:cNvPr id="19" name="Rounded Rectangle 18"/>
          <p:cNvSpPr/>
          <p:nvPr/>
        </p:nvSpPr>
        <p:spPr>
          <a:xfrm>
            <a:off x="685800" y="4645152"/>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20" name="TextBox 19"/>
          <p:cNvSpPr txBox="1"/>
          <p:nvPr/>
        </p:nvSpPr>
        <p:spPr>
          <a:xfrm>
            <a:off x="832104" y="4727448"/>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connection</a:t>
            </a:r>
          </a:p>
        </p:txBody>
      </p:sp>
      <p:sp>
        <p:nvSpPr>
          <p:cNvPr id="21" name="TextBox 20"/>
          <p:cNvSpPr txBox="1"/>
          <p:nvPr/>
        </p:nvSpPr>
        <p:spPr>
          <a:xfrm>
            <a:off x="3035808" y="4727448"/>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1 065</a:t>
            </a:r>
          </a:p>
        </p:txBody>
      </p:sp>
      <p:sp>
        <p:nvSpPr>
          <p:cNvPr id="22" name="TextBox 21"/>
          <p:cNvSpPr txBox="1"/>
          <p:nvPr/>
        </p:nvSpPr>
        <p:spPr>
          <a:xfrm>
            <a:off x="832104" y="4974336"/>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微软雅黑"/>
                <a:ea typeface="微软雅黑"/>
              </a:rPr>
              <a:t>无向社交边，只存一次</a:t>
            </a:r>
          </a:p>
        </p:txBody>
      </p:sp>
      <p:sp>
        <p:nvSpPr>
          <p:cNvPr id="23" name="TextBox 22"/>
          <p:cNvSpPr txBox="1"/>
          <p:nvPr/>
        </p:nvSpPr>
        <p:spPr>
          <a:xfrm>
            <a:off x="3931920" y="2029968"/>
            <a:ext cx="3063239"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微软雅黑"/>
                <a:ea typeface="微软雅黑"/>
              </a:rPr>
              <a:t>需 求   ·   3 张表</a:t>
            </a:r>
          </a:p>
        </p:txBody>
      </p:sp>
      <p:sp>
        <p:nvSpPr>
          <p:cNvPr id="24" name="Rounded Rectangle 23"/>
          <p:cNvSpPr/>
          <p:nvPr/>
        </p:nvSpPr>
        <p:spPr>
          <a:xfrm>
            <a:off x="3931920" y="2286000"/>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25" name="TextBox 24"/>
          <p:cNvSpPr txBox="1"/>
          <p:nvPr/>
        </p:nvSpPr>
        <p:spPr>
          <a:xfrm>
            <a:off x="4078224" y="2368296"/>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company</a:t>
            </a:r>
          </a:p>
        </p:txBody>
      </p:sp>
      <p:sp>
        <p:nvSpPr>
          <p:cNvPr id="26" name="TextBox 25"/>
          <p:cNvSpPr txBox="1"/>
          <p:nvPr/>
        </p:nvSpPr>
        <p:spPr>
          <a:xfrm>
            <a:off x="6281927" y="2368296"/>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60</a:t>
            </a:r>
          </a:p>
        </p:txBody>
      </p:sp>
      <p:sp>
        <p:nvSpPr>
          <p:cNvPr id="27" name="TextBox 26"/>
          <p:cNvSpPr txBox="1"/>
          <p:nvPr/>
        </p:nvSpPr>
        <p:spPr>
          <a:xfrm>
            <a:off x="4078224" y="2615184"/>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微软雅黑"/>
                <a:ea typeface="微软雅黑"/>
              </a:rPr>
              <a:t>雇主信息只写一次</a:t>
            </a:r>
          </a:p>
        </p:txBody>
      </p:sp>
      <p:sp>
        <p:nvSpPr>
          <p:cNvPr id="28" name="Rounded Rectangle 27"/>
          <p:cNvSpPr/>
          <p:nvPr/>
        </p:nvSpPr>
        <p:spPr>
          <a:xfrm>
            <a:off x="3931920" y="3072384"/>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29" name="TextBox 28"/>
          <p:cNvSpPr txBox="1"/>
          <p:nvPr/>
        </p:nvSpPr>
        <p:spPr>
          <a:xfrm>
            <a:off x="4078224" y="3154679"/>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job_posting</a:t>
            </a:r>
          </a:p>
        </p:txBody>
      </p:sp>
      <p:sp>
        <p:nvSpPr>
          <p:cNvPr id="30" name="TextBox 29"/>
          <p:cNvSpPr txBox="1"/>
          <p:nvPr/>
        </p:nvSpPr>
        <p:spPr>
          <a:xfrm>
            <a:off x="6281927" y="3154679"/>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120</a:t>
            </a:r>
          </a:p>
        </p:txBody>
      </p:sp>
      <p:sp>
        <p:nvSpPr>
          <p:cNvPr id="31" name="TextBox 30"/>
          <p:cNvSpPr txBox="1"/>
          <p:nvPr/>
        </p:nvSpPr>
        <p:spPr>
          <a:xfrm>
            <a:off x="4078224" y="3401568"/>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微软雅黑"/>
                <a:ea typeface="微软雅黑"/>
              </a:rPr>
              <a:t>一个公开招聘，4 种生命周期状态</a:t>
            </a:r>
          </a:p>
        </p:txBody>
      </p:sp>
      <p:sp>
        <p:nvSpPr>
          <p:cNvPr id="32" name="Rounded Rectangle 31"/>
          <p:cNvSpPr/>
          <p:nvPr/>
        </p:nvSpPr>
        <p:spPr>
          <a:xfrm>
            <a:off x="3931920" y="3858768"/>
            <a:ext cx="3081527" cy="676656"/>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33" name="TextBox 32"/>
          <p:cNvSpPr txBox="1"/>
          <p:nvPr/>
        </p:nvSpPr>
        <p:spPr>
          <a:xfrm>
            <a:off x="4078224" y="3941063"/>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skill</a:t>
            </a:r>
          </a:p>
        </p:txBody>
      </p:sp>
      <p:sp>
        <p:nvSpPr>
          <p:cNvPr id="34" name="TextBox 33"/>
          <p:cNvSpPr txBox="1"/>
          <p:nvPr/>
        </p:nvSpPr>
        <p:spPr>
          <a:xfrm>
            <a:off x="6281927" y="3941063"/>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60</a:t>
            </a:r>
          </a:p>
        </p:txBody>
      </p:sp>
      <p:sp>
        <p:nvSpPr>
          <p:cNvPr id="35" name="TextBox 34"/>
          <p:cNvSpPr txBox="1"/>
          <p:nvPr/>
        </p:nvSpPr>
        <p:spPr>
          <a:xfrm>
            <a:off x="4078224" y="4187952"/>
            <a:ext cx="2770632"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微软雅黑"/>
                <a:ea typeface="微软雅黑"/>
              </a:rPr>
              <a:t>8 个族构成的受控词表</a:t>
            </a:r>
          </a:p>
        </p:txBody>
      </p:sp>
      <p:sp>
        <p:nvSpPr>
          <p:cNvPr id="36" name="TextBox 35"/>
          <p:cNvSpPr txBox="1"/>
          <p:nvPr/>
        </p:nvSpPr>
        <p:spPr>
          <a:xfrm>
            <a:off x="7178040" y="2029968"/>
            <a:ext cx="3977639"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微软雅黑"/>
                <a:ea typeface="微软雅黑"/>
              </a:rPr>
              <a:t>匹 配 与 闭 环   ·   5 张表</a:t>
            </a:r>
          </a:p>
        </p:txBody>
      </p:sp>
      <p:sp>
        <p:nvSpPr>
          <p:cNvPr id="37" name="Rounded Rectangle 36"/>
          <p:cNvSpPr/>
          <p:nvPr/>
        </p:nvSpPr>
        <p:spPr>
          <a:xfrm>
            <a:off x="7178040" y="2286000"/>
            <a:ext cx="3995928" cy="621792"/>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38" name="TextBox 37"/>
          <p:cNvSpPr txBox="1"/>
          <p:nvPr/>
        </p:nvSpPr>
        <p:spPr>
          <a:xfrm>
            <a:off x="7324344" y="2368296"/>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member_skill</a:t>
            </a:r>
          </a:p>
        </p:txBody>
      </p:sp>
      <p:sp>
        <p:nvSpPr>
          <p:cNvPr id="39" name="TextBox 38"/>
          <p:cNvSpPr txBox="1"/>
          <p:nvPr/>
        </p:nvSpPr>
        <p:spPr>
          <a:xfrm>
            <a:off x="10442447" y="2368296"/>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1 329</a:t>
            </a:r>
          </a:p>
        </p:txBody>
      </p:sp>
      <p:sp>
        <p:nvSpPr>
          <p:cNvPr id="40" name="TextBox 39"/>
          <p:cNvSpPr txBox="1"/>
          <p:nvPr/>
        </p:nvSpPr>
        <p:spPr>
          <a:xfrm>
            <a:off x="7324344" y="2615184"/>
            <a:ext cx="3685031"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微软雅黑"/>
                <a:ea typeface="微软雅黑"/>
              </a:rPr>
              <a:t>熟练度 1–5、认可数、年限</a:t>
            </a:r>
          </a:p>
        </p:txBody>
      </p:sp>
      <p:sp>
        <p:nvSpPr>
          <p:cNvPr id="41" name="Rounded Rectangle 40"/>
          <p:cNvSpPr/>
          <p:nvPr/>
        </p:nvSpPr>
        <p:spPr>
          <a:xfrm>
            <a:off x="7178040" y="3008376"/>
            <a:ext cx="3995928" cy="621792"/>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42" name="TextBox 41"/>
          <p:cNvSpPr txBox="1"/>
          <p:nvPr/>
        </p:nvSpPr>
        <p:spPr>
          <a:xfrm>
            <a:off x="7324344" y="3090672"/>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job_skill</a:t>
            </a:r>
          </a:p>
        </p:txBody>
      </p:sp>
      <p:sp>
        <p:nvSpPr>
          <p:cNvPr id="43" name="TextBox 42"/>
          <p:cNvSpPr txBox="1"/>
          <p:nvPr/>
        </p:nvSpPr>
        <p:spPr>
          <a:xfrm>
            <a:off x="10442447" y="3090672"/>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504</a:t>
            </a:r>
          </a:p>
        </p:txBody>
      </p:sp>
      <p:sp>
        <p:nvSpPr>
          <p:cNvPr id="44" name="TextBox 43"/>
          <p:cNvSpPr txBox="1"/>
          <p:nvPr/>
        </p:nvSpPr>
        <p:spPr>
          <a:xfrm>
            <a:off x="7324344" y="3337560"/>
            <a:ext cx="3685031"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微软雅黑"/>
                <a:ea typeface="微软雅黑"/>
              </a:rPr>
              <a:t>REQUIRED / PREFERRED，最低等级</a:t>
            </a:r>
          </a:p>
        </p:txBody>
      </p:sp>
      <p:sp>
        <p:nvSpPr>
          <p:cNvPr id="45" name="Rounded Rectangle 44"/>
          <p:cNvSpPr/>
          <p:nvPr/>
        </p:nvSpPr>
        <p:spPr>
          <a:xfrm>
            <a:off x="7178040" y="3730752"/>
            <a:ext cx="3995928" cy="621792"/>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46" name="TextBox 45"/>
          <p:cNvSpPr txBox="1"/>
          <p:nvPr/>
        </p:nvSpPr>
        <p:spPr>
          <a:xfrm>
            <a:off x="7324344" y="3813048"/>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application</a:t>
            </a:r>
          </a:p>
        </p:txBody>
      </p:sp>
      <p:sp>
        <p:nvSpPr>
          <p:cNvPr id="47" name="TextBox 46"/>
          <p:cNvSpPr txBox="1"/>
          <p:nvPr/>
        </p:nvSpPr>
        <p:spPr>
          <a:xfrm>
            <a:off x="10442447" y="3813048"/>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250</a:t>
            </a:r>
          </a:p>
        </p:txBody>
      </p:sp>
      <p:sp>
        <p:nvSpPr>
          <p:cNvPr id="48" name="TextBox 47"/>
          <p:cNvSpPr txBox="1"/>
          <p:nvPr/>
        </p:nvSpPr>
        <p:spPr>
          <a:xfrm>
            <a:off x="7324344" y="4059936"/>
            <a:ext cx="3685031"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微软雅黑"/>
                <a:ea typeface="微软雅黑"/>
              </a:rPr>
              <a:t>状态机及其时间戳</a:t>
            </a:r>
          </a:p>
        </p:txBody>
      </p:sp>
      <p:sp>
        <p:nvSpPr>
          <p:cNvPr id="49" name="Rounded Rectangle 48"/>
          <p:cNvSpPr/>
          <p:nvPr/>
        </p:nvSpPr>
        <p:spPr>
          <a:xfrm>
            <a:off x="7178040" y="4453128"/>
            <a:ext cx="3995928" cy="621792"/>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50" name="TextBox 49"/>
          <p:cNvSpPr txBox="1"/>
          <p:nvPr/>
        </p:nvSpPr>
        <p:spPr>
          <a:xfrm>
            <a:off x="7324344" y="4535424"/>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interview</a:t>
            </a:r>
          </a:p>
        </p:txBody>
      </p:sp>
      <p:sp>
        <p:nvSpPr>
          <p:cNvPr id="51" name="TextBox 50"/>
          <p:cNvSpPr txBox="1"/>
          <p:nvPr/>
        </p:nvSpPr>
        <p:spPr>
          <a:xfrm>
            <a:off x="10442447" y="4535424"/>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210</a:t>
            </a:r>
          </a:p>
        </p:txBody>
      </p:sp>
      <p:sp>
        <p:nvSpPr>
          <p:cNvPr id="52" name="TextBox 51"/>
          <p:cNvSpPr txBox="1"/>
          <p:nvPr/>
        </p:nvSpPr>
        <p:spPr>
          <a:xfrm>
            <a:off x="7324344" y="4782312"/>
            <a:ext cx="3685031"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微软雅黑"/>
                <a:ea typeface="微软雅黑"/>
              </a:rPr>
              <a:t>第 1..n 轮、结果与评分</a:t>
            </a:r>
          </a:p>
        </p:txBody>
      </p:sp>
      <p:sp>
        <p:nvSpPr>
          <p:cNvPr id="53" name="Rounded Rectangle 52"/>
          <p:cNvSpPr/>
          <p:nvPr/>
        </p:nvSpPr>
        <p:spPr>
          <a:xfrm>
            <a:off x="7178040" y="5175504"/>
            <a:ext cx="3995928" cy="621792"/>
          </a:xfrm>
          <a:prstGeom prst="roundRect">
            <a:avLst>
              <a:gd name="adj" fmla="val 6000"/>
            </a:avLst>
          </a:prstGeom>
          <a:solidFill>
            <a:srgbClr val="F3F7FA"/>
          </a:solidFill>
          <a:ln>
            <a:noFill/>
          </a:ln>
          <a:effectLst/>
        </p:spPr>
        <p:txBody>
          <a:bodyPr rtlCol="0" anchor="ctr" wrap="square" lIns="0" rIns="0" tIns="0" bIns="0"/>
          <a:lstStyle/>
          <a:p>
            <a:pPr algn="ctr"/>
          </a:p>
        </p:txBody>
      </p:sp>
      <p:sp>
        <p:nvSpPr>
          <p:cNvPr id="54" name="TextBox 53"/>
          <p:cNvSpPr txBox="1"/>
          <p:nvPr/>
        </p:nvSpPr>
        <p:spPr>
          <a:xfrm>
            <a:off x="7324344" y="5257800"/>
            <a:ext cx="1737360" cy="201168"/>
          </a:xfrm>
          <a:prstGeom prst="rect">
            <a:avLst/>
          </a:prstGeom>
          <a:noFill/>
        </p:spPr>
        <p:txBody>
          <a:bodyPr wrap="square" lIns="0" rIns="0" tIns="0" bIns="0" anchor="t">
            <a:spAutoFit/>
          </a:bodyPr>
          <a:lstStyle/>
          <a:p>
            <a:pPr algn="l">
              <a:lnSpc>
                <a:spcPct val="100000"/>
              </a:lnSpc>
              <a:spcBef>
                <a:spcPts val="0"/>
              </a:spcBef>
              <a:spcAft>
                <a:spcPts val="0"/>
              </a:spcAft>
            </a:pPr>
            <a:r>
              <a:rPr sz="1000" b="1">
                <a:solidFill>
                  <a:srgbClr val="0E2A47"/>
                </a:solidFill>
                <a:latin typeface="Segoe UI"/>
              </a:rPr>
              <a:t>referral</a:t>
            </a:r>
          </a:p>
        </p:txBody>
      </p:sp>
      <p:sp>
        <p:nvSpPr>
          <p:cNvPr id="55" name="TextBox 54"/>
          <p:cNvSpPr txBox="1"/>
          <p:nvPr/>
        </p:nvSpPr>
        <p:spPr>
          <a:xfrm>
            <a:off x="10442447" y="5257800"/>
            <a:ext cx="685800" cy="201168"/>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0A66C2"/>
                </a:solidFill>
                <a:latin typeface="Segoe UI"/>
              </a:rPr>
              <a:t>60</a:t>
            </a:r>
          </a:p>
        </p:txBody>
      </p:sp>
      <p:sp>
        <p:nvSpPr>
          <p:cNvPr id="56" name="TextBox 55"/>
          <p:cNvSpPr txBox="1"/>
          <p:nvPr/>
        </p:nvSpPr>
        <p:spPr>
          <a:xfrm>
            <a:off x="7324344" y="5504688"/>
            <a:ext cx="3685031" cy="310896"/>
          </a:xfrm>
          <a:prstGeom prst="rect">
            <a:avLst/>
          </a:prstGeom>
          <a:noFill/>
        </p:spPr>
        <p:txBody>
          <a:bodyPr wrap="square" lIns="0" rIns="0" tIns="0" bIns="0" anchor="t">
            <a:spAutoFit/>
          </a:bodyPr>
          <a:lstStyle/>
          <a:p>
            <a:pPr algn="l">
              <a:lnSpc>
                <a:spcPct val="108000"/>
              </a:lnSpc>
              <a:spcBef>
                <a:spcPts val="0"/>
              </a:spcBef>
              <a:spcAft>
                <a:spcPts val="0"/>
              </a:spcAft>
            </a:pPr>
            <a:r>
              <a:rPr sz="780" b="0">
                <a:solidFill>
                  <a:srgbClr val="5A6B7B"/>
                </a:solidFill>
                <a:latin typeface="微软雅黑"/>
                <a:ea typeface="微软雅黑"/>
              </a:rPr>
              <a:t>与申请 1:1；奖金状态</a:t>
            </a:r>
          </a:p>
        </p:txBody>
      </p:sp>
      <p:sp>
        <p:nvSpPr>
          <p:cNvPr id="57" name="Rectangle 56"/>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58" name="TextBox 57"/>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59" name="TextBox 58"/>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08  ·  证 据 一</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内推不是一个更好的渠道——它是另一条漏斗</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面试率相同，录用率三倍：差距发生在面试之后。</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1993392"/>
            <a:ext cx="521208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微软雅黑"/>
                <a:ea typeface="微软雅黑"/>
              </a:rPr>
              <a:t>Q07   ·   按来源渠道的漏斗</a:t>
            </a:r>
          </a:p>
        </p:txBody>
      </p:sp>
      <p:sp>
        <p:nvSpPr>
          <p:cNvPr id="7" name="Rectangle 6"/>
          <p:cNvSpPr/>
          <p:nvPr/>
        </p:nvSpPr>
        <p:spPr>
          <a:xfrm>
            <a:off x="685800" y="2249424"/>
            <a:ext cx="5486400" cy="329184"/>
          </a:xfrm>
          <a:prstGeom prst="rect">
            <a:avLst/>
          </a:prstGeom>
          <a:solidFill>
            <a:srgbClr val="0E2A47"/>
          </a:solidFill>
          <a:ln>
            <a:noFill/>
          </a:ln>
          <a:effectLst/>
        </p:spPr>
        <p:txBody>
          <a:bodyPr rtlCol="0" anchor="ctr" wrap="square" lIns="0" rIns="0" tIns="0" bIns="0"/>
          <a:lstStyle/>
          <a:p>
            <a:pPr algn="ctr"/>
          </a:p>
        </p:txBody>
      </p:sp>
      <p:sp>
        <p:nvSpPr>
          <p:cNvPr id="8" name="TextBox 7"/>
          <p:cNvSpPr txBox="1"/>
          <p:nvPr/>
        </p:nvSpPr>
        <p:spPr>
          <a:xfrm>
            <a:off x="777240" y="2313432"/>
            <a:ext cx="1271016" cy="256031"/>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微软雅黑"/>
                <a:ea typeface="微软雅黑"/>
              </a:rPr>
              <a:t>渠道</a:t>
            </a:r>
          </a:p>
        </p:txBody>
      </p:sp>
      <p:sp>
        <p:nvSpPr>
          <p:cNvPr id="9" name="TextBox 8"/>
          <p:cNvSpPr txBox="1"/>
          <p:nvPr/>
        </p:nvSpPr>
        <p:spPr>
          <a:xfrm>
            <a:off x="2194560" y="2313432"/>
            <a:ext cx="1088136" cy="256031"/>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微软雅黑"/>
                <a:ea typeface="微软雅黑"/>
              </a:rPr>
              <a:t>申请数</a:t>
            </a:r>
          </a:p>
        </p:txBody>
      </p:sp>
      <p:sp>
        <p:nvSpPr>
          <p:cNvPr id="10" name="TextBox 9"/>
          <p:cNvSpPr txBox="1"/>
          <p:nvPr/>
        </p:nvSpPr>
        <p:spPr>
          <a:xfrm>
            <a:off x="3429000" y="2313432"/>
            <a:ext cx="1271016" cy="256031"/>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微软雅黑"/>
                <a:ea typeface="微软雅黑"/>
              </a:rPr>
              <a:t>面试率</a:t>
            </a:r>
          </a:p>
        </p:txBody>
      </p:sp>
      <p:sp>
        <p:nvSpPr>
          <p:cNvPr id="11" name="TextBox 10"/>
          <p:cNvSpPr txBox="1"/>
          <p:nvPr/>
        </p:nvSpPr>
        <p:spPr>
          <a:xfrm>
            <a:off x="4846320" y="2313432"/>
            <a:ext cx="1271016" cy="256031"/>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微软雅黑"/>
                <a:ea typeface="微软雅黑"/>
              </a:rPr>
              <a:t>录用数</a:t>
            </a:r>
          </a:p>
        </p:txBody>
      </p:sp>
      <p:sp>
        <p:nvSpPr>
          <p:cNvPr id="12" name="TextBox 11"/>
          <p:cNvSpPr txBox="1"/>
          <p:nvPr/>
        </p:nvSpPr>
        <p:spPr>
          <a:xfrm>
            <a:off x="777240" y="2647188"/>
            <a:ext cx="1271016" cy="256031"/>
          </a:xfrm>
          <a:prstGeom prst="rect">
            <a:avLst/>
          </a:prstGeom>
          <a:noFill/>
        </p:spPr>
        <p:txBody>
          <a:bodyPr wrap="square" lIns="0" rIns="0" tIns="0" bIns="0" anchor="t">
            <a:spAutoFit/>
          </a:bodyPr>
          <a:lstStyle/>
          <a:p>
            <a:pPr algn="l">
              <a:lnSpc>
                <a:spcPct val="100000"/>
              </a:lnSpc>
              <a:spcBef>
                <a:spcPts val="0"/>
              </a:spcBef>
              <a:spcAft>
                <a:spcPts val="0"/>
              </a:spcAft>
            </a:pPr>
            <a:r>
              <a:rPr sz="900" b="1">
                <a:solidFill>
                  <a:srgbClr val="0E2A47"/>
                </a:solidFill>
                <a:latin typeface="微软雅黑"/>
                <a:ea typeface="微软雅黑"/>
              </a:rPr>
              <a:t>内推</a:t>
            </a:r>
          </a:p>
        </p:txBody>
      </p:sp>
      <p:sp>
        <p:nvSpPr>
          <p:cNvPr id="13" name="TextBox 12"/>
          <p:cNvSpPr txBox="1"/>
          <p:nvPr/>
        </p:nvSpPr>
        <p:spPr>
          <a:xfrm>
            <a:off x="2194560" y="2647188"/>
            <a:ext cx="108813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60</a:t>
            </a:r>
          </a:p>
        </p:txBody>
      </p:sp>
      <p:sp>
        <p:nvSpPr>
          <p:cNvPr id="14" name="TextBox 13"/>
          <p:cNvSpPr txBox="1"/>
          <p:nvPr/>
        </p:nvSpPr>
        <p:spPr>
          <a:xfrm>
            <a:off x="3429000" y="2647188"/>
            <a:ext cx="127101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46.7%</a:t>
            </a:r>
          </a:p>
        </p:txBody>
      </p:sp>
      <p:sp>
        <p:nvSpPr>
          <p:cNvPr id="15" name="TextBox 14"/>
          <p:cNvSpPr txBox="1"/>
          <p:nvPr/>
        </p:nvSpPr>
        <p:spPr>
          <a:xfrm>
            <a:off x="4846320" y="2647188"/>
            <a:ext cx="127101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16.7%</a:t>
            </a:r>
          </a:p>
        </p:txBody>
      </p:sp>
      <p:sp>
        <p:nvSpPr>
          <p:cNvPr id="16" name="Rectangle 15"/>
          <p:cNvSpPr/>
          <p:nvPr/>
        </p:nvSpPr>
        <p:spPr>
          <a:xfrm>
            <a:off x="685800" y="2907791"/>
            <a:ext cx="5486400" cy="329184"/>
          </a:xfrm>
          <a:prstGeom prst="rect">
            <a:avLst/>
          </a:prstGeom>
          <a:solidFill>
            <a:srgbClr val="F3F7FA"/>
          </a:solidFill>
          <a:ln>
            <a:noFill/>
          </a:ln>
          <a:effectLst/>
        </p:spPr>
        <p:txBody>
          <a:bodyPr rtlCol="0" anchor="ctr" wrap="square" lIns="0" rIns="0" tIns="0" bIns="0"/>
          <a:lstStyle/>
          <a:p>
            <a:pPr algn="ctr"/>
          </a:p>
        </p:txBody>
      </p:sp>
      <p:sp>
        <p:nvSpPr>
          <p:cNvPr id="17" name="TextBox 16"/>
          <p:cNvSpPr txBox="1"/>
          <p:nvPr/>
        </p:nvSpPr>
        <p:spPr>
          <a:xfrm>
            <a:off x="777240" y="2976372"/>
            <a:ext cx="1271016" cy="256031"/>
          </a:xfrm>
          <a:prstGeom prst="rect">
            <a:avLst/>
          </a:prstGeom>
          <a:noFill/>
        </p:spPr>
        <p:txBody>
          <a:bodyPr wrap="square" lIns="0" rIns="0" tIns="0" bIns="0" anchor="t">
            <a:spAutoFit/>
          </a:bodyPr>
          <a:lstStyle/>
          <a:p>
            <a:pPr algn="l">
              <a:lnSpc>
                <a:spcPct val="100000"/>
              </a:lnSpc>
              <a:spcBef>
                <a:spcPts val="0"/>
              </a:spcBef>
              <a:spcAft>
                <a:spcPts val="0"/>
              </a:spcAft>
            </a:pPr>
            <a:r>
              <a:rPr sz="900" b="1">
                <a:solidFill>
                  <a:srgbClr val="0E2A47"/>
                </a:solidFill>
                <a:latin typeface="微软雅黑"/>
                <a:ea typeface="微软雅黑"/>
              </a:rPr>
              <a:t>寻访</a:t>
            </a:r>
          </a:p>
        </p:txBody>
      </p:sp>
      <p:sp>
        <p:nvSpPr>
          <p:cNvPr id="18" name="TextBox 17"/>
          <p:cNvSpPr txBox="1"/>
          <p:nvPr/>
        </p:nvSpPr>
        <p:spPr>
          <a:xfrm>
            <a:off x="2194560" y="2976372"/>
            <a:ext cx="108813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40</a:t>
            </a:r>
          </a:p>
        </p:txBody>
      </p:sp>
      <p:sp>
        <p:nvSpPr>
          <p:cNvPr id="19" name="TextBox 18"/>
          <p:cNvSpPr txBox="1"/>
          <p:nvPr/>
        </p:nvSpPr>
        <p:spPr>
          <a:xfrm>
            <a:off x="3429000" y="2976372"/>
            <a:ext cx="127101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42.5%</a:t>
            </a:r>
          </a:p>
        </p:txBody>
      </p:sp>
      <p:sp>
        <p:nvSpPr>
          <p:cNvPr id="20" name="TextBox 19"/>
          <p:cNvSpPr txBox="1"/>
          <p:nvPr/>
        </p:nvSpPr>
        <p:spPr>
          <a:xfrm>
            <a:off x="4846320" y="2976372"/>
            <a:ext cx="127101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7.5%</a:t>
            </a:r>
          </a:p>
        </p:txBody>
      </p:sp>
      <p:sp>
        <p:nvSpPr>
          <p:cNvPr id="21" name="TextBox 20"/>
          <p:cNvSpPr txBox="1"/>
          <p:nvPr/>
        </p:nvSpPr>
        <p:spPr>
          <a:xfrm>
            <a:off x="777240" y="3305556"/>
            <a:ext cx="1271016" cy="256031"/>
          </a:xfrm>
          <a:prstGeom prst="rect">
            <a:avLst/>
          </a:prstGeom>
          <a:noFill/>
        </p:spPr>
        <p:txBody>
          <a:bodyPr wrap="square" lIns="0" rIns="0" tIns="0" bIns="0" anchor="t">
            <a:spAutoFit/>
          </a:bodyPr>
          <a:lstStyle/>
          <a:p>
            <a:pPr algn="l">
              <a:lnSpc>
                <a:spcPct val="100000"/>
              </a:lnSpc>
              <a:spcBef>
                <a:spcPts val="0"/>
              </a:spcBef>
              <a:spcAft>
                <a:spcPts val="0"/>
              </a:spcAft>
            </a:pPr>
            <a:r>
              <a:rPr sz="900" b="1">
                <a:solidFill>
                  <a:srgbClr val="0E2A47"/>
                </a:solidFill>
                <a:latin typeface="微软雅黑"/>
                <a:ea typeface="微软雅黑"/>
              </a:rPr>
              <a:t>直投</a:t>
            </a:r>
          </a:p>
        </p:txBody>
      </p:sp>
      <p:sp>
        <p:nvSpPr>
          <p:cNvPr id="22" name="TextBox 21"/>
          <p:cNvSpPr txBox="1"/>
          <p:nvPr/>
        </p:nvSpPr>
        <p:spPr>
          <a:xfrm>
            <a:off x="2194560" y="3305556"/>
            <a:ext cx="108813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150</a:t>
            </a:r>
          </a:p>
        </p:txBody>
      </p:sp>
      <p:sp>
        <p:nvSpPr>
          <p:cNvPr id="23" name="TextBox 22"/>
          <p:cNvSpPr txBox="1"/>
          <p:nvPr/>
        </p:nvSpPr>
        <p:spPr>
          <a:xfrm>
            <a:off x="3429000" y="3305556"/>
            <a:ext cx="127101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44.7%</a:t>
            </a:r>
          </a:p>
        </p:txBody>
      </p:sp>
      <p:sp>
        <p:nvSpPr>
          <p:cNvPr id="24" name="TextBox 23"/>
          <p:cNvSpPr txBox="1"/>
          <p:nvPr/>
        </p:nvSpPr>
        <p:spPr>
          <a:xfrm>
            <a:off x="4846320" y="3305556"/>
            <a:ext cx="1271016" cy="256031"/>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5A6B7B"/>
                </a:solidFill>
                <a:latin typeface="Segoe UI"/>
              </a:rPr>
              <a:t>5.3%</a:t>
            </a:r>
          </a:p>
        </p:txBody>
      </p:sp>
      <p:sp>
        <p:nvSpPr>
          <p:cNvPr id="25" name="TextBox 24"/>
          <p:cNvSpPr txBox="1"/>
          <p:nvPr/>
        </p:nvSpPr>
        <p:spPr>
          <a:xfrm>
            <a:off x="685800" y="3639312"/>
            <a:ext cx="5212080" cy="502920"/>
          </a:xfrm>
          <a:prstGeom prst="rect">
            <a:avLst/>
          </a:prstGeom>
          <a:noFill/>
        </p:spPr>
        <p:txBody>
          <a:bodyPr wrap="square" lIns="0" rIns="0" tIns="0" bIns="0" anchor="t">
            <a:spAutoFit/>
          </a:bodyPr>
          <a:lstStyle/>
          <a:p>
            <a:pPr algn="l">
              <a:lnSpc>
                <a:spcPct val="120000"/>
              </a:lnSpc>
              <a:spcBef>
                <a:spcPts val="0"/>
              </a:spcBef>
              <a:spcAft>
                <a:spcPts val="0"/>
              </a:spcAft>
            </a:pPr>
            <a:r>
              <a:rPr sz="880" b="0">
                <a:solidFill>
                  <a:srgbClr val="5A6B7B"/>
                </a:solidFill>
                <a:latin typeface="微软雅黑"/>
                <a:ea typeface="微软雅黑"/>
              </a:rPr>
              <a:t>面试率相差 4 个百分点，录用率相差 11 个。</a:t>
            </a:r>
          </a:p>
          <a:p>
            <a:pPr algn="l">
              <a:lnSpc>
                <a:spcPct val="120000"/>
              </a:lnSpc>
              <a:spcBef>
                <a:spcPts val="0"/>
              </a:spcBef>
              <a:spcAft>
                <a:spcPts val="0"/>
              </a:spcAft>
            </a:pPr>
            <a:r>
              <a:rPr sz="880" b="0">
                <a:solidFill>
                  <a:srgbClr val="5A6B7B"/>
                </a:solidFill>
                <a:latin typeface="微软雅黑"/>
                <a:ea typeface="微软雅黑"/>
              </a:rPr>
              <a:t>杠杆在“面试到 offer”这一步，不在寻访量。</a:t>
            </a:r>
          </a:p>
        </p:txBody>
      </p:sp>
      <p:sp>
        <p:nvSpPr>
          <p:cNvPr id="26" name="Rectangle 25"/>
          <p:cNvSpPr/>
          <p:nvPr/>
        </p:nvSpPr>
        <p:spPr>
          <a:xfrm>
            <a:off x="685800" y="4169663"/>
            <a:ext cx="5212080" cy="9144"/>
          </a:xfrm>
          <a:prstGeom prst="rect">
            <a:avLst/>
          </a:prstGeom>
          <a:solidFill>
            <a:srgbClr val="D8E0E8"/>
          </a:solidFill>
          <a:ln>
            <a:noFill/>
          </a:ln>
          <a:effectLst/>
        </p:spPr>
        <p:txBody>
          <a:bodyPr rtlCol="0" anchor="ctr" wrap="square" lIns="0" rIns="0" tIns="0" bIns="0"/>
          <a:lstStyle/>
          <a:p>
            <a:pPr algn="ctr"/>
          </a:p>
        </p:txBody>
      </p:sp>
      <p:sp>
        <p:nvSpPr>
          <p:cNvPr id="27" name="TextBox 26"/>
          <p:cNvSpPr txBox="1"/>
          <p:nvPr/>
        </p:nvSpPr>
        <p:spPr>
          <a:xfrm>
            <a:off x="685800" y="4261104"/>
            <a:ext cx="521208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微软雅黑"/>
                <a:ea typeface="微软雅黑"/>
              </a:rPr>
              <a:t>Q08   ·   推荐人排行（前 4）</a:t>
            </a:r>
          </a:p>
        </p:txBody>
      </p:sp>
      <p:sp>
        <p:nvSpPr>
          <p:cNvPr id="28" name="Rectangle 27"/>
          <p:cNvSpPr/>
          <p:nvPr/>
        </p:nvSpPr>
        <p:spPr>
          <a:xfrm>
            <a:off x="685800" y="4462272"/>
            <a:ext cx="5257800" cy="310896"/>
          </a:xfrm>
          <a:prstGeom prst="rect">
            <a:avLst/>
          </a:prstGeom>
          <a:solidFill>
            <a:srgbClr val="0E2A47"/>
          </a:solidFill>
          <a:ln>
            <a:noFill/>
          </a:ln>
          <a:effectLst/>
        </p:spPr>
        <p:txBody>
          <a:bodyPr rtlCol="0" anchor="ctr" wrap="square" lIns="0" rIns="0" tIns="0" bIns="0"/>
          <a:lstStyle/>
          <a:p>
            <a:pPr algn="ctr"/>
          </a:p>
        </p:txBody>
      </p:sp>
      <p:sp>
        <p:nvSpPr>
          <p:cNvPr id="29" name="TextBox 28"/>
          <p:cNvSpPr txBox="1"/>
          <p:nvPr/>
        </p:nvSpPr>
        <p:spPr>
          <a:xfrm>
            <a:off x="777240" y="4526280"/>
            <a:ext cx="1819656" cy="237744"/>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FFFFFF"/>
                </a:solidFill>
                <a:latin typeface="微软雅黑"/>
                <a:ea typeface="微软雅黑"/>
              </a:rPr>
              <a:t>推荐人 · 雇主</a:t>
            </a:r>
          </a:p>
        </p:txBody>
      </p:sp>
      <p:sp>
        <p:nvSpPr>
          <p:cNvPr id="30" name="TextBox 29"/>
          <p:cNvSpPr txBox="1"/>
          <p:nvPr/>
        </p:nvSpPr>
        <p:spPr>
          <a:xfrm>
            <a:off x="2743200" y="4526280"/>
            <a:ext cx="630936" cy="237744"/>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FFFFFF"/>
                </a:solidFill>
                <a:latin typeface="微软雅黑"/>
                <a:ea typeface="微软雅黑"/>
              </a:rPr>
              <a:t>推荐数</a:t>
            </a:r>
          </a:p>
        </p:txBody>
      </p:sp>
      <p:sp>
        <p:nvSpPr>
          <p:cNvPr id="31" name="TextBox 30"/>
          <p:cNvSpPr txBox="1"/>
          <p:nvPr/>
        </p:nvSpPr>
        <p:spPr>
          <a:xfrm>
            <a:off x="3520440" y="4526280"/>
            <a:ext cx="539496" cy="237744"/>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FFFFFF"/>
                </a:solidFill>
                <a:latin typeface="微软雅黑"/>
                <a:ea typeface="微软雅黑"/>
              </a:rPr>
              <a:t>录用</a:t>
            </a:r>
          </a:p>
        </p:txBody>
      </p:sp>
      <p:sp>
        <p:nvSpPr>
          <p:cNvPr id="32" name="TextBox 31"/>
          <p:cNvSpPr txBox="1"/>
          <p:nvPr/>
        </p:nvSpPr>
        <p:spPr>
          <a:xfrm>
            <a:off x="4206240" y="4526280"/>
            <a:ext cx="722375" cy="237744"/>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FFFFFF"/>
                </a:solidFill>
                <a:latin typeface="微软雅黑"/>
                <a:ea typeface="微软雅黑"/>
              </a:rPr>
              <a:t>转化</a:t>
            </a:r>
          </a:p>
        </p:txBody>
      </p:sp>
      <p:sp>
        <p:nvSpPr>
          <p:cNvPr id="33" name="TextBox 32"/>
          <p:cNvSpPr txBox="1"/>
          <p:nvPr/>
        </p:nvSpPr>
        <p:spPr>
          <a:xfrm>
            <a:off x="5074920" y="4526280"/>
            <a:ext cx="813816" cy="237744"/>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FFFFFF"/>
                </a:solidFill>
                <a:latin typeface="微软雅黑"/>
                <a:ea typeface="微软雅黑"/>
              </a:rPr>
              <a:t>已付</a:t>
            </a:r>
          </a:p>
        </p:txBody>
      </p:sp>
      <p:sp>
        <p:nvSpPr>
          <p:cNvPr id="34" name="TextBox 33"/>
          <p:cNvSpPr txBox="1"/>
          <p:nvPr/>
        </p:nvSpPr>
        <p:spPr>
          <a:xfrm>
            <a:off x="777240" y="4841748"/>
            <a:ext cx="1819656"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5A6B7B"/>
                </a:solidFill>
                <a:latin typeface="Segoe UI"/>
              </a:rPr>
              <a:t>Noah Zhu · Oracle</a:t>
            </a:r>
          </a:p>
        </p:txBody>
      </p:sp>
      <p:sp>
        <p:nvSpPr>
          <p:cNvPr id="35" name="TextBox 34"/>
          <p:cNvSpPr txBox="1"/>
          <p:nvPr/>
        </p:nvSpPr>
        <p:spPr>
          <a:xfrm>
            <a:off x="2743200" y="4841748"/>
            <a:ext cx="63093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3</a:t>
            </a:r>
          </a:p>
        </p:txBody>
      </p:sp>
      <p:sp>
        <p:nvSpPr>
          <p:cNvPr id="36" name="TextBox 35"/>
          <p:cNvSpPr txBox="1"/>
          <p:nvPr/>
        </p:nvSpPr>
        <p:spPr>
          <a:xfrm>
            <a:off x="3520440" y="4841748"/>
            <a:ext cx="53949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2</a:t>
            </a:r>
          </a:p>
        </p:txBody>
      </p:sp>
      <p:sp>
        <p:nvSpPr>
          <p:cNvPr id="37" name="TextBox 36"/>
          <p:cNvSpPr txBox="1"/>
          <p:nvPr/>
        </p:nvSpPr>
        <p:spPr>
          <a:xfrm>
            <a:off x="4206240" y="4841748"/>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66.7%</a:t>
            </a:r>
          </a:p>
        </p:txBody>
      </p:sp>
      <p:sp>
        <p:nvSpPr>
          <p:cNvPr id="38" name="TextBox 37"/>
          <p:cNvSpPr txBox="1"/>
          <p:nvPr/>
        </p:nvSpPr>
        <p:spPr>
          <a:xfrm>
            <a:off x="5074920" y="4841748"/>
            <a:ext cx="81381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$8 500</a:t>
            </a:r>
          </a:p>
        </p:txBody>
      </p:sp>
      <p:sp>
        <p:nvSpPr>
          <p:cNvPr id="39" name="Rectangle 38"/>
          <p:cNvSpPr/>
          <p:nvPr/>
        </p:nvSpPr>
        <p:spPr>
          <a:xfrm>
            <a:off x="685800" y="5084064"/>
            <a:ext cx="5257800" cy="310896"/>
          </a:xfrm>
          <a:prstGeom prst="rect">
            <a:avLst/>
          </a:prstGeom>
          <a:solidFill>
            <a:srgbClr val="F3F7FA"/>
          </a:solidFill>
          <a:ln>
            <a:noFill/>
          </a:ln>
          <a:effectLst/>
        </p:spPr>
        <p:txBody>
          <a:bodyPr rtlCol="0" anchor="ctr" wrap="square" lIns="0" rIns="0" tIns="0" bIns="0"/>
          <a:lstStyle/>
          <a:p>
            <a:pPr algn="ctr"/>
          </a:p>
        </p:txBody>
      </p:sp>
      <p:sp>
        <p:nvSpPr>
          <p:cNvPr id="40" name="TextBox 39"/>
          <p:cNvSpPr txBox="1"/>
          <p:nvPr/>
        </p:nvSpPr>
        <p:spPr>
          <a:xfrm>
            <a:off x="777240" y="5152644"/>
            <a:ext cx="1819656"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5A6B7B"/>
                </a:solidFill>
                <a:latin typeface="Segoe UI"/>
              </a:rPr>
              <a:t>Nina Choi · OCBC</a:t>
            </a:r>
          </a:p>
        </p:txBody>
      </p:sp>
      <p:sp>
        <p:nvSpPr>
          <p:cNvPr id="41" name="TextBox 40"/>
          <p:cNvSpPr txBox="1"/>
          <p:nvPr/>
        </p:nvSpPr>
        <p:spPr>
          <a:xfrm>
            <a:off x="2743200" y="5152644"/>
            <a:ext cx="63093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2</a:t>
            </a:r>
          </a:p>
        </p:txBody>
      </p:sp>
      <p:sp>
        <p:nvSpPr>
          <p:cNvPr id="42" name="TextBox 41"/>
          <p:cNvSpPr txBox="1"/>
          <p:nvPr/>
        </p:nvSpPr>
        <p:spPr>
          <a:xfrm>
            <a:off x="3520440" y="5152644"/>
            <a:ext cx="53949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a:t>
            </a:r>
          </a:p>
        </p:txBody>
      </p:sp>
      <p:sp>
        <p:nvSpPr>
          <p:cNvPr id="43" name="TextBox 42"/>
          <p:cNvSpPr txBox="1"/>
          <p:nvPr/>
        </p:nvSpPr>
        <p:spPr>
          <a:xfrm>
            <a:off x="4206240" y="5152644"/>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50.0%</a:t>
            </a:r>
          </a:p>
        </p:txBody>
      </p:sp>
      <p:sp>
        <p:nvSpPr>
          <p:cNvPr id="44" name="TextBox 43"/>
          <p:cNvSpPr txBox="1"/>
          <p:nvPr/>
        </p:nvSpPr>
        <p:spPr>
          <a:xfrm>
            <a:off x="5074920" y="5152644"/>
            <a:ext cx="81381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$2 500</a:t>
            </a:r>
          </a:p>
        </p:txBody>
      </p:sp>
      <p:sp>
        <p:nvSpPr>
          <p:cNvPr id="45" name="TextBox 44"/>
          <p:cNvSpPr txBox="1"/>
          <p:nvPr/>
        </p:nvSpPr>
        <p:spPr>
          <a:xfrm>
            <a:off x="777240" y="5463540"/>
            <a:ext cx="1819656"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5A6B7B"/>
                </a:solidFill>
                <a:latin typeface="Segoe UI"/>
              </a:rPr>
              <a:t>Vikram Lin · Ping An</a:t>
            </a:r>
          </a:p>
        </p:txBody>
      </p:sp>
      <p:sp>
        <p:nvSpPr>
          <p:cNvPr id="46" name="TextBox 45"/>
          <p:cNvSpPr txBox="1"/>
          <p:nvPr/>
        </p:nvSpPr>
        <p:spPr>
          <a:xfrm>
            <a:off x="2743200" y="5463540"/>
            <a:ext cx="63093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a:t>
            </a:r>
          </a:p>
        </p:txBody>
      </p:sp>
      <p:sp>
        <p:nvSpPr>
          <p:cNvPr id="47" name="TextBox 46"/>
          <p:cNvSpPr txBox="1"/>
          <p:nvPr/>
        </p:nvSpPr>
        <p:spPr>
          <a:xfrm>
            <a:off x="3520440" y="5463540"/>
            <a:ext cx="53949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a:t>
            </a:r>
          </a:p>
        </p:txBody>
      </p:sp>
      <p:sp>
        <p:nvSpPr>
          <p:cNvPr id="48" name="TextBox 47"/>
          <p:cNvSpPr txBox="1"/>
          <p:nvPr/>
        </p:nvSpPr>
        <p:spPr>
          <a:xfrm>
            <a:off x="4206240" y="5463540"/>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100%</a:t>
            </a:r>
          </a:p>
        </p:txBody>
      </p:sp>
      <p:sp>
        <p:nvSpPr>
          <p:cNvPr id="49" name="TextBox 48"/>
          <p:cNvSpPr txBox="1"/>
          <p:nvPr/>
        </p:nvSpPr>
        <p:spPr>
          <a:xfrm>
            <a:off x="5074920" y="5463540"/>
            <a:ext cx="81381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$3 500</a:t>
            </a:r>
          </a:p>
        </p:txBody>
      </p:sp>
      <p:sp>
        <p:nvSpPr>
          <p:cNvPr id="50" name="Rectangle 49"/>
          <p:cNvSpPr/>
          <p:nvPr/>
        </p:nvSpPr>
        <p:spPr>
          <a:xfrm>
            <a:off x="685800" y="5705855"/>
            <a:ext cx="5257800" cy="310896"/>
          </a:xfrm>
          <a:prstGeom prst="rect">
            <a:avLst/>
          </a:prstGeom>
          <a:solidFill>
            <a:srgbClr val="F3F7FA"/>
          </a:solidFill>
          <a:ln>
            <a:noFill/>
          </a:ln>
          <a:effectLst/>
        </p:spPr>
        <p:txBody>
          <a:bodyPr rtlCol="0" anchor="ctr" wrap="square" lIns="0" rIns="0" tIns="0" bIns="0"/>
          <a:lstStyle/>
          <a:p>
            <a:pPr algn="ctr"/>
          </a:p>
        </p:txBody>
      </p:sp>
      <p:sp>
        <p:nvSpPr>
          <p:cNvPr id="51" name="TextBox 50"/>
          <p:cNvSpPr txBox="1"/>
          <p:nvPr/>
        </p:nvSpPr>
        <p:spPr>
          <a:xfrm>
            <a:off x="777240" y="5774436"/>
            <a:ext cx="1819656" cy="23774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5A6B7B"/>
                </a:solidFill>
                <a:latin typeface="Segoe UI"/>
              </a:rPr>
              <a:t>James Yang · Sea</a:t>
            </a:r>
          </a:p>
        </p:txBody>
      </p:sp>
      <p:sp>
        <p:nvSpPr>
          <p:cNvPr id="52" name="TextBox 51"/>
          <p:cNvSpPr txBox="1"/>
          <p:nvPr/>
        </p:nvSpPr>
        <p:spPr>
          <a:xfrm>
            <a:off x="2743200" y="5774436"/>
            <a:ext cx="63093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a:t>
            </a:r>
          </a:p>
        </p:txBody>
      </p:sp>
      <p:sp>
        <p:nvSpPr>
          <p:cNvPr id="53" name="TextBox 52"/>
          <p:cNvSpPr txBox="1"/>
          <p:nvPr/>
        </p:nvSpPr>
        <p:spPr>
          <a:xfrm>
            <a:off x="3520440" y="5774436"/>
            <a:ext cx="53949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a:t>
            </a:r>
          </a:p>
        </p:txBody>
      </p:sp>
      <p:sp>
        <p:nvSpPr>
          <p:cNvPr id="54" name="TextBox 53"/>
          <p:cNvSpPr txBox="1"/>
          <p:nvPr/>
        </p:nvSpPr>
        <p:spPr>
          <a:xfrm>
            <a:off x="4206240" y="5774436"/>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100%</a:t>
            </a:r>
          </a:p>
        </p:txBody>
      </p:sp>
      <p:sp>
        <p:nvSpPr>
          <p:cNvPr id="55" name="TextBox 54"/>
          <p:cNvSpPr txBox="1"/>
          <p:nvPr/>
        </p:nvSpPr>
        <p:spPr>
          <a:xfrm>
            <a:off x="5074920" y="5774436"/>
            <a:ext cx="813816" cy="237744"/>
          </a:xfrm>
          <a:prstGeom prst="rect">
            <a:avLst/>
          </a:prstGeom>
          <a:noFill/>
        </p:spPr>
        <p:txBody>
          <a:bodyPr wrap="square" lIns="0" rIns="0" tIns="0" bIns="0" anchor="t">
            <a:spAutoFit/>
          </a:bodyPr>
          <a:lstStyle/>
          <a:p>
            <a:pPr algn="r">
              <a:lnSpc>
                <a:spcPct val="100000"/>
              </a:lnSpc>
              <a:spcBef>
                <a:spcPts val="0"/>
              </a:spcBef>
              <a:spcAft>
                <a:spcPts val="0"/>
              </a:spcAft>
            </a:pPr>
            <a:r>
              <a:rPr sz="850" b="0">
                <a:solidFill>
                  <a:srgbClr val="5A6B7B"/>
                </a:solidFill>
                <a:latin typeface="Segoe UI"/>
              </a:rPr>
              <a:t>$0</a:t>
            </a:r>
          </a:p>
        </p:txBody>
      </p:sp>
      <p:sp>
        <p:nvSpPr>
          <p:cNvPr id="56" name="Rounded Rectangle 55"/>
          <p:cNvSpPr/>
          <p:nvPr/>
        </p:nvSpPr>
        <p:spPr>
          <a:xfrm>
            <a:off x="6263640" y="1993392"/>
            <a:ext cx="5230368" cy="2103120"/>
          </a:xfrm>
          <a:prstGeom prst="roundRect">
            <a:avLst>
              <a:gd name="adj" fmla="val 3000"/>
            </a:avLst>
          </a:prstGeom>
          <a:solidFill>
            <a:srgbClr val="F3F7FA"/>
          </a:solidFill>
          <a:ln>
            <a:noFill/>
          </a:ln>
          <a:effectLst/>
        </p:spPr>
        <p:txBody>
          <a:bodyPr rtlCol="0" anchor="ctr" wrap="square" lIns="0" rIns="0" tIns="0" bIns="0"/>
          <a:lstStyle/>
          <a:p>
            <a:pPr algn="ctr"/>
          </a:p>
        </p:txBody>
      </p:sp>
      <p:sp>
        <p:nvSpPr>
          <p:cNvPr id="57" name="TextBox 56"/>
          <p:cNvSpPr txBox="1"/>
          <p:nvPr/>
        </p:nvSpPr>
        <p:spPr>
          <a:xfrm>
            <a:off x="6510528" y="2139696"/>
            <a:ext cx="475488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微软雅黑"/>
                <a:ea typeface="微软雅黑"/>
              </a:rPr>
              <a:t>为 什 么 重 要</a:t>
            </a:r>
          </a:p>
        </p:txBody>
      </p:sp>
      <p:sp>
        <p:nvSpPr>
          <p:cNvPr id="58" name="TextBox 57"/>
          <p:cNvSpPr txBox="1"/>
          <p:nvPr/>
        </p:nvSpPr>
        <p:spPr>
          <a:xfrm>
            <a:off x="6510528" y="2377440"/>
            <a:ext cx="4754880" cy="1572768"/>
          </a:xfrm>
          <a:prstGeom prst="rect">
            <a:avLst/>
          </a:prstGeom>
          <a:noFill/>
        </p:spPr>
        <p:txBody>
          <a:bodyPr wrap="square" lIns="0" rIns="0" tIns="0" bIns="0" anchor="t">
            <a:spAutoFit/>
          </a:bodyPr>
          <a:lstStyle/>
          <a:p>
            <a:pPr algn="l">
              <a:lnSpc>
                <a:spcPct val="120000"/>
              </a:lnSpc>
              <a:spcBef>
                <a:spcPts val="0"/>
              </a:spcBef>
              <a:spcAft>
                <a:spcPts val="0"/>
              </a:spcAft>
            </a:pPr>
            <a:r>
              <a:rPr sz="919" b="0">
                <a:solidFill>
                  <a:srgbClr val="5A6B7B"/>
                </a:solidFill>
                <a:latin typeface="微软雅黑"/>
                <a:ea typeface="微软雅黑"/>
              </a:rPr>
              <a:t>内推是押上了推荐人自己声誉的预筛。数据说明这份优势落在哪：被推荐的人并没有更容易进面试，而是在面试之后更容易拿到 offer。</a:t>
            </a:r>
          </a:p>
          <a:p>
            <a:pPr algn="l">
              <a:lnSpc>
                <a:spcPct val="120000"/>
              </a:lnSpc>
              <a:spcBef>
                <a:spcPts val="0"/>
              </a:spcBef>
              <a:spcAft>
                <a:spcPts val="0"/>
              </a:spcAft>
            </a:pPr>
            <a:r>
              <a:rPr sz="919" b="0">
                <a:solidFill>
                  <a:srgbClr val="5A6B7B"/>
                </a:solidFill>
                <a:latin typeface="Segoe UI"/>
              </a:rPr>
              <a:t/>
            </a:r>
          </a:p>
          <a:p>
            <a:pPr algn="l">
              <a:lnSpc>
                <a:spcPct val="120000"/>
              </a:lnSpc>
              <a:spcBef>
                <a:spcPts val="0"/>
              </a:spcBef>
              <a:spcAft>
                <a:spcPts val="0"/>
              </a:spcAft>
            </a:pPr>
            <a:r>
              <a:rPr sz="919" b="0">
                <a:solidFill>
                  <a:srgbClr val="5A6B7B"/>
                </a:solidFill>
                <a:latin typeface="微软雅黑"/>
                <a:ea typeface="微软雅黑"/>
              </a:rPr>
              <a:t>这个区别之所以看得见，是因为渠道是申请上的一列、面试是独立的一张表。一个扁平的“已录用”标记会把它藏起来。</a:t>
            </a:r>
          </a:p>
        </p:txBody>
      </p:sp>
      <p:sp>
        <p:nvSpPr>
          <p:cNvPr id="59" name="Rounded Rectangle 58"/>
          <p:cNvSpPr/>
          <p:nvPr/>
        </p:nvSpPr>
        <p:spPr>
          <a:xfrm>
            <a:off x="6263640" y="4279392"/>
            <a:ext cx="5230368" cy="1783080"/>
          </a:xfrm>
          <a:prstGeom prst="roundRect">
            <a:avLst>
              <a:gd name="adj" fmla="val 3000"/>
            </a:avLst>
          </a:prstGeom>
          <a:solidFill>
            <a:srgbClr val="FFFFFF"/>
          </a:solidFill>
          <a:ln>
            <a:noFill/>
          </a:ln>
          <a:effectLst/>
        </p:spPr>
        <p:txBody>
          <a:bodyPr rtlCol="0" anchor="ctr" wrap="square" lIns="0" rIns="0" tIns="0" bIns="0"/>
          <a:lstStyle/>
          <a:p>
            <a:pPr algn="ctr"/>
          </a:p>
        </p:txBody>
      </p:sp>
      <p:sp>
        <p:nvSpPr>
          <p:cNvPr id="60" name="Rectangle 59"/>
          <p:cNvSpPr/>
          <p:nvPr/>
        </p:nvSpPr>
        <p:spPr>
          <a:xfrm>
            <a:off x="6263640" y="4279392"/>
            <a:ext cx="45720" cy="1783080"/>
          </a:xfrm>
          <a:prstGeom prst="rect">
            <a:avLst/>
          </a:prstGeom>
          <a:solidFill>
            <a:srgbClr val="0A66C2"/>
          </a:solidFill>
          <a:ln>
            <a:noFill/>
          </a:ln>
          <a:effectLst/>
        </p:spPr>
        <p:txBody>
          <a:bodyPr rtlCol="0" anchor="ctr" wrap="square" lIns="0" rIns="0" tIns="0" bIns="0"/>
          <a:lstStyle/>
          <a:p>
            <a:pPr algn="ctr"/>
          </a:p>
        </p:txBody>
      </p:sp>
      <p:sp>
        <p:nvSpPr>
          <p:cNvPr id="61" name="TextBox 60"/>
          <p:cNvSpPr txBox="1"/>
          <p:nvPr/>
        </p:nvSpPr>
        <p:spPr>
          <a:xfrm>
            <a:off x="6492240" y="4425696"/>
            <a:ext cx="475488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8A99A6"/>
                </a:solidFill>
                <a:latin typeface="微软雅黑"/>
                <a:ea typeface="微软雅黑"/>
              </a:rPr>
              <a:t>这 套 计 划 花 了 多 少</a:t>
            </a:r>
          </a:p>
        </p:txBody>
      </p:sp>
      <p:sp>
        <p:nvSpPr>
          <p:cNvPr id="62" name="TextBox 61"/>
          <p:cNvSpPr txBox="1"/>
          <p:nvPr/>
        </p:nvSpPr>
        <p:spPr>
          <a:xfrm>
            <a:off x="6492240" y="4681728"/>
            <a:ext cx="4800600" cy="1188720"/>
          </a:xfrm>
          <a:prstGeom prst="rect">
            <a:avLst/>
          </a:prstGeom>
          <a:noFill/>
        </p:spPr>
        <p:txBody>
          <a:bodyPr wrap="square" lIns="0" rIns="0" tIns="0" bIns="0" anchor="t">
            <a:spAutoFit/>
          </a:bodyPr>
          <a:lstStyle/>
          <a:p>
            <a:pPr algn="l">
              <a:lnSpc>
                <a:spcPct val="124000"/>
              </a:lnSpc>
              <a:spcBef>
                <a:spcPts val="0"/>
              </a:spcBef>
              <a:spcAft>
                <a:spcPts val="0"/>
              </a:spcAft>
            </a:pPr>
            <a:r>
              <a:rPr sz="880" b="0">
                <a:solidFill>
                  <a:srgbClr val="0E2A47"/>
                </a:solidFill>
                <a:latin typeface="微软雅黑"/>
                <a:ea typeface="微软雅黑"/>
              </a:rPr>
              <a:t>已付 $26,500、待付 $38,000，共 60 条内推——还有两笔录用的奖金仍在待付。奖金政策是可以被模式定价的决定，那两笔就是“它是选择、不是规则”的证据。</a:t>
            </a:r>
          </a:p>
        </p:txBody>
      </p:sp>
      <p:sp>
        <p:nvSpPr>
          <p:cNvPr id="63" name="Rectangle 62"/>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64" name="TextBox 63"/>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65" name="TextBox 64"/>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09  ·  证 据 二</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技能缺口匹配：说出缺的那一项</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Q09 · 一个候选人、二十八个半匹配职位、一份可行动的清单。</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1975104"/>
            <a:ext cx="676656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微软雅黑"/>
                <a:ea typeface="微软雅黑"/>
              </a:rPr>
              <a:t>Q09   ·   候选人满足 ≥ 50% 硬性要求的在招职位</a:t>
            </a:r>
          </a:p>
        </p:txBody>
      </p:sp>
      <p:sp>
        <p:nvSpPr>
          <p:cNvPr id="7" name="Rectangle 6"/>
          <p:cNvSpPr/>
          <p:nvPr/>
        </p:nvSpPr>
        <p:spPr>
          <a:xfrm>
            <a:off x="685800" y="2231136"/>
            <a:ext cx="6931152" cy="310896"/>
          </a:xfrm>
          <a:prstGeom prst="rect">
            <a:avLst/>
          </a:prstGeom>
          <a:solidFill>
            <a:srgbClr val="0E2A47"/>
          </a:solidFill>
          <a:ln>
            <a:noFill/>
          </a:ln>
          <a:effectLst/>
        </p:spPr>
        <p:txBody>
          <a:bodyPr rtlCol="0" anchor="ctr" wrap="square" lIns="0" rIns="0" tIns="0" bIns="0"/>
          <a:lstStyle/>
          <a:p>
            <a:pPr algn="ctr"/>
          </a:p>
        </p:txBody>
      </p:sp>
      <p:sp>
        <p:nvSpPr>
          <p:cNvPr id="8" name="TextBox 7"/>
          <p:cNvSpPr txBox="1"/>
          <p:nvPr/>
        </p:nvSpPr>
        <p:spPr>
          <a:xfrm>
            <a:off x="777240" y="2295144"/>
            <a:ext cx="356616" cy="237744"/>
          </a:xfrm>
          <a:prstGeom prst="rect">
            <a:avLst/>
          </a:prstGeom>
          <a:noFill/>
        </p:spPr>
        <p:txBody>
          <a:bodyPr wrap="square" lIns="0" rIns="0" tIns="0" bIns="0" anchor="t">
            <a:spAutoFit/>
          </a:bodyPr>
          <a:lstStyle/>
          <a:p>
            <a:pPr algn="l">
              <a:lnSpc>
                <a:spcPct val="100000"/>
              </a:lnSpc>
              <a:spcBef>
                <a:spcPts val="0"/>
              </a:spcBef>
              <a:spcAft>
                <a:spcPts val="0"/>
              </a:spcAft>
            </a:pPr>
            <a:r>
              <a:rPr sz="760" b="1">
                <a:solidFill>
                  <a:srgbClr val="FFFFFF"/>
                </a:solidFill>
                <a:latin typeface="微软雅黑"/>
                <a:ea typeface="微软雅黑"/>
              </a:rPr>
              <a:t>职位</a:t>
            </a:r>
          </a:p>
        </p:txBody>
      </p:sp>
      <p:sp>
        <p:nvSpPr>
          <p:cNvPr id="9" name="TextBox 8"/>
          <p:cNvSpPr txBox="1"/>
          <p:nvPr/>
        </p:nvSpPr>
        <p:spPr>
          <a:xfrm>
            <a:off x="1280160" y="2295144"/>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760" b="1">
                <a:solidFill>
                  <a:srgbClr val="FFFFFF"/>
                </a:solidFill>
                <a:latin typeface="微软雅黑"/>
                <a:ea typeface="微软雅黑"/>
              </a:rPr>
              <a:t>岗位</a:t>
            </a:r>
          </a:p>
        </p:txBody>
      </p:sp>
      <p:sp>
        <p:nvSpPr>
          <p:cNvPr id="10" name="TextBox 9"/>
          <p:cNvSpPr txBox="1"/>
          <p:nvPr/>
        </p:nvSpPr>
        <p:spPr>
          <a:xfrm>
            <a:off x="2971800" y="2295144"/>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760" b="1">
                <a:solidFill>
                  <a:srgbClr val="FFFFFF"/>
                </a:solidFill>
                <a:latin typeface="微软雅黑"/>
                <a:ea typeface="微软雅黑"/>
              </a:rPr>
              <a:t>公司</a:t>
            </a:r>
          </a:p>
        </p:txBody>
      </p:sp>
      <p:sp>
        <p:nvSpPr>
          <p:cNvPr id="11" name="TextBox 10"/>
          <p:cNvSpPr txBox="1"/>
          <p:nvPr/>
        </p:nvSpPr>
        <p:spPr>
          <a:xfrm>
            <a:off x="4572000" y="2295144"/>
            <a:ext cx="585216" cy="237744"/>
          </a:xfrm>
          <a:prstGeom prst="rect">
            <a:avLst/>
          </a:prstGeom>
          <a:noFill/>
        </p:spPr>
        <p:txBody>
          <a:bodyPr wrap="square" lIns="0" rIns="0" tIns="0" bIns="0" anchor="t">
            <a:spAutoFit/>
          </a:bodyPr>
          <a:lstStyle/>
          <a:p>
            <a:pPr algn="l">
              <a:lnSpc>
                <a:spcPct val="100000"/>
              </a:lnSpc>
              <a:spcBef>
                <a:spcPts val="0"/>
              </a:spcBef>
              <a:spcAft>
                <a:spcPts val="0"/>
              </a:spcAft>
            </a:pPr>
            <a:r>
              <a:rPr sz="760" b="1">
                <a:solidFill>
                  <a:srgbClr val="FFFFFF"/>
                </a:solidFill>
                <a:latin typeface="微软雅黑"/>
                <a:ea typeface="微软雅黑"/>
              </a:rPr>
              <a:t>已具备</a:t>
            </a:r>
          </a:p>
        </p:txBody>
      </p:sp>
      <p:sp>
        <p:nvSpPr>
          <p:cNvPr id="12" name="TextBox 11"/>
          <p:cNvSpPr txBox="1"/>
          <p:nvPr/>
        </p:nvSpPr>
        <p:spPr>
          <a:xfrm>
            <a:off x="5303520" y="2295144"/>
            <a:ext cx="722375" cy="237744"/>
          </a:xfrm>
          <a:prstGeom prst="rect">
            <a:avLst/>
          </a:prstGeom>
          <a:noFill/>
        </p:spPr>
        <p:txBody>
          <a:bodyPr wrap="square" lIns="0" rIns="0" tIns="0" bIns="0" anchor="t">
            <a:spAutoFit/>
          </a:bodyPr>
          <a:lstStyle/>
          <a:p>
            <a:pPr algn="l">
              <a:lnSpc>
                <a:spcPct val="100000"/>
              </a:lnSpc>
              <a:spcBef>
                <a:spcPts val="0"/>
              </a:spcBef>
              <a:spcAft>
                <a:spcPts val="0"/>
              </a:spcAft>
            </a:pPr>
            <a:r>
              <a:rPr sz="760" b="1">
                <a:solidFill>
                  <a:srgbClr val="FFFFFF"/>
                </a:solidFill>
                <a:latin typeface="微软雅黑"/>
                <a:ea typeface="微软雅黑"/>
              </a:rPr>
              <a:t>匹配度</a:t>
            </a:r>
          </a:p>
        </p:txBody>
      </p:sp>
      <p:sp>
        <p:nvSpPr>
          <p:cNvPr id="13" name="TextBox 12"/>
          <p:cNvSpPr txBox="1"/>
          <p:nvPr/>
        </p:nvSpPr>
        <p:spPr>
          <a:xfrm>
            <a:off x="6172200" y="2295144"/>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760" b="1">
                <a:solidFill>
                  <a:srgbClr val="FFFFFF"/>
                </a:solidFill>
                <a:latin typeface="微软雅黑"/>
                <a:ea typeface="微软雅黑"/>
              </a:rPr>
              <a:t>缺什么</a:t>
            </a:r>
          </a:p>
        </p:txBody>
      </p:sp>
      <p:sp>
        <p:nvSpPr>
          <p:cNvPr id="14" name="TextBox 13"/>
          <p:cNvSpPr txBox="1"/>
          <p:nvPr/>
        </p:nvSpPr>
        <p:spPr>
          <a:xfrm>
            <a:off x="777240" y="2610612"/>
            <a:ext cx="3566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a:t>
            </a:r>
          </a:p>
        </p:txBody>
      </p:sp>
      <p:sp>
        <p:nvSpPr>
          <p:cNvPr id="15" name="TextBox 14"/>
          <p:cNvSpPr txBox="1"/>
          <p:nvPr/>
        </p:nvSpPr>
        <p:spPr>
          <a:xfrm>
            <a:off x="1280160" y="2610612"/>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Merchant Manager</a:t>
            </a:r>
          </a:p>
        </p:txBody>
      </p:sp>
      <p:sp>
        <p:nvSpPr>
          <p:cNvPr id="16" name="TextBox 15"/>
          <p:cNvSpPr txBox="1"/>
          <p:nvPr/>
        </p:nvSpPr>
        <p:spPr>
          <a:xfrm>
            <a:off x="2971800" y="2610612"/>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Amazon</a:t>
            </a:r>
          </a:p>
        </p:txBody>
      </p:sp>
      <p:sp>
        <p:nvSpPr>
          <p:cNvPr id="17" name="TextBox 16"/>
          <p:cNvSpPr txBox="1"/>
          <p:nvPr/>
        </p:nvSpPr>
        <p:spPr>
          <a:xfrm>
            <a:off x="4572000" y="2610612"/>
            <a:ext cx="5852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2 / 3</a:t>
            </a:r>
          </a:p>
        </p:txBody>
      </p:sp>
      <p:sp>
        <p:nvSpPr>
          <p:cNvPr id="18" name="TextBox 17"/>
          <p:cNvSpPr txBox="1"/>
          <p:nvPr/>
        </p:nvSpPr>
        <p:spPr>
          <a:xfrm>
            <a:off x="5303520" y="2610612"/>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66.7%</a:t>
            </a:r>
          </a:p>
        </p:txBody>
      </p:sp>
      <p:sp>
        <p:nvSpPr>
          <p:cNvPr id="19" name="TextBox 18"/>
          <p:cNvSpPr txBox="1"/>
          <p:nvPr/>
        </p:nvSpPr>
        <p:spPr>
          <a:xfrm>
            <a:off x="6172200" y="2610612"/>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Negotiation</a:t>
            </a:r>
          </a:p>
        </p:txBody>
      </p:sp>
      <p:sp>
        <p:nvSpPr>
          <p:cNvPr id="20" name="Rectangle 19"/>
          <p:cNvSpPr/>
          <p:nvPr/>
        </p:nvSpPr>
        <p:spPr>
          <a:xfrm>
            <a:off x="685800" y="2852927"/>
            <a:ext cx="6931152" cy="310896"/>
          </a:xfrm>
          <a:prstGeom prst="rect">
            <a:avLst/>
          </a:prstGeom>
          <a:solidFill>
            <a:srgbClr val="F3F7FA"/>
          </a:solidFill>
          <a:ln>
            <a:noFill/>
          </a:ln>
          <a:effectLst/>
        </p:spPr>
        <p:txBody>
          <a:bodyPr rtlCol="0" anchor="ctr" wrap="square" lIns="0" rIns="0" tIns="0" bIns="0"/>
          <a:lstStyle/>
          <a:p>
            <a:pPr algn="ctr"/>
          </a:p>
        </p:txBody>
      </p:sp>
      <p:sp>
        <p:nvSpPr>
          <p:cNvPr id="21" name="TextBox 20"/>
          <p:cNvSpPr txBox="1"/>
          <p:nvPr/>
        </p:nvSpPr>
        <p:spPr>
          <a:xfrm>
            <a:off x="777240" y="2921508"/>
            <a:ext cx="3566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31</a:t>
            </a:r>
          </a:p>
        </p:txBody>
      </p:sp>
      <p:sp>
        <p:nvSpPr>
          <p:cNvPr id="22" name="TextBox 21"/>
          <p:cNvSpPr txBox="1"/>
          <p:nvPr/>
        </p:nvSpPr>
        <p:spPr>
          <a:xfrm>
            <a:off x="1280160" y="2921508"/>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Growth Analyst</a:t>
            </a:r>
          </a:p>
        </p:txBody>
      </p:sp>
      <p:sp>
        <p:nvSpPr>
          <p:cNvPr id="23" name="TextBox 22"/>
          <p:cNvSpPr txBox="1"/>
          <p:nvPr/>
        </p:nvSpPr>
        <p:spPr>
          <a:xfrm>
            <a:off x="2971800" y="2921508"/>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Tencent</a:t>
            </a:r>
          </a:p>
        </p:txBody>
      </p:sp>
      <p:sp>
        <p:nvSpPr>
          <p:cNvPr id="24" name="TextBox 23"/>
          <p:cNvSpPr txBox="1"/>
          <p:nvPr/>
        </p:nvSpPr>
        <p:spPr>
          <a:xfrm>
            <a:off x="4572000" y="2921508"/>
            <a:ext cx="5852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2 / 3</a:t>
            </a:r>
          </a:p>
        </p:txBody>
      </p:sp>
      <p:sp>
        <p:nvSpPr>
          <p:cNvPr id="25" name="TextBox 24"/>
          <p:cNvSpPr txBox="1"/>
          <p:nvPr/>
        </p:nvSpPr>
        <p:spPr>
          <a:xfrm>
            <a:off x="5303520" y="2921508"/>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66.7%</a:t>
            </a:r>
          </a:p>
        </p:txBody>
      </p:sp>
      <p:sp>
        <p:nvSpPr>
          <p:cNvPr id="26" name="TextBox 25"/>
          <p:cNvSpPr txBox="1"/>
          <p:nvPr/>
        </p:nvSpPr>
        <p:spPr>
          <a:xfrm>
            <a:off x="6172200" y="2921508"/>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Statistical Analysis</a:t>
            </a:r>
          </a:p>
        </p:txBody>
      </p:sp>
      <p:sp>
        <p:nvSpPr>
          <p:cNvPr id="27" name="TextBox 26"/>
          <p:cNvSpPr txBox="1"/>
          <p:nvPr/>
        </p:nvSpPr>
        <p:spPr>
          <a:xfrm>
            <a:off x="777240" y="3232403"/>
            <a:ext cx="3566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40</a:t>
            </a:r>
          </a:p>
        </p:txBody>
      </p:sp>
      <p:sp>
        <p:nvSpPr>
          <p:cNvPr id="28" name="TextBox 27"/>
          <p:cNvSpPr txBox="1"/>
          <p:nvPr/>
        </p:nvSpPr>
        <p:spPr>
          <a:xfrm>
            <a:off x="1280160" y="3232403"/>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Consultant</a:t>
            </a:r>
          </a:p>
        </p:txBody>
      </p:sp>
      <p:sp>
        <p:nvSpPr>
          <p:cNvPr id="29" name="TextBox 28"/>
          <p:cNvSpPr txBox="1"/>
          <p:nvPr/>
        </p:nvSpPr>
        <p:spPr>
          <a:xfrm>
            <a:off x="2971800" y="3232403"/>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McKinsey</a:t>
            </a:r>
          </a:p>
        </p:txBody>
      </p:sp>
      <p:sp>
        <p:nvSpPr>
          <p:cNvPr id="30" name="TextBox 29"/>
          <p:cNvSpPr txBox="1"/>
          <p:nvPr/>
        </p:nvSpPr>
        <p:spPr>
          <a:xfrm>
            <a:off x="4572000" y="3232403"/>
            <a:ext cx="5852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2 / 3</a:t>
            </a:r>
          </a:p>
        </p:txBody>
      </p:sp>
      <p:sp>
        <p:nvSpPr>
          <p:cNvPr id="31" name="TextBox 30"/>
          <p:cNvSpPr txBox="1"/>
          <p:nvPr/>
        </p:nvSpPr>
        <p:spPr>
          <a:xfrm>
            <a:off x="5303520" y="3232403"/>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66.7%</a:t>
            </a:r>
          </a:p>
        </p:txBody>
      </p:sp>
      <p:sp>
        <p:nvSpPr>
          <p:cNvPr id="32" name="TextBox 31"/>
          <p:cNvSpPr txBox="1"/>
          <p:nvPr/>
        </p:nvSpPr>
        <p:spPr>
          <a:xfrm>
            <a:off x="6172200" y="3232403"/>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Data Modelling</a:t>
            </a:r>
          </a:p>
        </p:txBody>
      </p:sp>
      <p:sp>
        <p:nvSpPr>
          <p:cNvPr id="33" name="Rectangle 32"/>
          <p:cNvSpPr/>
          <p:nvPr/>
        </p:nvSpPr>
        <p:spPr>
          <a:xfrm>
            <a:off x="685800" y="3474719"/>
            <a:ext cx="6931152" cy="310896"/>
          </a:xfrm>
          <a:prstGeom prst="rect">
            <a:avLst/>
          </a:prstGeom>
          <a:solidFill>
            <a:srgbClr val="F3F7FA"/>
          </a:solidFill>
          <a:ln>
            <a:noFill/>
          </a:ln>
          <a:effectLst/>
        </p:spPr>
        <p:txBody>
          <a:bodyPr rtlCol="0" anchor="ctr" wrap="square" lIns="0" rIns="0" tIns="0" bIns="0"/>
          <a:lstStyle/>
          <a:p>
            <a:pPr algn="ctr"/>
          </a:p>
        </p:txBody>
      </p:sp>
      <p:sp>
        <p:nvSpPr>
          <p:cNvPr id="34" name="TextBox 33"/>
          <p:cNvSpPr txBox="1"/>
          <p:nvPr/>
        </p:nvSpPr>
        <p:spPr>
          <a:xfrm>
            <a:off x="777240" y="3543299"/>
            <a:ext cx="3566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43</a:t>
            </a:r>
          </a:p>
        </p:txBody>
      </p:sp>
      <p:sp>
        <p:nvSpPr>
          <p:cNvPr id="35" name="TextBox 34"/>
          <p:cNvSpPr txBox="1"/>
          <p:nvPr/>
        </p:nvSpPr>
        <p:spPr>
          <a:xfrm>
            <a:off x="1280160" y="3543299"/>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Technology Auditor</a:t>
            </a:r>
          </a:p>
        </p:txBody>
      </p:sp>
      <p:sp>
        <p:nvSpPr>
          <p:cNvPr id="36" name="TextBox 35"/>
          <p:cNvSpPr txBox="1"/>
          <p:nvPr/>
        </p:nvSpPr>
        <p:spPr>
          <a:xfrm>
            <a:off x="2971800" y="3543299"/>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Goldman Sachs</a:t>
            </a:r>
          </a:p>
        </p:txBody>
      </p:sp>
      <p:sp>
        <p:nvSpPr>
          <p:cNvPr id="37" name="TextBox 36"/>
          <p:cNvSpPr txBox="1"/>
          <p:nvPr/>
        </p:nvSpPr>
        <p:spPr>
          <a:xfrm>
            <a:off x="4572000" y="3543299"/>
            <a:ext cx="5852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2 / 3</a:t>
            </a:r>
          </a:p>
        </p:txBody>
      </p:sp>
      <p:sp>
        <p:nvSpPr>
          <p:cNvPr id="38" name="TextBox 37"/>
          <p:cNvSpPr txBox="1"/>
          <p:nvPr/>
        </p:nvSpPr>
        <p:spPr>
          <a:xfrm>
            <a:off x="5303520" y="3543299"/>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66.7%</a:t>
            </a:r>
          </a:p>
        </p:txBody>
      </p:sp>
      <p:sp>
        <p:nvSpPr>
          <p:cNvPr id="39" name="TextBox 38"/>
          <p:cNvSpPr txBox="1"/>
          <p:nvPr/>
        </p:nvSpPr>
        <p:spPr>
          <a:xfrm>
            <a:off x="6172200" y="3543299"/>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Python</a:t>
            </a:r>
          </a:p>
        </p:txBody>
      </p:sp>
      <p:sp>
        <p:nvSpPr>
          <p:cNvPr id="40" name="TextBox 39"/>
          <p:cNvSpPr txBox="1"/>
          <p:nvPr/>
        </p:nvSpPr>
        <p:spPr>
          <a:xfrm>
            <a:off x="777240" y="3854196"/>
            <a:ext cx="3566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44</a:t>
            </a:r>
          </a:p>
        </p:txBody>
      </p:sp>
      <p:sp>
        <p:nvSpPr>
          <p:cNvPr id="41" name="TextBox 40"/>
          <p:cNvSpPr txBox="1"/>
          <p:nvPr/>
        </p:nvSpPr>
        <p:spPr>
          <a:xfrm>
            <a:off x="1280160" y="3854196"/>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Analyst</a:t>
            </a:r>
          </a:p>
        </p:txBody>
      </p:sp>
      <p:sp>
        <p:nvSpPr>
          <p:cNvPr id="42" name="TextBox 41"/>
          <p:cNvSpPr txBox="1"/>
          <p:nvPr/>
        </p:nvSpPr>
        <p:spPr>
          <a:xfrm>
            <a:off x="2971800" y="3854196"/>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JPMorgan Chase</a:t>
            </a:r>
          </a:p>
        </p:txBody>
      </p:sp>
      <p:sp>
        <p:nvSpPr>
          <p:cNvPr id="43" name="TextBox 42"/>
          <p:cNvSpPr txBox="1"/>
          <p:nvPr/>
        </p:nvSpPr>
        <p:spPr>
          <a:xfrm>
            <a:off x="4572000" y="3854196"/>
            <a:ext cx="5852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2 / 3</a:t>
            </a:r>
          </a:p>
        </p:txBody>
      </p:sp>
      <p:sp>
        <p:nvSpPr>
          <p:cNvPr id="44" name="TextBox 43"/>
          <p:cNvSpPr txBox="1"/>
          <p:nvPr/>
        </p:nvSpPr>
        <p:spPr>
          <a:xfrm>
            <a:off x="5303520" y="3854196"/>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66.7%</a:t>
            </a:r>
          </a:p>
        </p:txBody>
      </p:sp>
      <p:sp>
        <p:nvSpPr>
          <p:cNvPr id="45" name="TextBox 44"/>
          <p:cNvSpPr txBox="1"/>
          <p:nvPr/>
        </p:nvSpPr>
        <p:spPr>
          <a:xfrm>
            <a:off x="6172200" y="3854196"/>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Statistical Analysis</a:t>
            </a:r>
          </a:p>
        </p:txBody>
      </p:sp>
      <p:sp>
        <p:nvSpPr>
          <p:cNvPr id="46" name="Rectangle 45"/>
          <p:cNvSpPr/>
          <p:nvPr/>
        </p:nvSpPr>
        <p:spPr>
          <a:xfrm>
            <a:off x="685800" y="4096511"/>
            <a:ext cx="6931152" cy="310896"/>
          </a:xfrm>
          <a:prstGeom prst="rect">
            <a:avLst/>
          </a:prstGeom>
          <a:solidFill>
            <a:srgbClr val="F3F7FA"/>
          </a:solidFill>
          <a:ln>
            <a:noFill/>
          </a:ln>
          <a:effectLst/>
        </p:spPr>
        <p:txBody>
          <a:bodyPr rtlCol="0" anchor="ctr" wrap="square" lIns="0" rIns="0" tIns="0" bIns="0"/>
          <a:lstStyle/>
          <a:p>
            <a:pPr algn="ctr"/>
          </a:p>
        </p:txBody>
      </p:sp>
      <p:sp>
        <p:nvSpPr>
          <p:cNvPr id="47" name="TextBox 46"/>
          <p:cNvSpPr txBox="1"/>
          <p:nvPr/>
        </p:nvSpPr>
        <p:spPr>
          <a:xfrm>
            <a:off x="777240" y="4165091"/>
            <a:ext cx="3566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47</a:t>
            </a:r>
          </a:p>
        </p:txBody>
      </p:sp>
      <p:sp>
        <p:nvSpPr>
          <p:cNvPr id="48" name="TextBox 47"/>
          <p:cNvSpPr txBox="1"/>
          <p:nvPr/>
        </p:nvSpPr>
        <p:spPr>
          <a:xfrm>
            <a:off x="1280160" y="4165091"/>
            <a:ext cx="154533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Analyst</a:t>
            </a:r>
          </a:p>
        </p:txBody>
      </p:sp>
      <p:sp>
        <p:nvSpPr>
          <p:cNvPr id="49" name="TextBox 48"/>
          <p:cNvSpPr txBox="1"/>
          <p:nvPr/>
        </p:nvSpPr>
        <p:spPr>
          <a:xfrm>
            <a:off x="2971800" y="4165091"/>
            <a:ext cx="1453896"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HSBC</a:t>
            </a:r>
          </a:p>
        </p:txBody>
      </p:sp>
      <p:sp>
        <p:nvSpPr>
          <p:cNvPr id="50" name="TextBox 49"/>
          <p:cNvSpPr txBox="1"/>
          <p:nvPr/>
        </p:nvSpPr>
        <p:spPr>
          <a:xfrm>
            <a:off x="4572000" y="4165091"/>
            <a:ext cx="585216"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2 / 3</a:t>
            </a:r>
          </a:p>
        </p:txBody>
      </p:sp>
      <p:sp>
        <p:nvSpPr>
          <p:cNvPr id="51" name="TextBox 50"/>
          <p:cNvSpPr txBox="1"/>
          <p:nvPr/>
        </p:nvSpPr>
        <p:spPr>
          <a:xfrm>
            <a:off x="5303520" y="4165091"/>
            <a:ext cx="722375" cy="237744"/>
          </a:xfrm>
          <a:prstGeom prst="rect">
            <a:avLst/>
          </a:prstGeom>
          <a:noFill/>
        </p:spPr>
        <p:txBody>
          <a:bodyPr wrap="square" lIns="0" rIns="0" tIns="0" bIns="0" anchor="t">
            <a:spAutoFit/>
          </a:bodyPr>
          <a:lstStyle/>
          <a:p>
            <a:pPr algn="r">
              <a:lnSpc>
                <a:spcPct val="100000"/>
              </a:lnSpc>
              <a:spcBef>
                <a:spcPts val="0"/>
              </a:spcBef>
              <a:spcAft>
                <a:spcPts val="0"/>
              </a:spcAft>
            </a:pPr>
            <a:r>
              <a:rPr sz="860" b="0">
                <a:solidFill>
                  <a:srgbClr val="5A6B7B"/>
                </a:solidFill>
                <a:latin typeface="Segoe UI"/>
              </a:rPr>
              <a:t>66.7%</a:t>
            </a:r>
          </a:p>
        </p:txBody>
      </p:sp>
      <p:sp>
        <p:nvSpPr>
          <p:cNvPr id="52" name="TextBox 51"/>
          <p:cNvSpPr txBox="1"/>
          <p:nvPr/>
        </p:nvSpPr>
        <p:spPr>
          <a:xfrm>
            <a:off x="6172200" y="4165091"/>
            <a:ext cx="1389888" cy="237744"/>
          </a:xfrm>
          <a:prstGeom prst="rect">
            <a:avLst/>
          </a:prstGeom>
          <a:noFill/>
        </p:spPr>
        <p:txBody>
          <a:bodyPr wrap="square" lIns="0" rIns="0" tIns="0" bIns="0" anchor="t">
            <a:spAutoFit/>
          </a:bodyPr>
          <a:lstStyle/>
          <a:p>
            <a:pPr algn="l">
              <a:lnSpc>
                <a:spcPct val="100000"/>
              </a:lnSpc>
              <a:spcBef>
                <a:spcPts val="0"/>
              </a:spcBef>
              <a:spcAft>
                <a:spcPts val="0"/>
              </a:spcAft>
            </a:pPr>
            <a:r>
              <a:rPr sz="860" b="0">
                <a:solidFill>
                  <a:srgbClr val="5A6B7B"/>
                </a:solidFill>
                <a:latin typeface="Segoe UI"/>
              </a:rPr>
              <a:t>Statistical Analysis</a:t>
            </a:r>
          </a:p>
        </p:txBody>
      </p:sp>
      <p:sp>
        <p:nvSpPr>
          <p:cNvPr id="53" name="TextBox 52"/>
          <p:cNvSpPr txBox="1"/>
          <p:nvPr/>
        </p:nvSpPr>
        <p:spPr>
          <a:xfrm>
            <a:off x="685800" y="4443984"/>
            <a:ext cx="6766560" cy="201168"/>
          </a:xfrm>
          <a:prstGeom prst="rect">
            <a:avLst/>
          </a:prstGeom>
          <a:noFill/>
        </p:spPr>
        <p:txBody>
          <a:bodyPr wrap="square" lIns="0" rIns="0" tIns="0" bIns="0" anchor="t">
            <a:spAutoFit/>
          </a:bodyPr>
          <a:lstStyle/>
          <a:p>
            <a:pPr algn="l">
              <a:lnSpc>
                <a:spcPct val="100000"/>
              </a:lnSpc>
              <a:spcBef>
                <a:spcPts val="0"/>
              </a:spcBef>
              <a:spcAft>
                <a:spcPts val="0"/>
              </a:spcAft>
            </a:pPr>
            <a:r>
              <a:rPr sz="720" b="0">
                <a:solidFill>
                  <a:srgbClr val="8A99A6"/>
                </a:solidFill>
                <a:latin typeface="微软雅黑"/>
                <a:ea typeface="微软雅黑"/>
              </a:rPr>
              <a:t>28 个达标职位中匹配度最高的 12 个，按匹配度排序；CSV 里就是这十二行</a:t>
            </a:r>
          </a:p>
        </p:txBody>
      </p:sp>
      <p:sp>
        <p:nvSpPr>
          <p:cNvPr id="54" name="Rounded Rectangle 53"/>
          <p:cNvSpPr/>
          <p:nvPr/>
        </p:nvSpPr>
        <p:spPr>
          <a:xfrm>
            <a:off x="685800" y="4773168"/>
            <a:ext cx="6766560" cy="1298448"/>
          </a:xfrm>
          <a:prstGeom prst="roundRect">
            <a:avLst>
              <a:gd name="adj" fmla="val 3000"/>
            </a:avLst>
          </a:prstGeom>
          <a:solidFill>
            <a:srgbClr val="FFFFFF"/>
          </a:solidFill>
          <a:ln>
            <a:noFill/>
          </a:ln>
          <a:effectLst/>
        </p:spPr>
        <p:txBody>
          <a:bodyPr rtlCol="0" anchor="ctr" wrap="square" lIns="0" rIns="0" tIns="0" bIns="0"/>
          <a:lstStyle/>
          <a:p>
            <a:pPr algn="ctr"/>
          </a:p>
        </p:txBody>
      </p:sp>
      <p:sp>
        <p:nvSpPr>
          <p:cNvPr id="55" name="Rectangle 54"/>
          <p:cNvSpPr/>
          <p:nvPr/>
        </p:nvSpPr>
        <p:spPr>
          <a:xfrm>
            <a:off x="685800" y="4773168"/>
            <a:ext cx="45720" cy="1298448"/>
          </a:xfrm>
          <a:prstGeom prst="rect">
            <a:avLst/>
          </a:prstGeom>
          <a:solidFill>
            <a:srgbClr val="0A66C2"/>
          </a:solidFill>
          <a:ln>
            <a:noFill/>
          </a:ln>
          <a:effectLst/>
        </p:spPr>
        <p:txBody>
          <a:bodyPr rtlCol="0" anchor="ctr" wrap="square" lIns="0" rIns="0" tIns="0" bIns="0"/>
          <a:lstStyle/>
          <a:p>
            <a:pPr algn="ctr"/>
          </a:p>
        </p:txBody>
      </p:sp>
      <p:sp>
        <p:nvSpPr>
          <p:cNvPr id="56" name="TextBox 55"/>
          <p:cNvSpPr txBox="1"/>
          <p:nvPr/>
        </p:nvSpPr>
        <p:spPr>
          <a:xfrm>
            <a:off x="932688" y="4901184"/>
            <a:ext cx="63093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微软雅黑"/>
                <a:ea typeface="微软雅黑"/>
              </a:rPr>
              <a:t>一 句 话 说 清 缺 口</a:t>
            </a:r>
          </a:p>
        </p:txBody>
      </p:sp>
      <p:sp>
        <p:nvSpPr>
          <p:cNvPr id="57" name="TextBox 56"/>
          <p:cNvSpPr txBox="1"/>
          <p:nvPr/>
        </p:nvSpPr>
        <p:spPr>
          <a:xfrm>
            <a:off x="932688" y="5157216"/>
            <a:ext cx="6355080" cy="822960"/>
          </a:xfrm>
          <a:prstGeom prst="rect">
            <a:avLst/>
          </a:prstGeom>
          <a:noFill/>
        </p:spPr>
        <p:txBody>
          <a:bodyPr wrap="square" lIns="0" rIns="0" tIns="0" bIns="0" anchor="t">
            <a:spAutoFit/>
          </a:bodyPr>
          <a:lstStyle/>
          <a:p>
            <a:pPr algn="l">
              <a:lnSpc>
                <a:spcPct val="124000"/>
              </a:lnSpc>
              <a:spcBef>
                <a:spcPts val="0"/>
              </a:spcBef>
              <a:spcAft>
                <a:spcPts val="0"/>
              </a:spcAft>
            </a:pPr>
            <a:r>
              <a:rPr sz="940" b="0">
                <a:solidFill>
                  <a:srgbClr val="0E2A47"/>
                </a:solidFill>
                <a:latin typeface="微软雅黑"/>
                <a:ea typeface="微软雅黑"/>
              </a:rPr>
              <a:t>在最近的十二个职位里，统计分析缺了五次——补一门课，就能让候选人在五个职位上从“半合格”变成“合格”。</a:t>
            </a:r>
          </a:p>
        </p:txBody>
      </p:sp>
      <p:sp>
        <p:nvSpPr>
          <p:cNvPr id="58" name="Rounded Rectangle 57"/>
          <p:cNvSpPr/>
          <p:nvPr/>
        </p:nvSpPr>
        <p:spPr>
          <a:xfrm>
            <a:off x="7818120" y="1975104"/>
            <a:ext cx="3703320" cy="2084831"/>
          </a:xfrm>
          <a:prstGeom prst="roundRect">
            <a:avLst>
              <a:gd name="adj" fmla="val 3000"/>
            </a:avLst>
          </a:prstGeom>
          <a:solidFill>
            <a:srgbClr val="F3F7FA"/>
          </a:solidFill>
          <a:ln>
            <a:noFill/>
          </a:ln>
          <a:effectLst/>
        </p:spPr>
        <p:txBody>
          <a:bodyPr rtlCol="0" anchor="ctr" wrap="square" lIns="0" rIns="0" tIns="0" bIns="0"/>
          <a:lstStyle/>
          <a:p>
            <a:pPr algn="ctr"/>
          </a:p>
        </p:txBody>
      </p:sp>
      <p:sp>
        <p:nvSpPr>
          <p:cNvPr id="59" name="TextBox 58"/>
          <p:cNvSpPr txBox="1"/>
          <p:nvPr/>
        </p:nvSpPr>
        <p:spPr>
          <a:xfrm>
            <a:off x="8065008" y="2121408"/>
            <a:ext cx="32004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微软雅黑"/>
                <a:ea typeface="微软雅黑"/>
              </a:rPr>
              <a:t>匹 配 是 怎 么 算 的</a:t>
            </a:r>
          </a:p>
        </p:txBody>
      </p:sp>
      <p:sp>
        <p:nvSpPr>
          <p:cNvPr id="60" name="TextBox 59"/>
          <p:cNvSpPr txBox="1"/>
          <p:nvPr/>
        </p:nvSpPr>
        <p:spPr>
          <a:xfrm>
            <a:off x="8065008" y="2377440"/>
            <a:ext cx="3246120" cy="1554480"/>
          </a:xfrm>
          <a:prstGeom prst="rect">
            <a:avLst/>
          </a:prstGeom>
          <a:noFill/>
        </p:spPr>
        <p:txBody>
          <a:bodyPr wrap="square" lIns="0" rIns="0" tIns="0" bIns="0" anchor="t">
            <a:spAutoFit/>
          </a:bodyPr>
          <a:lstStyle/>
          <a:p>
            <a:pPr algn="l">
              <a:lnSpc>
                <a:spcPct val="150000"/>
              </a:lnSpc>
              <a:spcBef>
                <a:spcPts val="0"/>
              </a:spcBef>
              <a:spcAft>
                <a:spcPts val="0"/>
              </a:spcAft>
            </a:pPr>
            <a:r>
              <a:rPr sz="860" b="0">
                <a:solidFill>
                  <a:srgbClr val="0E2A47"/>
                </a:solidFill>
                <a:latin typeface="Segoe UI"/>
              </a:rPr>
              <a:t>required ← job_skill WHERE importance = 'REQUIRED'</a:t>
            </a:r>
          </a:p>
          <a:p>
            <a:pPr algn="l">
              <a:lnSpc>
                <a:spcPct val="150000"/>
              </a:lnSpc>
              <a:spcBef>
                <a:spcPts val="0"/>
              </a:spcBef>
              <a:spcAft>
                <a:spcPts val="0"/>
              </a:spcAft>
            </a:pPr>
            <a:r>
              <a:rPr sz="860" b="0">
                <a:solidFill>
                  <a:srgbClr val="0E2A47"/>
                </a:solidFill>
                <a:latin typeface="Segoe UI"/>
              </a:rPr>
              <a:t>held      ← member_skill WHERE proficiency ≥ minimum</a:t>
            </a:r>
          </a:p>
          <a:p>
            <a:pPr algn="l">
              <a:lnSpc>
                <a:spcPct val="150000"/>
              </a:lnSpc>
              <a:spcBef>
                <a:spcPts val="0"/>
              </a:spcBef>
              <a:spcAft>
                <a:spcPts val="0"/>
              </a:spcAft>
            </a:pPr>
            <a:r>
              <a:rPr sz="860" b="0">
                <a:solidFill>
                  <a:srgbClr val="0E2A47"/>
                </a:solidFill>
                <a:latin typeface="Segoe UI"/>
              </a:rPr>
              <a:t>match %   = held ÷ required</a:t>
            </a:r>
          </a:p>
          <a:p>
            <a:pPr algn="l">
              <a:lnSpc>
                <a:spcPct val="150000"/>
              </a:lnSpc>
              <a:spcBef>
                <a:spcPts val="0"/>
              </a:spcBef>
              <a:spcAft>
                <a:spcPts val="0"/>
              </a:spcAft>
            </a:pPr>
            <a:r>
              <a:rPr sz="860" b="0">
                <a:solidFill>
                  <a:srgbClr val="0E2A47"/>
                </a:solidFill>
                <a:latin typeface="Segoe UI"/>
              </a:rPr>
              <a:t>missing   ← required set minus held set</a:t>
            </a:r>
          </a:p>
        </p:txBody>
      </p:sp>
      <p:sp>
        <p:nvSpPr>
          <p:cNvPr id="61" name="TextBox 60"/>
          <p:cNvSpPr txBox="1"/>
          <p:nvPr/>
        </p:nvSpPr>
        <p:spPr>
          <a:xfrm>
            <a:off x="7818120" y="4187952"/>
            <a:ext cx="370332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微软雅黑"/>
                <a:ea typeface="微软雅黑"/>
              </a:rPr>
              <a:t>难 在 哪 里</a:t>
            </a:r>
          </a:p>
        </p:txBody>
      </p:sp>
      <p:sp>
        <p:nvSpPr>
          <p:cNvPr id="62" name="TextBox 61"/>
          <p:cNvSpPr txBox="1"/>
          <p:nvPr/>
        </p:nvSpPr>
        <p:spPr>
          <a:xfrm>
            <a:off x="7818120" y="4443984"/>
            <a:ext cx="3703320" cy="1417320"/>
          </a:xfrm>
          <a:prstGeom prst="rect">
            <a:avLst/>
          </a:prstGeom>
          <a:noFill/>
        </p:spPr>
        <p:txBody>
          <a:bodyPr wrap="square" lIns="0" rIns="0" tIns="0" bIns="0" anchor="t">
            <a:spAutoFit/>
          </a:bodyPr>
          <a:lstStyle/>
          <a:p>
            <a:pPr algn="l">
              <a:lnSpc>
                <a:spcPct val="122000"/>
              </a:lnSpc>
              <a:spcBef>
                <a:spcPts val="0"/>
              </a:spcBef>
              <a:spcAft>
                <a:spcPts val="0"/>
              </a:spcAft>
            </a:pPr>
            <a:r>
              <a:rPr sz="860" b="0">
                <a:solidFill>
                  <a:srgbClr val="5A6B7B"/>
                </a:solidFill>
                <a:latin typeface="微软雅黑"/>
                <a:ea typeface="微软雅黑"/>
              </a:rPr>
              <a:t>只按技能 id 匹配会高估适配度：熟练度 2 和职位要求的最低 4 不是一回事。连接里带上这个阈值，匹配度才站得住。</a:t>
            </a:r>
          </a:p>
        </p:txBody>
      </p:sp>
      <p:sp>
        <p:nvSpPr>
          <p:cNvPr id="63" name="Rounded Rectangle 62"/>
          <p:cNvSpPr/>
          <p:nvPr/>
        </p:nvSpPr>
        <p:spPr>
          <a:xfrm>
            <a:off x="7818120" y="5742432"/>
            <a:ext cx="1170432"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64" name="TextBox 63"/>
          <p:cNvSpPr txBox="1"/>
          <p:nvPr/>
        </p:nvSpPr>
        <p:spPr>
          <a:xfrm>
            <a:off x="8019288" y="5815584"/>
            <a:ext cx="896112"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28</a:t>
            </a:r>
          </a:p>
        </p:txBody>
      </p:sp>
      <p:sp>
        <p:nvSpPr>
          <p:cNvPr id="65" name="TextBox 64"/>
          <p:cNvSpPr txBox="1"/>
          <p:nvPr/>
        </p:nvSpPr>
        <p:spPr>
          <a:xfrm>
            <a:off x="8019288" y="6144768"/>
            <a:ext cx="896112"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匹配 ≥ 50% 的职位</a:t>
            </a:r>
          </a:p>
        </p:txBody>
      </p:sp>
      <p:sp>
        <p:nvSpPr>
          <p:cNvPr id="66" name="Rounded Rectangle 65"/>
          <p:cNvSpPr/>
          <p:nvPr/>
        </p:nvSpPr>
        <p:spPr>
          <a:xfrm>
            <a:off x="9079992" y="5742432"/>
            <a:ext cx="123444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67" name="TextBox 66"/>
          <p:cNvSpPr txBox="1"/>
          <p:nvPr/>
        </p:nvSpPr>
        <p:spPr>
          <a:xfrm>
            <a:off x="9281160" y="5815584"/>
            <a:ext cx="96012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66.7%</a:t>
            </a:r>
          </a:p>
        </p:txBody>
      </p:sp>
      <p:sp>
        <p:nvSpPr>
          <p:cNvPr id="68" name="TextBox 67"/>
          <p:cNvSpPr txBox="1"/>
          <p:nvPr/>
        </p:nvSpPr>
        <p:spPr>
          <a:xfrm>
            <a:off x="9281160" y="6144768"/>
            <a:ext cx="96012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最 高 匹 配</a:t>
            </a:r>
          </a:p>
        </p:txBody>
      </p:sp>
      <p:sp>
        <p:nvSpPr>
          <p:cNvPr id="69" name="Rounded Rectangle 68"/>
          <p:cNvSpPr/>
          <p:nvPr/>
        </p:nvSpPr>
        <p:spPr>
          <a:xfrm>
            <a:off x="10405872" y="5742432"/>
            <a:ext cx="1115568"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70" name="TextBox 69"/>
          <p:cNvSpPr txBox="1"/>
          <p:nvPr/>
        </p:nvSpPr>
        <p:spPr>
          <a:xfrm>
            <a:off x="10607040" y="5815584"/>
            <a:ext cx="841247"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a:t>
            </a:r>
          </a:p>
        </p:txBody>
      </p:sp>
      <p:sp>
        <p:nvSpPr>
          <p:cNvPr id="71" name="TextBox 70"/>
          <p:cNvSpPr txBox="1"/>
          <p:nvPr/>
        </p:nvSpPr>
        <p:spPr>
          <a:xfrm>
            <a:off x="10607040" y="6144768"/>
            <a:ext cx="841247"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缺 失 技 能</a:t>
            </a:r>
          </a:p>
        </p:txBody>
      </p:sp>
      <p:sp>
        <p:nvSpPr>
          <p:cNvPr id="72" name="Rectangle 71"/>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73" name="TextBox 72"/>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74" name="TextBox 73"/>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09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10  ·  证 据 三</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两跳之内的熟人引荐</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Q18 · 社交图走两跳，再与职位的硬性要求交叉。</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1956816"/>
            <a:ext cx="676656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微软雅黑"/>
                <a:ea typeface="微软雅黑"/>
              </a:rPr>
              <a:t>Q18   ·   职位 79 · 交付经理 · IBM</a:t>
            </a:r>
          </a:p>
        </p:txBody>
      </p:sp>
      <p:sp>
        <p:nvSpPr>
          <p:cNvPr id="7" name="Rounded Rectangle 6"/>
          <p:cNvSpPr/>
          <p:nvPr/>
        </p:nvSpPr>
        <p:spPr>
          <a:xfrm>
            <a:off x="685800" y="2249424"/>
            <a:ext cx="1755648" cy="932688"/>
          </a:xfrm>
          <a:prstGeom prst="roundRect">
            <a:avLst>
              <a:gd name="adj" fmla="val 5000"/>
            </a:avLst>
          </a:prstGeom>
          <a:solidFill>
            <a:srgbClr val="F3F7FA"/>
          </a:solidFill>
          <a:ln>
            <a:noFill/>
          </a:ln>
          <a:effectLst/>
        </p:spPr>
        <p:txBody>
          <a:bodyPr rtlCol="0" anchor="ctr" wrap="square" lIns="0" rIns="0" tIns="0" bIns="0"/>
          <a:lstStyle/>
          <a:p>
            <a:pPr algn="ctr"/>
          </a:p>
        </p:txBody>
      </p:sp>
      <p:sp>
        <p:nvSpPr>
          <p:cNvPr id="8" name="TextBox 7"/>
          <p:cNvSpPr txBox="1"/>
          <p:nvPr/>
        </p:nvSpPr>
        <p:spPr>
          <a:xfrm>
            <a:off x="813816" y="2322576"/>
            <a:ext cx="1554480" cy="182880"/>
          </a:xfrm>
          <a:prstGeom prst="rect">
            <a:avLst/>
          </a:prstGeom>
          <a:noFill/>
        </p:spPr>
        <p:txBody>
          <a:bodyPr wrap="square" lIns="0" rIns="0" tIns="0" bIns="0" anchor="t">
            <a:spAutoFit/>
          </a:bodyPr>
          <a:lstStyle/>
          <a:p>
            <a:pPr algn="l">
              <a:lnSpc>
                <a:spcPct val="100000"/>
              </a:lnSpc>
              <a:spcBef>
                <a:spcPts val="0"/>
              </a:spcBef>
              <a:spcAft>
                <a:spcPts val="0"/>
              </a:spcAft>
            </a:pPr>
            <a:r>
              <a:rPr sz="700" b="1">
                <a:solidFill>
                  <a:srgbClr val="8A99A6"/>
                </a:solidFill>
                <a:latin typeface="微软雅黑"/>
                <a:ea typeface="微软雅黑"/>
              </a:rPr>
              <a:t>候 选 人</a:t>
            </a:r>
          </a:p>
        </p:txBody>
      </p:sp>
      <p:sp>
        <p:nvSpPr>
          <p:cNvPr id="9" name="TextBox 8"/>
          <p:cNvSpPr txBox="1"/>
          <p:nvPr/>
        </p:nvSpPr>
        <p:spPr>
          <a:xfrm>
            <a:off x="813816" y="2542032"/>
            <a:ext cx="1554480" cy="566928"/>
          </a:xfrm>
          <a:prstGeom prst="rect">
            <a:avLst/>
          </a:prstGeom>
          <a:noFill/>
        </p:spPr>
        <p:txBody>
          <a:bodyPr wrap="square" lIns="0" rIns="0" tIns="0" bIns="0" anchor="t">
            <a:spAutoFit/>
          </a:bodyPr>
          <a:lstStyle/>
          <a:p>
            <a:pPr algn="l">
              <a:lnSpc>
                <a:spcPct val="112000"/>
              </a:lnSpc>
              <a:spcBef>
                <a:spcPts val="0"/>
              </a:spcBef>
              <a:spcAft>
                <a:spcPts val="0"/>
              </a:spcAft>
            </a:pPr>
            <a:r>
              <a:rPr sz="819" b="1">
                <a:solidFill>
                  <a:srgbClr val="0E2A47"/>
                </a:solidFill>
                <a:latin typeface="Segoe UI"/>
              </a:rPr>
              <a:t>Grace Sun</a:t>
            </a:r>
          </a:p>
          <a:p>
            <a:pPr algn="l">
              <a:lnSpc>
                <a:spcPct val="112000"/>
              </a:lnSpc>
              <a:spcBef>
                <a:spcPts val="0"/>
              </a:spcBef>
              <a:spcAft>
                <a:spcPts val="0"/>
              </a:spcAft>
            </a:pPr>
            <a:r>
              <a:rPr sz="819" b="1">
                <a:solidFill>
                  <a:srgbClr val="0E2A47"/>
                </a:solidFill>
                <a:latin typeface="微软雅黑"/>
                <a:ea typeface="微软雅黑"/>
              </a:rPr>
              <a:t>8 年经验 · 旧金山</a:t>
            </a:r>
          </a:p>
        </p:txBody>
      </p:sp>
      <p:sp>
        <p:nvSpPr>
          <p:cNvPr id="10" name="Rounded Rectangle 9"/>
          <p:cNvSpPr/>
          <p:nvPr/>
        </p:nvSpPr>
        <p:spPr>
          <a:xfrm>
            <a:off x="2633472" y="2249424"/>
            <a:ext cx="1755648" cy="932688"/>
          </a:xfrm>
          <a:prstGeom prst="roundRect">
            <a:avLst>
              <a:gd name="adj" fmla="val 5000"/>
            </a:avLst>
          </a:prstGeom>
          <a:solidFill>
            <a:srgbClr val="F3F7FA"/>
          </a:solidFill>
          <a:ln>
            <a:noFill/>
          </a:ln>
          <a:effectLst/>
        </p:spPr>
        <p:txBody>
          <a:bodyPr rtlCol="0" anchor="ctr" wrap="square" lIns="0" rIns="0" tIns="0" bIns="0"/>
          <a:lstStyle/>
          <a:p>
            <a:pPr algn="ctr"/>
          </a:p>
        </p:txBody>
      </p:sp>
      <p:sp>
        <p:nvSpPr>
          <p:cNvPr id="11" name="TextBox 10"/>
          <p:cNvSpPr txBox="1"/>
          <p:nvPr/>
        </p:nvSpPr>
        <p:spPr>
          <a:xfrm>
            <a:off x="2761488" y="2322576"/>
            <a:ext cx="1554480" cy="182880"/>
          </a:xfrm>
          <a:prstGeom prst="rect">
            <a:avLst/>
          </a:prstGeom>
          <a:noFill/>
        </p:spPr>
        <p:txBody>
          <a:bodyPr wrap="square" lIns="0" rIns="0" tIns="0" bIns="0" anchor="t">
            <a:spAutoFit/>
          </a:bodyPr>
          <a:lstStyle/>
          <a:p>
            <a:pPr algn="l">
              <a:lnSpc>
                <a:spcPct val="100000"/>
              </a:lnSpc>
              <a:spcBef>
                <a:spcPts val="0"/>
              </a:spcBef>
              <a:spcAft>
                <a:spcPts val="0"/>
              </a:spcAft>
            </a:pPr>
            <a:r>
              <a:rPr sz="700" b="1">
                <a:solidFill>
                  <a:srgbClr val="8A99A6"/>
                </a:solidFill>
                <a:latin typeface="微软雅黑"/>
                <a:ea typeface="微软雅黑"/>
              </a:rPr>
              <a:t>一 度 人 脉</a:t>
            </a:r>
          </a:p>
        </p:txBody>
      </p:sp>
      <p:sp>
        <p:nvSpPr>
          <p:cNvPr id="12" name="TextBox 11"/>
          <p:cNvSpPr txBox="1"/>
          <p:nvPr/>
        </p:nvSpPr>
        <p:spPr>
          <a:xfrm>
            <a:off x="2761488" y="2542032"/>
            <a:ext cx="1554480" cy="566928"/>
          </a:xfrm>
          <a:prstGeom prst="rect">
            <a:avLst/>
          </a:prstGeom>
          <a:noFill/>
        </p:spPr>
        <p:txBody>
          <a:bodyPr wrap="square" lIns="0" rIns="0" tIns="0" bIns="0" anchor="t">
            <a:spAutoFit/>
          </a:bodyPr>
          <a:lstStyle/>
          <a:p>
            <a:pPr algn="l">
              <a:lnSpc>
                <a:spcPct val="112000"/>
              </a:lnSpc>
              <a:spcBef>
                <a:spcPts val="0"/>
              </a:spcBef>
              <a:spcAft>
                <a:spcPts val="0"/>
              </a:spcAft>
            </a:pPr>
            <a:r>
              <a:rPr sz="819" b="1">
                <a:solidFill>
                  <a:srgbClr val="0E2A47"/>
                </a:solidFill>
                <a:latin typeface="Segoe UI"/>
              </a:rPr>
              <a:t>Clara Ma</a:t>
            </a:r>
          </a:p>
          <a:p>
            <a:pPr algn="l">
              <a:lnSpc>
                <a:spcPct val="112000"/>
              </a:lnSpc>
              <a:spcBef>
                <a:spcPts val="0"/>
              </a:spcBef>
              <a:spcAft>
                <a:spcPts val="0"/>
              </a:spcAft>
            </a:pPr>
            <a:r>
              <a:rPr sz="819" b="1">
                <a:solidFill>
                  <a:srgbClr val="0E2A47"/>
                </a:solidFill>
                <a:latin typeface="微软雅黑"/>
                <a:ea typeface="微软雅黑"/>
              </a:rPr>
              <a:t>在 IBM 工作</a:t>
            </a:r>
          </a:p>
        </p:txBody>
      </p:sp>
      <p:sp>
        <p:nvSpPr>
          <p:cNvPr id="13" name="Rounded Rectangle 12"/>
          <p:cNvSpPr/>
          <p:nvPr/>
        </p:nvSpPr>
        <p:spPr>
          <a:xfrm>
            <a:off x="4581144" y="2249424"/>
            <a:ext cx="1755648" cy="932688"/>
          </a:xfrm>
          <a:prstGeom prst="roundRect">
            <a:avLst>
              <a:gd name="adj" fmla="val 5000"/>
            </a:avLst>
          </a:prstGeom>
          <a:solidFill>
            <a:srgbClr val="F3F7FA"/>
          </a:solidFill>
          <a:ln>
            <a:noFill/>
          </a:ln>
          <a:effectLst/>
        </p:spPr>
        <p:txBody>
          <a:bodyPr rtlCol="0" anchor="ctr" wrap="square" lIns="0" rIns="0" tIns="0" bIns="0"/>
          <a:lstStyle/>
          <a:p>
            <a:pPr algn="ctr"/>
          </a:p>
        </p:txBody>
      </p:sp>
      <p:sp>
        <p:nvSpPr>
          <p:cNvPr id="14" name="TextBox 13"/>
          <p:cNvSpPr txBox="1"/>
          <p:nvPr/>
        </p:nvSpPr>
        <p:spPr>
          <a:xfrm>
            <a:off x="4709159" y="2322576"/>
            <a:ext cx="1554480" cy="182880"/>
          </a:xfrm>
          <a:prstGeom prst="rect">
            <a:avLst/>
          </a:prstGeom>
          <a:noFill/>
        </p:spPr>
        <p:txBody>
          <a:bodyPr wrap="square" lIns="0" rIns="0" tIns="0" bIns="0" anchor="t">
            <a:spAutoFit/>
          </a:bodyPr>
          <a:lstStyle/>
          <a:p>
            <a:pPr algn="l">
              <a:lnSpc>
                <a:spcPct val="100000"/>
              </a:lnSpc>
              <a:spcBef>
                <a:spcPts val="0"/>
              </a:spcBef>
              <a:spcAft>
                <a:spcPts val="0"/>
              </a:spcAft>
            </a:pPr>
            <a:r>
              <a:rPr sz="700" b="1">
                <a:solidFill>
                  <a:srgbClr val="8A99A6"/>
                </a:solidFill>
                <a:latin typeface="微软雅黑"/>
                <a:ea typeface="微软雅黑"/>
              </a:rPr>
              <a:t>招 聘 团 队</a:t>
            </a:r>
          </a:p>
        </p:txBody>
      </p:sp>
      <p:sp>
        <p:nvSpPr>
          <p:cNvPr id="15" name="TextBox 14"/>
          <p:cNvSpPr txBox="1"/>
          <p:nvPr/>
        </p:nvSpPr>
        <p:spPr>
          <a:xfrm>
            <a:off x="4709159" y="2542032"/>
            <a:ext cx="1554480" cy="566928"/>
          </a:xfrm>
          <a:prstGeom prst="rect">
            <a:avLst/>
          </a:prstGeom>
          <a:noFill/>
        </p:spPr>
        <p:txBody>
          <a:bodyPr wrap="square" lIns="0" rIns="0" tIns="0" bIns="0" anchor="t">
            <a:spAutoFit/>
          </a:bodyPr>
          <a:lstStyle/>
          <a:p>
            <a:pPr algn="l">
              <a:lnSpc>
                <a:spcPct val="112000"/>
              </a:lnSpc>
              <a:spcBef>
                <a:spcPts val="0"/>
              </a:spcBef>
              <a:spcAft>
                <a:spcPts val="0"/>
              </a:spcAft>
            </a:pPr>
            <a:r>
              <a:rPr sz="819" b="1">
                <a:solidFill>
                  <a:srgbClr val="0E2A47"/>
                </a:solidFill>
                <a:latin typeface="微软雅黑"/>
                <a:ea typeface="微软雅黑"/>
              </a:rPr>
              <a:t>IBM · 6 名员工</a:t>
            </a:r>
          </a:p>
          <a:p>
            <a:pPr algn="l">
              <a:lnSpc>
                <a:spcPct val="112000"/>
              </a:lnSpc>
              <a:spcBef>
                <a:spcPts val="0"/>
              </a:spcBef>
              <a:spcAft>
                <a:spcPts val="0"/>
              </a:spcAft>
            </a:pPr>
            <a:r>
              <a:rPr sz="819" b="1">
                <a:solidFill>
                  <a:srgbClr val="0E2A47"/>
                </a:solidFill>
                <a:latin typeface="微软雅黑"/>
                <a:ea typeface="微软雅黑"/>
              </a:rPr>
              <a:t>5 项硬性要求</a:t>
            </a:r>
          </a:p>
        </p:txBody>
      </p:sp>
      <p:sp>
        <p:nvSpPr>
          <p:cNvPr id="16" name="TextBox 15"/>
          <p:cNvSpPr txBox="1"/>
          <p:nvPr/>
        </p:nvSpPr>
        <p:spPr>
          <a:xfrm>
            <a:off x="2450592" y="2560320"/>
            <a:ext cx="201168" cy="219456"/>
          </a:xfrm>
          <a:prstGeom prst="rect">
            <a:avLst/>
          </a:prstGeom>
          <a:noFill/>
        </p:spPr>
        <p:txBody>
          <a:bodyPr wrap="square" lIns="0" rIns="0" tIns="0" bIns="0" anchor="t">
            <a:spAutoFit/>
          </a:bodyPr>
          <a:lstStyle/>
          <a:p>
            <a:pPr algn="ctr">
              <a:lnSpc>
                <a:spcPct val="100000"/>
              </a:lnSpc>
              <a:spcBef>
                <a:spcPts val="0"/>
              </a:spcBef>
              <a:spcAft>
                <a:spcPts val="0"/>
              </a:spcAft>
            </a:pPr>
            <a:r>
              <a:rPr sz="1400" b="1">
                <a:solidFill>
                  <a:srgbClr val="0A66C2"/>
                </a:solidFill>
                <a:latin typeface="Segoe UI"/>
              </a:rPr>
              <a:t>›</a:t>
            </a:r>
          </a:p>
        </p:txBody>
      </p:sp>
      <p:sp>
        <p:nvSpPr>
          <p:cNvPr id="17" name="TextBox 16"/>
          <p:cNvSpPr txBox="1"/>
          <p:nvPr/>
        </p:nvSpPr>
        <p:spPr>
          <a:xfrm>
            <a:off x="4398264" y="2560320"/>
            <a:ext cx="201168" cy="219456"/>
          </a:xfrm>
          <a:prstGeom prst="rect">
            <a:avLst/>
          </a:prstGeom>
          <a:noFill/>
        </p:spPr>
        <p:txBody>
          <a:bodyPr wrap="square" lIns="0" rIns="0" tIns="0" bIns="0" anchor="t">
            <a:spAutoFit/>
          </a:bodyPr>
          <a:lstStyle/>
          <a:p>
            <a:pPr algn="ctr">
              <a:lnSpc>
                <a:spcPct val="100000"/>
              </a:lnSpc>
              <a:spcBef>
                <a:spcPts val="0"/>
              </a:spcBef>
              <a:spcAft>
                <a:spcPts val="0"/>
              </a:spcAft>
            </a:pPr>
            <a:r>
              <a:rPr sz="1400" b="1">
                <a:solidFill>
                  <a:srgbClr val="0A66C2"/>
                </a:solidFill>
                <a:latin typeface="Segoe UI"/>
              </a:rPr>
              <a:t>›</a:t>
            </a:r>
          </a:p>
        </p:txBody>
      </p:sp>
      <p:sp>
        <p:nvSpPr>
          <p:cNvPr id="18" name="Rectangle 17"/>
          <p:cNvSpPr/>
          <p:nvPr/>
        </p:nvSpPr>
        <p:spPr>
          <a:xfrm>
            <a:off x="685800" y="3401568"/>
            <a:ext cx="4983480" cy="292608"/>
          </a:xfrm>
          <a:prstGeom prst="rect">
            <a:avLst/>
          </a:prstGeom>
          <a:solidFill>
            <a:srgbClr val="0E2A47"/>
          </a:solidFill>
          <a:ln>
            <a:noFill/>
          </a:ln>
          <a:effectLst/>
        </p:spPr>
        <p:txBody>
          <a:bodyPr rtlCol="0" anchor="ctr" wrap="square" lIns="0" rIns="0" tIns="0" bIns="0"/>
          <a:lstStyle/>
          <a:p>
            <a:pPr algn="ctr"/>
          </a:p>
        </p:txBody>
      </p:sp>
      <p:sp>
        <p:nvSpPr>
          <p:cNvPr id="19" name="TextBox 18"/>
          <p:cNvSpPr txBox="1"/>
          <p:nvPr/>
        </p:nvSpPr>
        <p:spPr>
          <a:xfrm>
            <a:off x="777240" y="3465576"/>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740" b="1">
                <a:solidFill>
                  <a:srgbClr val="FFFFFF"/>
                </a:solidFill>
                <a:latin typeface="微软雅黑"/>
                <a:ea typeface="微软雅黑"/>
              </a:rPr>
              <a:t>候选人</a:t>
            </a:r>
          </a:p>
        </p:txBody>
      </p:sp>
      <p:sp>
        <p:nvSpPr>
          <p:cNvPr id="20" name="TextBox 19"/>
          <p:cNvSpPr txBox="1"/>
          <p:nvPr/>
        </p:nvSpPr>
        <p:spPr>
          <a:xfrm>
            <a:off x="2377440" y="3465576"/>
            <a:ext cx="630936" cy="219456"/>
          </a:xfrm>
          <a:prstGeom prst="rect">
            <a:avLst/>
          </a:prstGeom>
          <a:noFill/>
        </p:spPr>
        <p:txBody>
          <a:bodyPr wrap="square" lIns="0" rIns="0" tIns="0" bIns="0" anchor="t">
            <a:spAutoFit/>
          </a:bodyPr>
          <a:lstStyle/>
          <a:p>
            <a:pPr algn="l">
              <a:lnSpc>
                <a:spcPct val="100000"/>
              </a:lnSpc>
              <a:spcBef>
                <a:spcPts val="0"/>
              </a:spcBef>
              <a:spcAft>
                <a:spcPts val="0"/>
              </a:spcAft>
            </a:pPr>
            <a:r>
              <a:rPr sz="740" b="1">
                <a:solidFill>
                  <a:srgbClr val="FFFFFF"/>
                </a:solidFill>
                <a:latin typeface="微软雅黑"/>
                <a:ea typeface="微软雅黑"/>
              </a:rPr>
              <a:t>人脉层数</a:t>
            </a:r>
          </a:p>
        </p:txBody>
      </p:sp>
      <p:sp>
        <p:nvSpPr>
          <p:cNvPr id="21" name="TextBox 20"/>
          <p:cNvSpPr txBox="1"/>
          <p:nvPr/>
        </p:nvSpPr>
        <p:spPr>
          <a:xfrm>
            <a:off x="3154680" y="3465576"/>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740" b="1">
                <a:solidFill>
                  <a:srgbClr val="FFFFFF"/>
                </a:solidFill>
                <a:latin typeface="微软雅黑"/>
                <a:ea typeface="微软雅黑"/>
              </a:rPr>
              <a:t>桥梁</a:t>
            </a:r>
          </a:p>
        </p:txBody>
      </p:sp>
      <p:sp>
        <p:nvSpPr>
          <p:cNvPr id="22" name="TextBox 21"/>
          <p:cNvSpPr txBox="1"/>
          <p:nvPr/>
        </p:nvSpPr>
        <p:spPr>
          <a:xfrm>
            <a:off x="4754879" y="3465576"/>
            <a:ext cx="859536" cy="219456"/>
          </a:xfrm>
          <a:prstGeom prst="rect">
            <a:avLst/>
          </a:prstGeom>
          <a:noFill/>
        </p:spPr>
        <p:txBody>
          <a:bodyPr wrap="square" lIns="0" rIns="0" tIns="0" bIns="0" anchor="t">
            <a:spAutoFit/>
          </a:bodyPr>
          <a:lstStyle/>
          <a:p>
            <a:pPr algn="l">
              <a:lnSpc>
                <a:spcPct val="100000"/>
              </a:lnSpc>
              <a:spcBef>
                <a:spcPts val="0"/>
              </a:spcBef>
              <a:spcAft>
                <a:spcPts val="0"/>
              </a:spcAft>
            </a:pPr>
            <a:r>
              <a:rPr sz="740" b="1">
                <a:solidFill>
                  <a:srgbClr val="FFFFFF"/>
                </a:solidFill>
                <a:latin typeface="微软雅黑"/>
                <a:ea typeface="微软雅黑"/>
              </a:rPr>
              <a:t>硬性要求已具备</a:t>
            </a:r>
          </a:p>
        </p:txBody>
      </p:sp>
      <p:sp>
        <p:nvSpPr>
          <p:cNvPr id="23" name="TextBox 22"/>
          <p:cNvSpPr txBox="1"/>
          <p:nvPr/>
        </p:nvSpPr>
        <p:spPr>
          <a:xfrm>
            <a:off x="777240" y="3762756"/>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Grace Sun</a:t>
            </a:r>
          </a:p>
        </p:txBody>
      </p:sp>
      <p:sp>
        <p:nvSpPr>
          <p:cNvPr id="24" name="TextBox 23"/>
          <p:cNvSpPr txBox="1"/>
          <p:nvPr/>
        </p:nvSpPr>
        <p:spPr>
          <a:xfrm>
            <a:off x="2377440" y="3762756"/>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1</a:t>
            </a:r>
          </a:p>
        </p:txBody>
      </p:sp>
      <p:sp>
        <p:nvSpPr>
          <p:cNvPr id="25" name="TextBox 24"/>
          <p:cNvSpPr txBox="1"/>
          <p:nvPr/>
        </p:nvSpPr>
        <p:spPr>
          <a:xfrm>
            <a:off x="3154680" y="3762756"/>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Clara Ma</a:t>
            </a:r>
          </a:p>
        </p:txBody>
      </p:sp>
      <p:sp>
        <p:nvSpPr>
          <p:cNvPr id="26" name="TextBox 25"/>
          <p:cNvSpPr txBox="1"/>
          <p:nvPr/>
        </p:nvSpPr>
        <p:spPr>
          <a:xfrm>
            <a:off x="4754879" y="3762756"/>
            <a:ext cx="8595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2 / 5</a:t>
            </a:r>
          </a:p>
        </p:txBody>
      </p:sp>
      <p:sp>
        <p:nvSpPr>
          <p:cNvPr id="27" name="Rectangle 26"/>
          <p:cNvSpPr/>
          <p:nvPr/>
        </p:nvSpPr>
        <p:spPr>
          <a:xfrm>
            <a:off x="685800" y="3986784"/>
            <a:ext cx="4983480" cy="292608"/>
          </a:xfrm>
          <a:prstGeom prst="rect">
            <a:avLst/>
          </a:prstGeom>
          <a:solidFill>
            <a:srgbClr val="F3F7FA"/>
          </a:solidFill>
          <a:ln>
            <a:noFill/>
          </a:ln>
          <a:effectLst/>
        </p:spPr>
        <p:txBody>
          <a:bodyPr rtlCol="0" anchor="ctr" wrap="square" lIns="0" rIns="0" tIns="0" bIns="0"/>
          <a:lstStyle/>
          <a:p>
            <a:pPr algn="ctr"/>
          </a:p>
        </p:txBody>
      </p:sp>
      <p:sp>
        <p:nvSpPr>
          <p:cNvPr id="28" name="TextBox 27"/>
          <p:cNvSpPr txBox="1"/>
          <p:nvPr/>
        </p:nvSpPr>
        <p:spPr>
          <a:xfrm>
            <a:off x="777240" y="4055364"/>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Lars Park</a:t>
            </a:r>
          </a:p>
        </p:txBody>
      </p:sp>
      <p:sp>
        <p:nvSpPr>
          <p:cNvPr id="29" name="TextBox 28"/>
          <p:cNvSpPr txBox="1"/>
          <p:nvPr/>
        </p:nvSpPr>
        <p:spPr>
          <a:xfrm>
            <a:off x="2377440" y="4055364"/>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2</a:t>
            </a:r>
          </a:p>
        </p:txBody>
      </p:sp>
      <p:sp>
        <p:nvSpPr>
          <p:cNvPr id="30" name="TextBox 29"/>
          <p:cNvSpPr txBox="1"/>
          <p:nvPr/>
        </p:nvSpPr>
        <p:spPr>
          <a:xfrm>
            <a:off x="3154680" y="4055364"/>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Nina Jones</a:t>
            </a:r>
          </a:p>
        </p:txBody>
      </p:sp>
      <p:sp>
        <p:nvSpPr>
          <p:cNvPr id="31" name="TextBox 30"/>
          <p:cNvSpPr txBox="1"/>
          <p:nvPr/>
        </p:nvSpPr>
        <p:spPr>
          <a:xfrm>
            <a:off x="4754879" y="4055364"/>
            <a:ext cx="8595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4 / 5</a:t>
            </a:r>
          </a:p>
        </p:txBody>
      </p:sp>
      <p:sp>
        <p:nvSpPr>
          <p:cNvPr id="32" name="TextBox 31"/>
          <p:cNvSpPr txBox="1"/>
          <p:nvPr/>
        </p:nvSpPr>
        <p:spPr>
          <a:xfrm>
            <a:off x="777240" y="4347972"/>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Zhiwei Muller</a:t>
            </a:r>
          </a:p>
        </p:txBody>
      </p:sp>
      <p:sp>
        <p:nvSpPr>
          <p:cNvPr id="33" name="TextBox 32"/>
          <p:cNvSpPr txBox="1"/>
          <p:nvPr/>
        </p:nvSpPr>
        <p:spPr>
          <a:xfrm>
            <a:off x="2377440" y="4347972"/>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2</a:t>
            </a:r>
          </a:p>
        </p:txBody>
      </p:sp>
      <p:sp>
        <p:nvSpPr>
          <p:cNvPr id="34" name="TextBox 33"/>
          <p:cNvSpPr txBox="1"/>
          <p:nvPr/>
        </p:nvSpPr>
        <p:spPr>
          <a:xfrm>
            <a:off x="3154680" y="4347972"/>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Anna Walker</a:t>
            </a:r>
          </a:p>
        </p:txBody>
      </p:sp>
      <p:sp>
        <p:nvSpPr>
          <p:cNvPr id="35" name="TextBox 34"/>
          <p:cNvSpPr txBox="1"/>
          <p:nvPr/>
        </p:nvSpPr>
        <p:spPr>
          <a:xfrm>
            <a:off x="4754879" y="4347972"/>
            <a:ext cx="8595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4 / 5</a:t>
            </a:r>
          </a:p>
        </p:txBody>
      </p:sp>
      <p:sp>
        <p:nvSpPr>
          <p:cNvPr id="36" name="Rectangle 35"/>
          <p:cNvSpPr/>
          <p:nvPr/>
        </p:nvSpPr>
        <p:spPr>
          <a:xfrm>
            <a:off x="685800" y="4572000"/>
            <a:ext cx="4983480" cy="292608"/>
          </a:xfrm>
          <a:prstGeom prst="rect">
            <a:avLst/>
          </a:prstGeom>
          <a:solidFill>
            <a:srgbClr val="F3F7FA"/>
          </a:solidFill>
          <a:ln>
            <a:noFill/>
          </a:ln>
          <a:effectLst/>
        </p:spPr>
        <p:txBody>
          <a:bodyPr rtlCol="0" anchor="ctr" wrap="square" lIns="0" rIns="0" tIns="0" bIns="0"/>
          <a:lstStyle/>
          <a:p>
            <a:pPr algn="ctr"/>
          </a:p>
        </p:txBody>
      </p:sp>
      <p:sp>
        <p:nvSpPr>
          <p:cNvPr id="37" name="TextBox 36"/>
          <p:cNvSpPr txBox="1"/>
          <p:nvPr/>
        </p:nvSpPr>
        <p:spPr>
          <a:xfrm>
            <a:off x="777240" y="4640580"/>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Isha Park</a:t>
            </a:r>
          </a:p>
        </p:txBody>
      </p:sp>
      <p:sp>
        <p:nvSpPr>
          <p:cNvPr id="38" name="TextBox 37"/>
          <p:cNvSpPr txBox="1"/>
          <p:nvPr/>
        </p:nvSpPr>
        <p:spPr>
          <a:xfrm>
            <a:off x="2377440" y="4640580"/>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2</a:t>
            </a:r>
          </a:p>
        </p:txBody>
      </p:sp>
      <p:sp>
        <p:nvSpPr>
          <p:cNvPr id="39" name="TextBox 38"/>
          <p:cNvSpPr txBox="1"/>
          <p:nvPr/>
        </p:nvSpPr>
        <p:spPr>
          <a:xfrm>
            <a:off x="3154680" y="4640580"/>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Nina Jones</a:t>
            </a:r>
          </a:p>
        </p:txBody>
      </p:sp>
      <p:sp>
        <p:nvSpPr>
          <p:cNvPr id="40" name="TextBox 39"/>
          <p:cNvSpPr txBox="1"/>
          <p:nvPr/>
        </p:nvSpPr>
        <p:spPr>
          <a:xfrm>
            <a:off x="4754879" y="4640580"/>
            <a:ext cx="8595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3 / 5</a:t>
            </a:r>
          </a:p>
        </p:txBody>
      </p:sp>
      <p:sp>
        <p:nvSpPr>
          <p:cNvPr id="41" name="TextBox 40"/>
          <p:cNvSpPr txBox="1"/>
          <p:nvPr/>
        </p:nvSpPr>
        <p:spPr>
          <a:xfrm>
            <a:off x="777240" y="4933188"/>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Ananya Smith</a:t>
            </a:r>
          </a:p>
        </p:txBody>
      </p:sp>
      <p:sp>
        <p:nvSpPr>
          <p:cNvPr id="42" name="TextBox 41"/>
          <p:cNvSpPr txBox="1"/>
          <p:nvPr/>
        </p:nvSpPr>
        <p:spPr>
          <a:xfrm>
            <a:off x="2377440" y="4933188"/>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2</a:t>
            </a:r>
          </a:p>
        </p:txBody>
      </p:sp>
      <p:sp>
        <p:nvSpPr>
          <p:cNvPr id="43" name="TextBox 42"/>
          <p:cNvSpPr txBox="1"/>
          <p:nvPr/>
        </p:nvSpPr>
        <p:spPr>
          <a:xfrm>
            <a:off x="3154680" y="4933188"/>
            <a:ext cx="1453896" cy="219456"/>
          </a:xfrm>
          <a:prstGeom prst="rect">
            <a:avLst/>
          </a:prstGeom>
          <a:noFill/>
        </p:spPr>
        <p:txBody>
          <a:bodyPr wrap="square" lIns="0" rIns="0" tIns="0" bIns="0" anchor="t">
            <a:spAutoFit/>
          </a:bodyPr>
          <a:lstStyle/>
          <a:p>
            <a:pPr algn="l">
              <a:lnSpc>
                <a:spcPct val="100000"/>
              </a:lnSpc>
              <a:spcBef>
                <a:spcPts val="0"/>
              </a:spcBef>
              <a:spcAft>
                <a:spcPts val="0"/>
              </a:spcAft>
            </a:pPr>
            <a:r>
              <a:rPr sz="840" b="0">
                <a:solidFill>
                  <a:srgbClr val="5A6B7B"/>
                </a:solidFill>
                <a:latin typeface="Segoe UI"/>
              </a:rPr>
              <a:t>Oscar He</a:t>
            </a:r>
          </a:p>
        </p:txBody>
      </p:sp>
      <p:sp>
        <p:nvSpPr>
          <p:cNvPr id="44" name="TextBox 43"/>
          <p:cNvSpPr txBox="1"/>
          <p:nvPr/>
        </p:nvSpPr>
        <p:spPr>
          <a:xfrm>
            <a:off x="4754879" y="4933188"/>
            <a:ext cx="859536" cy="219456"/>
          </a:xfrm>
          <a:prstGeom prst="rect">
            <a:avLst/>
          </a:prstGeom>
          <a:noFill/>
        </p:spPr>
        <p:txBody>
          <a:bodyPr wrap="square" lIns="0" rIns="0" tIns="0" bIns="0" anchor="t">
            <a:spAutoFit/>
          </a:bodyPr>
          <a:lstStyle/>
          <a:p>
            <a:pPr algn="r">
              <a:lnSpc>
                <a:spcPct val="100000"/>
              </a:lnSpc>
              <a:spcBef>
                <a:spcPts val="0"/>
              </a:spcBef>
              <a:spcAft>
                <a:spcPts val="0"/>
              </a:spcAft>
            </a:pPr>
            <a:r>
              <a:rPr sz="840" b="0">
                <a:solidFill>
                  <a:srgbClr val="5A6B7B"/>
                </a:solidFill>
                <a:latin typeface="Segoe UI"/>
              </a:rPr>
              <a:t>3 / 5</a:t>
            </a:r>
          </a:p>
        </p:txBody>
      </p:sp>
      <p:sp>
        <p:nvSpPr>
          <p:cNvPr id="45" name="TextBox 44"/>
          <p:cNvSpPr txBox="1"/>
          <p:nvPr/>
        </p:nvSpPr>
        <p:spPr>
          <a:xfrm>
            <a:off x="685800" y="5230368"/>
            <a:ext cx="548640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5A6B7B"/>
                </a:solidFill>
                <a:latin typeface="微软雅黑"/>
                <a:ea typeface="微软雅黑"/>
              </a:rPr>
              <a:t>返回 15 行 · 技能过滤前可达 33 人</a:t>
            </a:r>
          </a:p>
        </p:txBody>
      </p:sp>
      <p:sp>
        <p:nvSpPr>
          <p:cNvPr id="46" name="Rounded Rectangle 45"/>
          <p:cNvSpPr/>
          <p:nvPr/>
        </p:nvSpPr>
        <p:spPr>
          <a:xfrm>
            <a:off x="685800" y="5541264"/>
            <a:ext cx="155448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47" name="TextBox 46"/>
          <p:cNvSpPr txBox="1"/>
          <p:nvPr/>
        </p:nvSpPr>
        <p:spPr>
          <a:xfrm>
            <a:off x="886968" y="5614416"/>
            <a:ext cx="128016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33</a:t>
            </a:r>
          </a:p>
        </p:txBody>
      </p:sp>
      <p:sp>
        <p:nvSpPr>
          <p:cNvPr id="48" name="TextBox 47"/>
          <p:cNvSpPr txBox="1"/>
          <p:nvPr/>
        </p:nvSpPr>
        <p:spPr>
          <a:xfrm>
            <a:off x="886968" y="5943600"/>
            <a:ext cx="12801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可 达</a:t>
            </a:r>
          </a:p>
        </p:txBody>
      </p:sp>
      <p:sp>
        <p:nvSpPr>
          <p:cNvPr id="49" name="Rounded Rectangle 48"/>
          <p:cNvSpPr/>
          <p:nvPr/>
        </p:nvSpPr>
        <p:spPr>
          <a:xfrm>
            <a:off x="2350008" y="5541264"/>
            <a:ext cx="155448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50" name="TextBox 49"/>
          <p:cNvSpPr txBox="1"/>
          <p:nvPr/>
        </p:nvSpPr>
        <p:spPr>
          <a:xfrm>
            <a:off x="2551176" y="5614416"/>
            <a:ext cx="128016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15</a:t>
            </a:r>
          </a:p>
        </p:txBody>
      </p:sp>
      <p:sp>
        <p:nvSpPr>
          <p:cNvPr id="51" name="TextBox 50"/>
          <p:cNvSpPr txBox="1"/>
          <p:nvPr/>
        </p:nvSpPr>
        <p:spPr>
          <a:xfrm>
            <a:off x="2551176" y="5943600"/>
            <a:ext cx="128016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技 能 合 格</a:t>
            </a:r>
          </a:p>
        </p:txBody>
      </p:sp>
      <p:sp>
        <p:nvSpPr>
          <p:cNvPr id="52" name="Rounded Rectangle 51"/>
          <p:cNvSpPr/>
          <p:nvPr/>
        </p:nvSpPr>
        <p:spPr>
          <a:xfrm>
            <a:off x="4014215" y="5541264"/>
            <a:ext cx="16459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53" name="TextBox 52"/>
          <p:cNvSpPr txBox="1"/>
          <p:nvPr/>
        </p:nvSpPr>
        <p:spPr>
          <a:xfrm>
            <a:off x="4215383" y="5614416"/>
            <a:ext cx="13716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 2</a:t>
            </a:r>
          </a:p>
        </p:txBody>
      </p:sp>
      <p:sp>
        <p:nvSpPr>
          <p:cNvPr id="54" name="TextBox 53"/>
          <p:cNvSpPr txBox="1"/>
          <p:nvPr/>
        </p:nvSpPr>
        <p:spPr>
          <a:xfrm>
            <a:off x="4215383" y="5943600"/>
            <a:ext cx="13716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走 过 的 跳 数</a:t>
            </a:r>
          </a:p>
        </p:txBody>
      </p:sp>
      <p:sp>
        <p:nvSpPr>
          <p:cNvPr id="55" name="Rounded Rectangle 54"/>
          <p:cNvSpPr/>
          <p:nvPr/>
        </p:nvSpPr>
        <p:spPr>
          <a:xfrm>
            <a:off x="6446520" y="1956816"/>
            <a:ext cx="5074920" cy="4059936"/>
          </a:xfrm>
          <a:prstGeom prst="roundRect">
            <a:avLst>
              <a:gd name="adj" fmla="val 3000"/>
            </a:avLst>
          </a:prstGeom>
          <a:solidFill>
            <a:srgbClr val="F3F7FA"/>
          </a:solidFill>
          <a:ln>
            <a:noFill/>
          </a:ln>
          <a:effectLst/>
        </p:spPr>
        <p:txBody>
          <a:bodyPr rtlCol="0" anchor="ctr" wrap="square" lIns="0" rIns="0" tIns="0" bIns="0"/>
          <a:lstStyle/>
          <a:p>
            <a:pPr algn="ctr"/>
          </a:p>
        </p:txBody>
      </p:sp>
      <p:sp>
        <p:nvSpPr>
          <p:cNvPr id="56" name="TextBox 55"/>
          <p:cNvSpPr txBox="1"/>
          <p:nvPr/>
        </p:nvSpPr>
        <p:spPr>
          <a:xfrm>
            <a:off x="6693408" y="2121408"/>
            <a:ext cx="45720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微软雅黑"/>
                <a:ea typeface="微软雅黑"/>
              </a:rPr>
              <a:t>这 条 查 询 的 三 步</a:t>
            </a:r>
          </a:p>
        </p:txBody>
      </p:sp>
      <p:sp>
        <p:nvSpPr>
          <p:cNvPr id="57" name="TextBox 56"/>
          <p:cNvSpPr txBox="1"/>
          <p:nvPr/>
        </p:nvSpPr>
        <p:spPr>
          <a:xfrm>
            <a:off x="6693408" y="2432304"/>
            <a:ext cx="868680" cy="201168"/>
          </a:xfrm>
          <a:prstGeom prst="rect">
            <a:avLst/>
          </a:prstGeom>
          <a:noFill/>
        </p:spPr>
        <p:txBody>
          <a:bodyPr wrap="square" lIns="0" rIns="0" tIns="0" bIns="0" anchor="t">
            <a:spAutoFit/>
          </a:bodyPr>
          <a:lstStyle/>
          <a:p>
            <a:pPr algn="l">
              <a:lnSpc>
                <a:spcPct val="100000"/>
              </a:lnSpc>
              <a:spcBef>
                <a:spcPts val="0"/>
              </a:spcBef>
              <a:spcAft>
                <a:spcPts val="0"/>
              </a:spcAft>
            </a:pPr>
            <a:r>
              <a:rPr sz="850" b="1">
                <a:solidFill>
                  <a:srgbClr val="0A66C2"/>
                </a:solidFill>
                <a:latin typeface="微软雅黑"/>
                <a:ea typeface="微软雅黑"/>
              </a:rPr>
              <a:t>锚点</a:t>
            </a:r>
          </a:p>
        </p:txBody>
      </p:sp>
      <p:sp>
        <p:nvSpPr>
          <p:cNvPr id="58" name="TextBox 57"/>
          <p:cNvSpPr txBox="1"/>
          <p:nvPr/>
        </p:nvSpPr>
        <p:spPr>
          <a:xfrm>
            <a:off x="7589520" y="2423160"/>
            <a:ext cx="3703320" cy="566928"/>
          </a:xfrm>
          <a:prstGeom prst="rect">
            <a:avLst/>
          </a:prstGeom>
          <a:noFill/>
        </p:spPr>
        <p:txBody>
          <a:bodyPr wrap="square" lIns="0" rIns="0" tIns="0" bIns="0" anchor="t">
            <a:spAutoFit/>
          </a:bodyPr>
          <a:lstStyle/>
          <a:p>
            <a:pPr algn="l">
              <a:lnSpc>
                <a:spcPct val="118000"/>
              </a:lnSpc>
              <a:spcBef>
                <a:spcPts val="0"/>
              </a:spcBef>
              <a:spcAft>
                <a:spcPts val="0"/>
              </a:spcAft>
            </a:pPr>
            <a:r>
              <a:rPr sz="840" b="0">
                <a:solidFill>
                  <a:srgbClr val="5A6B7B"/>
                </a:solidFill>
                <a:latin typeface="微软雅黑"/>
                <a:ea typeface="微软雅黑"/>
              </a:rPr>
              <a:t>招聘公司的在职员工：experience WHERE is_current = 1</a:t>
            </a:r>
          </a:p>
        </p:txBody>
      </p:sp>
      <p:sp>
        <p:nvSpPr>
          <p:cNvPr id="59" name="TextBox 58"/>
          <p:cNvSpPr txBox="1"/>
          <p:nvPr/>
        </p:nvSpPr>
        <p:spPr>
          <a:xfrm>
            <a:off x="6693408" y="3090672"/>
            <a:ext cx="868680" cy="201168"/>
          </a:xfrm>
          <a:prstGeom prst="rect">
            <a:avLst/>
          </a:prstGeom>
          <a:noFill/>
        </p:spPr>
        <p:txBody>
          <a:bodyPr wrap="square" lIns="0" rIns="0" tIns="0" bIns="0" anchor="t">
            <a:spAutoFit/>
          </a:bodyPr>
          <a:lstStyle/>
          <a:p>
            <a:pPr algn="l">
              <a:lnSpc>
                <a:spcPct val="100000"/>
              </a:lnSpc>
              <a:spcBef>
                <a:spcPts val="0"/>
              </a:spcBef>
              <a:spcAft>
                <a:spcPts val="0"/>
              </a:spcAft>
            </a:pPr>
            <a:r>
              <a:rPr sz="850" b="1">
                <a:solidFill>
                  <a:srgbClr val="0A66C2"/>
                </a:solidFill>
                <a:latin typeface="微软雅黑"/>
                <a:ea typeface="微软雅黑"/>
              </a:rPr>
              <a:t>递归</a:t>
            </a:r>
          </a:p>
        </p:txBody>
      </p:sp>
      <p:sp>
        <p:nvSpPr>
          <p:cNvPr id="60" name="TextBox 59"/>
          <p:cNvSpPr txBox="1"/>
          <p:nvPr/>
        </p:nvSpPr>
        <p:spPr>
          <a:xfrm>
            <a:off x="7589520" y="3081528"/>
            <a:ext cx="3703320" cy="566928"/>
          </a:xfrm>
          <a:prstGeom prst="rect">
            <a:avLst/>
          </a:prstGeom>
          <a:noFill/>
        </p:spPr>
        <p:txBody>
          <a:bodyPr wrap="square" lIns="0" rIns="0" tIns="0" bIns="0" anchor="t">
            <a:spAutoFit/>
          </a:bodyPr>
          <a:lstStyle/>
          <a:p>
            <a:pPr algn="l">
              <a:lnSpc>
                <a:spcPct val="118000"/>
              </a:lnSpc>
              <a:spcBef>
                <a:spcPts val="0"/>
              </a:spcBef>
              <a:spcAft>
                <a:spcPts val="0"/>
              </a:spcAft>
            </a:pPr>
            <a:r>
              <a:rPr sz="840" b="0">
                <a:solidFill>
                  <a:srgbClr val="5A6B7B"/>
                </a:solidFill>
                <a:latin typeface="微软雅黑"/>
                <a:ea typeface="微软雅黑"/>
              </a:rPr>
              <a:t>沿 connection 双向走，最多两跳，保留最小跳数</a:t>
            </a:r>
          </a:p>
        </p:txBody>
      </p:sp>
      <p:sp>
        <p:nvSpPr>
          <p:cNvPr id="61" name="TextBox 60"/>
          <p:cNvSpPr txBox="1"/>
          <p:nvPr/>
        </p:nvSpPr>
        <p:spPr>
          <a:xfrm>
            <a:off x="6693408" y="3749039"/>
            <a:ext cx="868680" cy="201168"/>
          </a:xfrm>
          <a:prstGeom prst="rect">
            <a:avLst/>
          </a:prstGeom>
          <a:noFill/>
        </p:spPr>
        <p:txBody>
          <a:bodyPr wrap="square" lIns="0" rIns="0" tIns="0" bIns="0" anchor="t">
            <a:spAutoFit/>
          </a:bodyPr>
          <a:lstStyle/>
          <a:p>
            <a:pPr algn="l">
              <a:lnSpc>
                <a:spcPct val="100000"/>
              </a:lnSpc>
              <a:spcBef>
                <a:spcPts val="0"/>
              </a:spcBef>
              <a:spcAft>
                <a:spcPts val="0"/>
              </a:spcAft>
            </a:pPr>
            <a:r>
              <a:rPr sz="850" b="1">
                <a:solidFill>
                  <a:srgbClr val="0A66C2"/>
                </a:solidFill>
                <a:latin typeface="微软雅黑"/>
                <a:ea typeface="微软雅黑"/>
              </a:rPr>
              <a:t>交叉</a:t>
            </a:r>
          </a:p>
        </p:txBody>
      </p:sp>
      <p:sp>
        <p:nvSpPr>
          <p:cNvPr id="62" name="TextBox 61"/>
          <p:cNvSpPr txBox="1"/>
          <p:nvPr/>
        </p:nvSpPr>
        <p:spPr>
          <a:xfrm>
            <a:off x="7589520" y="3739896"/>
            <a:ext cx="3703320" cy="566928"/>
          </a:xfrm>
          <a:prstGeom prst="rect">
            <a:avLst/>
          </a:prstGeom>
          <a:noFill/>
        </p:spPr>
        <p:txBody>
          <a:bodyPr wrap="square" lIns="0" rIns="0" tIns="0" bIns="0" anchor="t">
            <a:spAutoFit/>
          </a:bodyPr>
          <a:lstStyle/>
          <a:p>
            <a:pPr algn="l">
              <a:lnSpc>
                <a:spcPct val="118000"/>
              </a:lnSpc>
              <a:spcBef>
                <a:spcPts val="0"/>
              </a:spcBef>
              <a:spcAft>
                <a:spcPts val="0"/>
              </a:spcAft>
            </a:pPr>
            <a:r>
              <a:rPr sz="840" b="0">
                <a:solidFill>
                  <a:srgbClr val="5A6B7B"/>
                </a:solidFill>
                <a:latin typeface="微软雅黑"/>
                <a:ea typeface="微软雅黑"/>
              </a:rPr>
              <a:t>member_skill 与职位的 REQUIRED 技能连接；再对 application 做反连接</a:t>
            </a:r>
          </a:p>
        </p:txBody>
      </p:sp>
      <p:sp>
        <p:nvSpPr>
          <p:cNvPr id="63" name="Rectangle 62"/>
          <p:cNvSpPr/>
          <p:nvPr/>
        </p:nvSpPr>
        <p:spPr>
          <a:xfrm>
            <a:off x="6693408" y="4480560"/>
            <a:ext cx="4572000" cy="9144"/>
          </a:xfrm>
          <a:prstGeom prst="rect">
            <a:avLst/>
          </a:prstGeom>
          <a:solidFill>
            <a:srgbClr val="D8E0E8"/>
          </a:solidFill>
          <a:ln>
            <a:noFill/>
          </a:ln>
          <a:effectLst/>
        </p:spPr>
        <p:txBody>
          <a:bodyPr rtlCol="0" anchor="ctr" wrap="square" lIns="0" rIns="0" tIns="0" bIns="0"/>
          <a:lstStyle/>
          <a:p>
            <a:pPr algn="ctr"/>
          </a:p>
        </p:txBody>
      </p:sp>
      <p:sp>
        <p:nvSpPr>
          <p:cNvPr id="64" name="TextBox 63"/>
          <p:cNvSpPr txBox="1"/>
          <p:nvPr/>
        </p:nvSpPr>
        <p:spPr>
          <a:xfrm>
            <a:off x="6693408" y="4590288"/>
            <a:ext cx="45720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微软雅黑"/>
                <a:ea typeface="微软雅黑"/>
              </a:rPr>
              <a:t>为 什 么 重 要</a:t>
            </a:r>
          </a:p>
        </p:txBody>
      </p:sp>
      <p:sp>
        <p:nvSpPr>
          <p:cNvPr id="65" name="TextBox 64"/>
          <p:cNvSpPr txBox="1"/>
          <p:nvPr/>
        </p:nvSpPr>
        <p:spPr>
          <a:xfrm>
            <a:off x="6693408" y="4846320"/>
            <a:ext cx="4617720" cy="1325880"/>
          </a:xfrm>
          <a:prstGeom prst="rect">
            <a:avLst/>
          </a:prstGeom>
          <a:noFill/>
        </p:spPr>
        <p:txBody>
          <a:bodyPr wrap="square" lIns="0" rIns="0" tIns="0" bIns="0" anchor="t">
            <a:spAutoFit/>
          </a:bodyPr>
          <a:lstStyle/>
          <a:p>
            <a:pPr algn="l">
              <a:lnSpc>
                <a:spcPct val="120000"/>
              </a:lnSpc>
              <a:spcBef>
                <a:spcPts val="0"/>
              </a:spcBef>
              <a:spcAft>
                <a:spcPts val="0"/>
              </a:spcAft>
            </a:pPr>
            <a:r>
              <a:rPr sz="850" b="0">
                <a:solidFill>
                  <a:srgbClr val="5A6B7B"/>
                </a:solidFill>
                <a:latin typeface="微软雅黑"/>
                <a:ea typeface="微软雅黑"/>
              </a:rPr>
              <a:t>图之所以走得通，是因为一条边只存一次、存成有序对。若两个方向都存，递归会把每个节点访问两次，最小跳数会给出错误的桥梁。</a:t>
            </a:r>
          </a:p>
        </p:txBody>
      </p:sp>
      <p:sp>
        <p:nvSpPr>
          <p:cNvPr id="66" name="Rectangle 65"/>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67" name="TextBox 66"/>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68" name="TextBox 67"/>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11  ·  证 据 四</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周期时长与面试官校准</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Q10 · 这 30 天花在哪。   Q11 · 谁放谁都能过。</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1956816"/>
            <a:ext cx="51206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微软雅黑"/>
                <a:ea typeface="微软雅黑"/>
              </a:rPr>
              <a:t>Q10   ·   每次录用各阶段的天数</a:t>
            </a:r>
          </a:p>
        </p:txBody>
      </p:sp>
      <p:sp>
        <p:nvSpPr>
          <p:cNvPr id="7" name="Rectangle 6"/>
          <p:cNvSpPr/>
          <p:nvPr/>
        </p:nvSpPr>
        <p:spPr>
          <a:xfrm>
            <a:off x="685800" y="2212848"/>
            <a:ext cx="4754880" cy="292608"/>
          </a:xfrm>
          <a:prstGeom prst="rect">
            <a:avLst/>
          </a:prstGeom>
          <a:solidFill>
            <a:srgbClr val="0E2A47"/>
          </a:solidFill>
          <a:ln>
            <a:noFill/>
          </a:ln>
          <a:effectLst/>
        </p:spPr>
        <p:txBody>
          <a:bodyPr rtlCol="0" anchor="ctr" wrap="square" lIns="0" rIns="0" tIns="0" bIns="0"/>
          <a:lstStyle/>
          <a:p>
            <a:pPr algn="ctr"/>
          </a:p>
        </p:txBody>
      </p:sp>
      <p:sp>
        <p:nvSpPr>
          <p:cNvPr id="8" name="TextBox 7"/>
          <p:cNvSpPr txBox="1"/>
          <p:nvPr/>
        </p:nvSpPr>
        <p:spPr>
          <a:xfrm>
            <a:off x="777240" y="2276856"/>
            <a:ext cx="905255" cy="219456"/>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微软雅黑"/>
                <a:ea typeface="微软雅黑"/>
              </a:rPr>
              <a:t>职级</a:t>
            </a:r>
          </a:p>
        </p:txBody>
      </p:sp>
      <p:sp>
        <p:nvSpPr>
          <p:cNvPr id="9" name="TextBox 8"/>
          <p:cNvSpPr txBox="1"/>
          <p:nvPr/>
        </p:nvSpPr>
        <p:spPr>
          <a:xfrm>
            <a:off x="1828800" y="2276856"/>
            <a:ext cx="402335" cy="219456"/>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微软雅黑"/>
                <a:ea typeface="微软雅黑"/>
              </a:rPr>
              <a:t>录用</a:t>
            </a:r>
          </a:p>
        </p:txBody>
      </p:sp>
      <p:sp>
        <p:nvSpPr>
          <p:cNvPr id="10" name="TextBox 9"/>
          <p:cNvSpPr txBox="1"/>
          <p:nvPr/>
        </p:nvSpPr>
        <p:spPr>
          <a:xfrm>
            <a:off x="2377440" y="2276856"/>
            <a:ext cx="630936" cy="219456"/>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微软雅黑"/>
                <a:ea typeface="微软雅黑"/>
              </a:rPr>
              <a:t>→ 首面</a:t>
            </a:r>
          </a:p>
        </p:txBody>
      </p:sp>
      <p:sp>
        <p:nvSpPr>
          <p:cNvPr id="11" name="TextBox 10"/>
          <p:cNvSpPr txBox="1"/>
          <p:nvPr/>
        </p:nvSpPr>
        <p:spPr>
          <a:xfrm>
            <a:off x="3154680" y="2276856"/>
            <a:ext cx="768096" cy="219456"/>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微软雅黑"/>
                <a:ea typeface="微软雅黑"/>
              </a:rPr>
              <a:t>面试期间</a:t>
            </a:r>
          </a:p>
        </p:txBody>
      </p:sp>
      <p:sp>
        <p:nvSpPr>
          <p:cNvPr id="12" name="TextBox 11"/>
          <p:cNvSpPr txBox="1"/>
          <p:nvPr/>
        </p:nvSpPr>
        <p:spPr>
          <a:xfrm>
            <a:off x="4069079" y="2276856"/>
            <a:ext cx="630936" cy="219456"/>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微软雅黑"/>
                <a:ea typeface="微软雅黑"/>
              </a:rPr>
              <a:t>→ 决策</a:t>
            </a:r>
          </a:p>
        </p:txBody>
      </p:sp>
      <p:sp>
        <p:nvSpPr>
          <p:cNvPr id="13" name="TextBox 12"/>
          <p:cNvSpPr txBox="1"/>
          <p:nvPr/>
        </p:nvSpPr>
        <p:spPr>
          <a:xfrm>
            <a:off x="4846319" y="2276856"/>
            <a:ext cx="539496" cy="219456"/>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微软雅黑"/>
                <a:ea typeface="微软雅黑"/>
              </a:rPr>
              <a:t>合计</a:t>
            </a:r>
          </a:p>
        </p:txBody>
      </p:sp>
      <p:sp>
        <p:nvSpPr>
          <p:cNvPr id="14" name="TextBox 13"/>
          <p:cNvSpPr txBox="1"/>
          <p:nvPr/>
        </p:nvSpPr>
        <p:spPr>
          <a:xfrm>
            <a:off x="777240" y="2574036"/>
            <a:ext cx="905255"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微软雅黑"/>
                <a:ea typeface="微软雅黑"/>
              </a:rPr>
              <a:t>中级</a:t>
            </a:r>
          </a:p>
        </p:txBody>
      </p:sp>
      <p:sp>
        <p:nvSpPr>
          <p:cNvPr id="15" name="TextBox 14"/>
          <p:cNvSpPr txBox="1"/>
          <p:nvPr/>
        </p:nvSpPr>
        <p:spPr>
          <a:xfrm>
            <a:off x="1828800" y="2574036"/>
            <a:ext cx="402335"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5</a:t>
            </a:r>
          </a:p>
        </p:txBody>
      </p:sp>
      <p:sp>
        <p:nvSpPr>
          <p:cNvPr id="16" name="TextBox 15"/>
          <p:cNvSpPr txBox="1"/>
          <p:nvPr/>
        </p:nvSpPr>
        <p:spPr>
          <a:xfrm>
            <a:off x="2377440" y="2574036"/>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4.8</a:t>
            </a:r>
          </a:p>
        </p:txBody>
      </p:sp>
      <p:sp>
        <p:nvSpPr>
          <p:cNvPr id="17" name="TextBox 16"/>
          <p:cNvSpPr txBox="1"/>
          <p:nvPr/>
        </p:nvSpPr>
        <p:spPr>
          <a:xfrm>
            <a:off x="3154680" y="2574036"/>
            <a:ext cx="7680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16.2</a:t>
            </a:r>
          </a:p>
        </p:txBody>
      </p:sp>
      <p:sp>
        <p:nvSpPr>
          <p:cNvPr id="18" name="TextBox 17"/>
          <p:cNvSpPr txBox="1"/>
          <p:nvPr/>
        </p:nvSpPr>
        <p:spPr>
          <a:xfrm>
            <a:off x="4069079" y="2574036"/>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9.0</a:t>
            </a:r>
          </a:p>
        </p:txBody>
      </p:sp>
      <p:sp>
        <p:nvSpPr>
          <p:cNvPr id="19" name="TextBox 18"/>
          <p:cNvSpPr txBox="1"/>
          <p:nvPr/>
        </p:nvSpPr>
        <p:spPr>
          <a:xfrm>
            <a:off x="4846319" y="2574036"/>
            <a:ext cx="5394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30.0</a:t>
            </a:r>
          </a:p>
        </p:txBody>
      </p:sp>
      <p:sp>
        <p:nvSpPr>
          <p:cNvPr id="20" name="Rectangle 19"/>
          <p:cNvSpPr/>
          <p:nvPr/>
        </p:nvSpPr>
        <p:spPr>
          <a:xfrm>
            <a:off x="685800" y="2798063"/>
            <a:ext cx="4754880" cy="292608"/>
          </a:xfrm>
          <a:prstGeom prst="rect">
            <a:avLst/>
          </a:prstGeom>
          <a:solidFill>
            <a:srgbClr val="F3F7FA"/>
          </a:solidFill>
          <a:ln>
            <a:noFill/>
          </a:ln>
          <a:effectLst/>
        </p:spPr>
        <p:txBody>
          <a:bodyPr rtlCol="0" anchor="ctr" wrap="square" lIns="0" rIns="0" tIns="0" bIns="0"/>
          <a:lstStyle/>
          <a:p>
            <a:pPr algn="ctr"/>
          </a:p>
        </p:txBody>
      </p:sp>
      <p:sp>
        <p:nvSpPr>
          <p:cNvPr id="21" name="TextBox 20"/>
          <p:cNvSpPr txBox="1"/>
          <p:nvPr/>
        </p:nvSpPr>
        <p:spPr>
          <a:xfrm>
            <a:off x="777240" y="2866644"/>
            <a:ext cx="905255"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微软雅黑"/>
                <a:ea typeface="微软雅黑"/>
              </a:rPr>
              <a:t>高级</a:t>
            </a:r>
          </a:p>
        </p:txBody>
      </p:sp>
      <p:sp>
        <p:nvSpPr>
          <p:cNvPr id="22" name="TextBox 21"/>
          <p:cNvSpPr txBox="1"/>
          <p:nvPr/>
        </p:nvSpPr>
        <p:spPr>
          <a:xfrm>
            <a:off x="1828800" y="2866644"/>
            <a:ext cx="402335"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8</a:t>
            </a:r>
          </a:p>
        </p:txBody>
      </p:sp>
      <p:sp>
        <p:nvSpPr>
          <p:cNvPr id="23" name="TextBox 22"/>
          <p:cNvSpPr txBox="1"/>
          <p:nvPr/>
        </p:nvSpPr>
        <p:spPr>
          <a:xfrm>
            <a:off x="2377440" y="2866644"/>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6.1</a:t>
            </a:r>
          </a:p>
        </p:txBody>
      </p:sp>
      <p:sp>
        <p:nvSpPr>
          <p:cNvPr id="24" name="TextBox 23"/>
          <p:cNvSpPr txBox="1"/>
          <p:nvPr/>
        </p:nvSpPr>
        <p:spPr>
          <a:xfrm>
            <a:off x="3154680" y="2866644"/>
            <a:ext cx="7680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15.9</a:t>
            </a:r>
          </a:p>
        </p:txBody>
      </p:sp>
      <p:sp>
        <p:nvSpPr>
          <p:cNvPr id="25" name="TextBox 24"/>
          <p:cNvSpPr txBox="1"/>
          <p:nvPr/>
        </p:nvSpPr>
        <p:spPr>
          <a:xfrm>
            <a:off x="4069079" y="2866644"/>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8.0</a:t>
            </a:r>
          </a:p>
        </p:txBody>
      </p:sp>
      <p:sp>
        <p:nvSpPr>
          <p:cNvPr id="26" name="TextBox 25"/>
          <p:cNvSpPr txBox="1"/>
          <p:nvPr/>
        </p:nvSpPr>
        <p:spPr>
          <a:xfrm>
            <a:off x="4846319" y="2866644"/>
            <a:ext cx="5394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30.0</a:t>
            </a:r>
          </a:p>
        </p:txBody>
      </p:sp>
      <p:sp>
        <p:nvSpPr>
          <p:cNvPr id="27" name="TextBox 26"/>
          <p:cNvSpPr txBox="1"/>
          <p:nvPr/>
        </p:nvSpPr>
        <p:spPr>
          <a:xfrm>
            <a:off x="777240" y="3159251"/>
            <a:ext cx="905255"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微软雅黑"/>
                <a:ea typeface="微软雅黑"/>
              </a:rPr>
              <a:t>组长</a:t>
            </a:r>
          </a:p>
        </p:txBody>
      </p:sp>
      <p:sp>
        <p:nvSpPr>
          <p:cNvPr id="28" name="TextBox 27"/>
          <p:cNvSpPr txBox="1"/>
          <p:nvPr/>
        </p:nvSpPr>
        <p:spPr>
          <a:xfrm>
            <a:off x="1828800" y="3159251"/>
            <a:ext cx="402335"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a:t>
            </a:r>
          </a:p>
        </p:txBody>
      </p:sp>
      <p:sp>
        <p:nvSpPr>
          <p:cNvPr id="29" name="TextBox 28"/>
          <p:cNvSpPr txBox="1"/>
          <p:nvPr/>
        </p:nvSpPr>
        <p:spPr>
          <a:xfrm>
            <a:off x="2377440" y="3159251"/>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6.3</a:t>
            </a:r>
          </a:p>
        </p:txBody>
      </p:sp>
      <p:sp>
        <p:nvSpPr>
          <p:cNvPr id="30" name="TextBox 29"/>
          <p:cNvSpPr txBox="1"/>
          <p:nvPr/>
        </p:nvSpPr>
        <p:spPr>
          <a:xfrm>
            <a:off x="3154680" y="3159251"/>
            <a:ext cx="7680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18.0</a:t>
            </a:r>
          </a:p>
        </p:txBody>
      </p:sp>
      <p:sp>
        <p:nvSpPr>
          <p:cNvPr id="31" name="TextBox 30"/>
          <p:cNvSpPr txBox="1"/>
          <p:nvPr/>
        </p:nvSpPr>
        <p:spPr>
          <a:xfrm>
            <a:off x="4069079" y="3159251"/>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8.0</a:t>
            </a:r>
          </a:p>
        </p:txBody>
      </p:sp>
      <p:sp>
        <p:nvSpPr>
          <p:cNvPr id="32" name="TextBox 31"/>
          <p:cNvSpPr txBox="1"/>
          <p:nvPr/>
        </p:nvSpPr>
        <p:spPr>
          <a:xfrm>
            <a:off x="4846319" y="3159251"/>
            <a:ext cx="5394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32.7</a:t>
            </a:r>
          </a:p>
        </p:txBody>
      </p:sp>
      <p:sp>
        <p:nvSpPr>
          <p:cNvPr id="33" name="Rectangle 32"/>
          <p:cNvSpPr/>
          <p:nvPr/>
        </p:nvSpPr>
        <p:spPr>
          <a:xfrm>
            <a:off x="685800" y="3383279"/>
            <a:ext cx="4754880" cy="292608"/>
          </a:xfrm>
          <a:prstGeom prst="rect">
            <a:avLst/>
          </a:prstGeom>
          <a:solidFill>
            <a:srgbClr val="F3F7FA"/>
          </a:solidFill>
          <a:ln>
            <a:noFill/>
          </a:ln>
          <a:effectLst/>
        </p:spPr>
        <p:txBody>
          <a:bodyPr rtlCol="0" anchor="ctr" wrap="square" lIns="0" rIns="0" tIns="0" bIns="0"/>
          <a:lstStyle/>
          <a:p>
            <a:pPr algn="ctr"/>
          </a:p>
        </p:txBody>
      </p:sp>
      <p:sp>
        <p:nvSpPr>
          <p:cNvPr id="34" name="TextBox 33"/>
          <p:cNvSpPr txBox="1"/>
          <p:nvPr/>
        </p:nvSpPr>
        <p:spPr>
          <a:xfrm>
            <a:off x="777240" y="3451859"/>
            <a:ext cx="905255"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微软雅黑"/>
                <a:ea typeface="微软雅黑"/>
              </a:rPr>
              <a:t>专家</a:t>
            </a:r>
          </a:p>
        </p:txBody>
      </p:sp>
      <p:sp>
        <p:nvSpPr>
          <p:cNvPr id="35" name="TextBox 34"/>
          <p:cNvSpPr txBox="1"/>
          <p:nvPr/>
        </p:nvSpPr>
        <p:spPr>
          <a:xfrm>
            <a:off x="1828800" y="3451859"/>
            <a:ext cx="402335"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2</a:t>
            </a:r>
          </a:p>
        </p:txBody>
      </p:sp>
      <p:sp>
        <p:nvSpPr>
          <p:cNvPr id="36" name="TextBox 35"/>
          <p:cNvSpPr txBox="1"/>
          <p:nvPr/>
        </p:nvSpPr>
        <p:spPr>
          <a:xfrm>
            <a:off x="2377440" y="3451859"/>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3.0</a:t>
            </a:r>
          </a:p>
        </p:txBody>
      </p:sp>
      <p:sp>
        <p:nvSpPr>
          <p:cNvPr id="37" name="TextBox 36"/>
          <p:cNvSpPr txBox="1"/>
          <p:nvPr/>
        </p:nvSpPr>
        <p:spPr>
          <a:xfrm>
            <a:off x="3154680" y="3451859"/>
            <a:ext cx="7680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15.0</a:t>
            </a:r>
          </a:p>
        </p:txBody>
      </p:sp>
      <p:sp>
        <p:nvSpPr>
          <p:cNvPr id="38" name="TextBox 37"/>
          <p:cNvSpPr txBox="1"/>
          <p:nvPr/>
        </p:nvSpPr>
        <p:spPr>
          <a:xfrm>
            <a:off x="4069079" y="3451859"/>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12.5</a:t>
            </a:r>
          </a:p>
        </p:txBody>
      </p:sp>
      <p:sp>
        <p:nvSpPr>
          <p:cNvPr id="39" name="TextBox 38"/>
          <p:cNvSpPr txBox="1"/>
          <p:nvPr/>
        </p:nvSpPr>
        <p:spPr>
          <a:xfrm>
            <a:off x="4846319" y="3451859"/>
            <a:ext cx="5394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30.5</a:t>
            </a:r>
          </a:p>
        </p:txBody>
      </p:sp>
      <p:sp>
        <p:nvSpPr>
          <p:cNvPr id="40" name="TextBox 39"/>
          <p:cNvSpPr txBox="1"/>
          <p:nvPr/>
        </p:nvSpPr>
        <p:spPr>
          <a:xfrm>
            <a:off x="777240" y="3744468"/>
            <a:ext cx="905255"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微软雅黑"/>
                <a:ea typeface="微软雅黑"/>
              </a:rPr>
              <a:t>初级</a:t>
            </a:r>
          </a:p>
        </p:txBody>
      </p:sp>
      <p:sp>
        <p:nvSpPr>
          <p:cNvPr id="41" name="TextBox 40"/>
          <p:cNvSpPr txBox="1"/>
          <p:nvPr/>
        </p:nvSpPr>
        <p:spPr>
          <a:xfrm>
            <a:off x="1828800" y="3744468"/>
            <a:ext cx="402335"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2</a:t>
            </a:r>
          </a:p>
        </p:txBody>
      </p:sp>
      <p:sp>
        <p:nvSpPr>
          <p:cNvPr id="42" name="TextBox 41"/>
          <p:cNvSpPr txBox="1"/>
          <p:nvPr/>
        </p:nvSpPr>
        <p:spPr>
          <a:xfrm>
            <a:off x="2377440" y="3744468"/>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4.5</a:t>
            </a:r>
          </a:p>
        </p:txBody>
      </p:sp>
      <p:sp>
        <p:nvSpPr>
          <p:cNvPr id="43" name="TextBox 42"/>
          <p:cNvSpPr txBox="1"/>
          <p:nvPr/>
        </p:nvSpPr>
        <p:spPr>
          <a:xfrm>
            <a:off x="3154680" y="3744468"/>
            <a:ext cx="7680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18.5</a:t>
            </a:r>
          </a:p>
        </p:txBody>
      </p:sp>
      <p:sp>
        <p:nvSpPr>
          <p:cNvPr id="44" name="TextBox 43"/>
          <p:cNvSpPr txBox="1"/>
          <p:nvPr/>
        </p:nvSpPr>
        <p:spPr>
          <a:xfrm>
            <a:off x="4069079" y="3744468"/>
            <a:ext cx="63093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13.0</a:t>
            </a:r>
          </a:p>
        </p:txBody>
      </p:sp>
      <p:sp>
        <p:nvSpPr>
          <p:cNvPr id="45" name="TextBox 44"/>
          <p:cNvSpPr txBox="1"/>
          <p:nvPr/>
        </p:nvSpPr>
        <p:spPr>
          <a:xfrm>
            <a:off x="4846319" y="3744468"/>
            <a:ext cx="539496" cy="219456"/>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36.0</a:t>
            </a:r>
          </a:p>
        </p:txBody>
      </p:sp>
      <p:sp>
        <p:nvSpPr>
          <p:cNvPr id="46" name="TextBox 45"/>
          <p:cNvSpPr txBox="1"/>
          <p:nvPr/>
        </p:nvSpPr>
        <p:spPr>
          <a:xfrm>
            <a:off x="685800" y="4096512"/>
            <a:ext cx="5120640" cy="548640"/>
          </a:xfrm>
          <a:prstGeom prst="rect">
            <a:avLst/>
          </a:prstGeom>
          <a:noFill/>
        </p:spPr>
        <p:txBody>
          <a:bodyPr wrap="square" lIns="0" rIns="0" tIns="0" bIns="0" anchor="t">
            <a:spAutoFit/>
          </a:bodyPr>
          <a:lstStyle/>
          <a:p>
            <a:pPr algn="l">
              <a:lnSpc>
                <a:spcPct val="118000"/>
              </a:lnSpc>
              <a:spcBef>
                <a:spcPts val="0"/>
              </a:spcBef>
              <a:spcAft>
                <a:spcPts val="0"/>
              </a:spcAft>
            </a:pPr>
            <a:r>
              <a:rPr sz="860" b="0">
                <a:solidFill>
                  <a:srgbClr val="5A6B7B"/>
                </a:solidFill>
                <a:latin typeface="微软雅黑"/>
                <a:ea typeface="微软雅黑"/>
              </a:rPr>
              <a:t>面试本身不贵：三四轮加起来 15–20 天的日历时间。贵的是轮次之间的等待。</a:t>
            </a:r>
          </a:p>
        </p:txBody>
      </p:sp>
      <p:sp>
        <p:nvSpPr>
          <p:cNvPr id="47" name="TextBox 46"/>
          <p:cNvSpPr txBox="1"/>
          <p:nvPr/>
        </p:nvSpPr>
        <p:spPr>
          <a:xfrm>
            <a:off x="685800" y="4718304"/>
            <a:ext cx="51206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微软雅黑"/>
                <a:ea typeface="微软雅黑"/>
              </a:rPr>
              <a:t>Q11   ·   面试官通过率（≥ 3 场）</a:t>
            </a:r>
          </a:p>
        </p:txBody>
      </p:sp>
      <p:sp>
        <p:nvSpPr>
          <p:cNvPr id="48" name="Rectangle 47"/>
          <p:cNvSpPr/>
          <p:nvPr/>
        </p:nvSpPr>
        <p:spPr>
          <a:xfrm>
            <a:off x="685800" y="4956048"/>
            <a:ext cx="4343400" cy="265176"/>
          </a:xfrm>
          <a:prstGeom prst="rect">
            <a:avLst/>
          </a:prstGeom>
          <a:solidFill>
            <a:srgbClr val="0E2A47"/>
          </a:solidFill>
          <a:ln>
            <a:noFill/>
          </a:ln>
          <a:effectLst/>
        </p:spPr>
        <p:txBody>
          <a:bodyPr rtlCol="0" anchor="ctr" wrap="square" lIns="0" rIns="0" tIns="0" bIns="0"/>
          <a:lstStyle/>
          <a:p>
            <a:pPr algn="ctr"/>
          </a:p>
        </p:txBody>
      </p:sp>
      <p:sp>
        <p:nvSpPr>
          <p:cNvPr id="49" name="TextBox 48"/>
          <p:cNvSpPr txBox="1"/>
          <p:nvPr/>
        </p:nvSpPr>
        <p:spPr>
          <a:xfrm>
            <a:off x="777240" y="5020056"/>
            <a:ext cx="2185415" cy="192023"/>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微软雅黑"/>
                <a:ea typeface="微软雅黑"/>
              </a:rPr>
              <a:t>面试官 · 雇主</a:t>
            </a:r>
          </a:p>
        </p:txBody>
      </p:sp>
      <p:sp>
        <p:nvSpPr>
          <p:cNvPr id="50" name="TextBox 49"/>
          <p:cNvSpPr txBox="1"/>
          <p:nvPr/>
        </p:nvSpPr>
        <p:spPr>
          <a:xfrm>
            <a:off x="3108960" y="5020056"/>
            <a:ext cx="859536" cy="192023"/>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微软雅黑"/>
                <a:ea typeface="微软雅黑"/>
              </a:rPr>
              <a:t>场次</a:t>
            </a:r>
          </a:p>
        </p:txBody>
      </p:sp>
      <p:sp>
        <p:nvSpPr>
          <p:cNvPr id="51" name="TextBox 50"/>
          <p:cNvSpPr txBox="1"/>
          <p:nvPr/>
        </p:nvSpPr>
        <p:spPr>
          <a:xfrm>
            <a:off x="4114800" y="5020056"/>
            <a:ext cx="859536" cy="192023"/>
          </a:xfrm>
          <a:prstGeom prst="rect">
            <a:avLst/>
          </a:prstGeom>
          <a:noFill/>
        </p:spPr>
        <p:txBody>
          <a:bodyPr wrap="square" lIns="0" rIns="0" tIns="0" bIns="0" anchor="t">
            <a:spAutoFit/>
          </a:bodyPr>
          <a:lstStyle/>
          <a:p>
            <a:pPr algn="l">
              <a:lnSpc>
                <a:spcPct val="100000"/>
              </a:lnSpc>
              <a:spcBef>
                <a:spcPts val="0"/>
              </a:spcBef>
              <a:spcAft>
                <a:spcPts val="0"/>
              </a:spcAft>
            </a:pPr>
            <a:r>
              <a:rPr sz="720" b="1">
                <a:solidFill>
                  <a:srgbClr val="FFFFFF"/>
                </a:solidFill>
                <a:latin typeface="微软雅黑"/>
                <a:ea typeface="微软雅黑"/>
              </a:rPr>
              <a:t>通过率</a:t>
            </a:r>
          </a:p>
        </p:txBody>
      </p:sp>
      <p:sp>
        <p:nvSpPr>
          <p:cNvPr id="52" name="TextBox 51"/>
          <p:cNvSpPr txBox="1"/>
          <p:nvPr/>
        </p:nvSpPr>
        <p:spPr>
          <a:xfrm>
            <a:off x="777240" y="5289804"/>
            <a:ext cx="2185415" cy="192023"/>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Felix Luo · Shopify</a:t>
            </a:r>
          </a:p>
        </p:txBody>
      </p:sp>
      <p:sp>
        <p:nvSpPr>
          <p:cNvPr id="53" name="TextBox 52"/>
          <p:cNvSpPr txBox="1"/>
          <p:nvPr/>
        </p:nvSpPr>
        <p:spPr>
          <a:xfrm>
            <a:off x="3108960" y="5289804"/>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3</a:t>
            </a:r>
          </a:p>
        </p:txBody>
      </p:sp>
      <p:sp>
        <p:nvSpPr>
          <p:cNvPr id="54" name="TextBox 53"/>
          <p:cNvSpPr txBox="1"/>
          <p:nvPr/>
        </p:nvSpPr>
        <p:spPr>
          <a:xfrm>
            <a:off x="4114800" y="5289804"/>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0%</a:t>
            </a:r>
          </a:p>
        </p:txBody>
      </p:sp>
      <p:sp>
        <p:nvSpPr>
          <p:cNvPr id="55" name="Rectangle 54"/>
          <p:cNvSpPr/>
          <p:nvPr/>
        </p:nvSpPr>
        <p:spPr>
          <a:xfrm>
            <a:off x="685800" y="5486400"/>
            <a:ext cx="4343400" cy="265176"/>
          </a:xfrm>
          <a:prstGeom prst="rect">
            <a:avLst/>
          </a:prstGeom>
          <a:solidFill>
            <a:srgbClr val="F3F7FA"/>
          </a:solidFill>
          <a:ln>
            <a:noFill/>
          </a:ln>
          <a:effectLst/>
        </p:spPr>
        <p:txBody>
          <a:bodyPr rtlCol="0" anchor="ctr" wrap="square" lIns="0" rIns="0" tIns="0" bIns="0"/>
          <a:lstStyle/>
          <a:p>
            <a:pPr algn="ctr"/>
          </a:p>
        </p:txBody>
      </p:sp>
      <p:sp>
        <p:nvSpPr>
          <p:cNvPr id="56" name="TextBox 55"/>
          <p:cNvSpPr txBox="1"/>
          <p:nvPr/>
        </p:nvSpPr>
        <p:spPr>
          <a:xfrm>
            <a:off x="777240" y="5554980"/>
            <a:ext cx="2185415" cy="192023"/>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Arjun Muller · Meituan</a:t>
            </a:r>
          </a:p>
        </p:txBody>
      </p:sp>
      <p:sp>
        <p:nvSpPr>
          <p:cNvPr id="57" name="TextBox 56"/>
          <p:cNvSpPr txBox="1"/>
          <p:nvPr/>
        </p:nvSpPr>
        <p:spPr>
          <a:xfrm>
            <a:off x="3108960" y="5554980"/>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4</a:t>
            </a:r>
          </a:p>
        </p:txBody>
      </p:sp>
      <p:sp>
        <p:nvSpPr>
          <p:cNvPr id="58" name="TextBox 57"/>
          <p:cNvSpPr txBox="1"/>
          <p:nvPr/>
        </p:nvSpPr>
        <p:spPr>
          <a:xfrm>
            <a:off x="4114800" y="5554980"/>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50%</a:t>
            </a:r>
          </a:p>
        </p:txBody>
      </p:sp>
      <p:sp>
        <p:nvSpPr>
          <p:cNvPr id="59" name="TextBox 58"/>
          <p:cNvSpPr txBox="1"/>
          <p:nvPr/>
        </p:nvSpPr>
        <p:spPr>
          <a:xfrm>
            <a:off x="777240" y="5820156"/>
            <a:ext cx="2185415" cy="192023"/>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Grace Wu · Salesforce</a:t>
            </a:r>
          </a:p>
        </p:txBody>
      </p:sp>
      <p:sp>
        <p:nvSpPr>
          <p:cNvPr id="60" name="TextBox 59"/>
          <p:cNvSpPr txBox="1"/>
          <p:nvPr/>
        </p:nvSpPr>
        <p:spPr>
          <a:xfrm>
            <a:off x="3108960" y="5820156"/>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4</a:t>
            </a:r>
          </a:p>
        </p:txBody>
      </p:sp>
      <p:sp>
        <p:nvSpPr>
          <p:cNvPr id="61" name="TextBox 60"/>
          <p:cNvSpPr txBox="1"/>
          <p:nvPr/>
        </p:nvSpPr>
        <p:spPr>
          <a:xfrm>
            <a:off x="4114800" y="5820156"/>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100%</a:t>
            </a:r>
          </a:p>
        </p:txBody>
      </p:sp>
      <p:sp>
        <p:nvSpPr>
          <p:cNvPr id="62" name="Rectangle 61"/>
          <p:cNvSpPr/>
          <p:nvPr/>
        </p:nvSpPr>
        <p:spPr>
          <a:xfrm>
            <a:off x="685800" y="6016752"/>
            <a:ext cx="4343400" cy="265176"/>
          </a:xfrm>
          <a:prstGeom prst="rect">
            <a:avLst/>
          </a:prstGeom>
          <a:solidFill>
            <a:srgbClr val="F3F7FA"/>
          </a:solidFill>
          <a:ln>
            <a:noFill/>
          </a:ln>
          <a:effectLst/>
        </p:spPr>
        <p:txBody>
          <a:bodyPr rtlCol="0" anchor="ctr" wrap="square" lIns="0" rIns="0" tIns="0" bIns="0"/>
          <a:lstStyle/>
          <a:p>
            <a:pPr algn="ctr"/>
          </a:p>
        </p:txBody>
      </p:sp>
      <p:sp>
        <p:nvSpPr>
          <p:cNvPr id="63" name="TextBox 62"/>
          <p:cNvSpPr txBox="1"/>
          <p:nvPr/>
        </p:nvSpPr>
        <p:spPr>
          <a:xfrm>
            <a:off x="777240" y="6085332"/>
            <a:ext cx="2185415" cy="192023"/>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Segoe UI"/>
              </a:rPr>
              <a:t>Hao Hall · Sea Group</a:t>
            </a:r>
          </a:p>
        </p:txBody>
      </p:sp>
      <p:sp>
        <p:nvSpPr>
          <p:cNvPr id="64" name="TextBox 63"/>
          <p:cNvSpPr txBox="1"/>
          <p:nvPr/>
        </p:nvSpPr>
        <p:spPr>
          <a:xfrm>
            <a:off x="3108960" y="6085332"/>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4</a:t>
            </a:r>
          </a:p>
        </p:txBody>
      </p:sp>
      <p:sp>
        <p:nvSpPr>
          <p:cNvPr id="65" name="TextBox 64"/>
          <p:cNvSpPr txBox="1"/>
          <p:nvPr/>
        </p:nvSpPr>
        <p:spPr>
          <a:xfrm>
            <a:off x="4114800" y="6085332"/>
            <a:ext cx="859536" cy="192023"/>
          </a:xfrm>
          <a:prstGeom prst="rect">
            <a:avLst/>
          </a:prstGeom>
          <a:noFill/>
        </p:spPr>
        <p:txBody>
          <a:bodyPr wrap="square" lIns="0" rIns="0" tIns="0" bIns="0" anchor="t">
            <a:spAutoFit/>
          </a:bodyPr>
          <a:lstStyle/>
          <a:p>
            <a:pPr algn="r">
              <a:lnSpc>
                <a:spcPct val="100000"/>
              </a:lnSpc>
              <a:spcBef>
                <a:spcPts val="0"/>
              </a:spcBef>
              <a:spcAft>
                <a:spcPts val="0"/>
              </a:spcAft>
            </a:pPr>
            <a:r>
              <a:rPr sz="819" b="0">
                <a:solidFill>
                  <a:srgbClr val="5A6B7B"/>
                </a:solidFill>
                <a:latin typeface="Segoe UI"/>
              </a:rPr>
              <a:t>100%</a:t>
            </a:r>
          </a:p>
        </p:txBody>
      </p:sp>
      <p:sp>
        <p:nvSpPr>
          <p:cNvPr id="66" name="Rounded Rectangle 65"/>
          <p:cNvSpPr/>
          <p:nvPr/>
        </p:nvSpPr>
        <p:spPr>
          <a:xfrm>
            <a:off x="6172200" y="1956816"/>
            <a:ext cx="5321808" cy="1975104"/>
          </a:xfrm>
          <a:prstGeom prst="roundRect">
            <a:avLst>
              <a:gd name="adj" fmla="val 3000"/>
            </a:avLst>
          </a:prstGeom>
          <a:solidFill>
            <a:srgbClr val="F3F7FA"/>
          </a:solidFill>
          <a:ln>
            <a:noFill/>
          </a:ln>
          <a:effectLst/>
        </p:spPr>
        <p:txBody>
          <a:bodyPr rtlCol="0" anchor="ctr" wrap="square" lIns="0" rIns="0" tIns="0" bIns="0"/>
          <a:lstStyle/>
          <a:p>
            <a:pPr algn="ctr"/>
          </a:p>
        </p:txBody>
      </p:sp>
      <p:sp>
        <p:nvSpPr>
          <p:cNvPr id="67" name="TextBox 66"/>
          <p:cNvSpPr txBox="1"/>
          <p:nvPr/>
        </p:nvSpPr>
        <p:spPr>
          <a:xfrm>
            <a:off x="6419088" y="2103120"/>
            <a:ext cx="475488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微软雅黑"/>
                <a:ea typeface="微软雅黑"/>
              </a:rPr>
              <a:t>两 张 图 放 在 一 起 看</a:t>
            </a:r>
          </a:p>
        </p:txBody>
      </p:sp>
      <p:sp>
        <p:nvSpPr>
          <p:cNvPr id="68" name="TextBox 67"/>
          <p:cNvSpPr txBox="1"/>
          <p:nvPr/>
        </p:nvSpPr>
        <p:spPr>
          <a:xfrm>
            <a:off x="6419088" y="2340864"/>
            <a:ext cx="4846320" cy="1463040"/>
          </a:xfrm>
          <a:prstGeom prst="rect">
            <a:avLst/>
          </a:prstGeom>
          <a:noFill/>
        </p:spPr>
        <p:txBody>
          <a:bodyPr wrap="square" lIns="0" rIns="0" tIns="0" bIns="0" anchor="t">
            <a:spAutoFit/>
          </a:bodyPr>
          <a:lstStyle/>
          <a:p>
            <a:pPr algn="l">
              <a:lnSpc>
                <a:spcPct val="120000"/>
              </a:lnSpc>
              <a:spcBef>
                <a:spcPts val="0"/>
              </a:spcBef>
              <a:spcAft>
                <a:spcPts val="0"/>
              </a:spcAft>
            </a:pPr>
            <a:r>
              <a:rPr sz="900" b="0">
                <a:solidFill>
                  <a:srgbClr val="5A6B7B"/>
                </a:solidFill>
                <a:latin typeface="微软雅黑"/>
                <a:ea typeface="微软雅黑"/>
              </a:rPr>
              <a:t>一个把一半时间花在等日历上的流程，是排期问题，不是招聘问题；一个通过率取决于谁面这一轮的流程，是校准问题。两者可测，只因为面试是一张带面试官和时间戳的表，而不是申请上的一个状态。</a:t>
            </a:r>
          </a:p>
        </p:txBody>
      </p:sp>
      <p:sp>
        <p:nvSpPr>
          <p:cNvPr id="69" name="Rounded Rectangle 68"/>
          <p:cNvSpPr/>
          <p:nvPr/>
        </p:nvSpPr>
        <p:spPr>
          <a:xfrm>
            <a:off x="6172200" y="4096512"/>
            <a:ext cx="5321808" cy="1975104"/>
          </a:xfrm>
          <a:prstGeom prst="roundRect">
            <a:avLst>
              <a:gd name="adj" fmla="val 3000"/>
            </a:avLst>
          </a:prstGeom>
          <a:solidFill>
            <a:srgbClr val="FFFFFF"/>
          </a:solidFill>
          <a:ln>
            <a:noFill/>
          </a:ln>
          <a:effectLst/>
        </p:spPr>
        <p:txBody>
          <a:bodyPr rtlCol="0" anchor="ctr" wrap="square" lIns="0" rIns="0" tIns="0" bIns="0"/>
          <a:lstStyle/>
          <a:p>
            <a:pPr algn="ctr"/>
          </a:p>
        </p:txBody>
      </p:sp>
      <p:sp>
        <p:nvSpPr>
          <p:cNvPr id="70" name="Rectangle 69"/>
          <p:cNvSpPr/>
          <p:nvPr/>
        </p:nvSpPr>
        <p:spPr>
          <a:xfrm>
            <a:off x="6172200" y="4096512"/>
            <a:ext cx="45720" cy="1975104"/>
          </a:xfrm>
          <a:prstGeom prst="rect">
            <a:avLst/>
          </a:prstGeom>
          <a:solidFill>
            <a:srgbClr val="0A66C2"/>
          </a:solidFill>
          <a:ln>
            <a:noFill/>
          </a:ln>
          <a:effectLst/>
        </p:spPr>
        <p:txBody>
          <a:bodyPr rtlCol="0" anchor="ctr" wrap="square" lIns="0" rIns="0" tIns="0" bIns="0"/>
          <a:lstStyle/>
          <a:p>
            <a:pPr algn="ctr"/>
          </a:p>
        </p:txBody>
      </p:sp>
      <p:sp>
        <p:nvSpPr>
          <p:cNvPr id="71" name="TextBox 70"/>
          <p:cNvSpPr txBox="1"/>
          <p:nvPr/>
        </p:nvSpPr>
        <p:spPr>
          <a:xfrm>
            <a:off x="6419088" y="4224528"/>
            <a:ext cx="475488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微软雅黑"/>
                <a:ea typeface="微软雅黑"/>
              </a:rPr>
              <a:t>我 们 做 的 一 个 假 设</a:t>
            </a:r>
          </a:p>
        </p:txBody>
      </p:sp>
      <p:sp>
        <p:nvSpPr>
          <p:cNvPr id="72" name="TextBox 71"/>
          <p:cNvSpPr txBox="1"/>
          <p:nvPr/>
        </p:nvSpPr>
        <p:spPr>
          <a:xfrm>
            <a:off x="6419088" y="4462272"/>
            <a:ext cx="4846320" cy="1481328"/>
          </a:xfrm>
          <a:prstGeom prst="rect">
            <a:avLst/>
          </a:prstGeom>
          <a:noFill/>
        </p:spPr>
        <p:txBody>
          <a:bodyPr wrap="square" lIns="0" rIns="0" tIns="0" bIns="0" anchor="t">
            <a:spAutoFit/>
          </a:bodyPr>
          <a:lstStyle/>
          <a:p>
            <a:pPr algn="l">
              <a:lnSpc>
                <a:spcPct val="120000"/>
              </a:lnSpc>
              <a:spcBef>
                <a:spcPts val="0"/>
              </a:spcBef>
              <a:spcAft>
                <a:spcPts val="0"/>
              </a:spcAft>
            </a:pPr>
            <a:r>
              <a:rPr sz="900" b="0">
                <a:solidFill>
                  <a:srgbClr val="5A6B7B"/>
                </a:solidFill>
                <a:latin typeface="微软雅黑"/>
                <a:ea typeface="微软雅黑"/>
              </a:rPr>
              <a:t>阶段进入时间用投递日期近似，因为模式只保留一个决策时间戳，而不是迁移日志。这对总周期是诚实的，对分阶段时间偏乐观；增加 application_status_history 是我们改进清单的第一项。</a:t>
            </a:r>
          </a:p>
        </p:txBody>
      </p:sp>
      <p:sp>
        <p:nvSpPr>
          <p:cNvPr id="73" name="Rectangle 72"/>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74" name="TextBox 73"/>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75" name="TextBox 74"/>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12  ·  改 进</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接下来会做什么</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写下来的局限是设计决定；演示时才被发现的局限是缺陷。</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TextBox 5"/>
          <p:cNvSpPr txBox="1"/>
          <p:nvPr/>
        </p:nvSpPr>
        <p:spPr>
          <a:xfrm>
            <a:off x="685800" y="1993392"/>
            <a:ext cx="51206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0A66C2"/>
                </a:solidFill>
                <a:latin typeface="微软雅黑"/>
                <a:ea typeface="微软雅黑"/>
              </a:rPr>
              <a:t>接 下 来 会 做</a:t>
            </a:r>
          </a:p>
        </p:txBody>
      </p:sp>
      <p:sp>
        <p:nvSpPr>
          <p:cNvPr id="7" name="Rectangle 6"/>
          <p:cNvSpPr/>
          <p:nvPr/>
        </p:nvSpPr>
        <p:spPr>
          <a:xfrm>
            <a:off x="685800" y="2304288"/>
            <a:ext cx="45720" cy="713232"/>
          </a:xfrm>
          <a:prstGeom prst="rect">
            <a:avLst/>
          </a:prstGeom>
          <a:solidFill>
            <a:srgbClr val="0A66C2"/>
          </a:solidFill>
          <a:ln>
            <a:noFill/>
          </a:ln>
          <a:effectLst/>
        </p:spPr>
        <p:txBody>
          <a:bodyPr rtlCol="0" anchor="ctr" wrap="square" lIns="0" rIns="0" tIns="0" bIns="0"/>
          <a:lstStyle/>
          <a:p>
            <a:pPr algn="ctr"/>
          </a:p>
        </p:txBody>
      </p:sp>
      <p:sp>
        <p:nvSpPr>
          <p:cNvPr id="8" name="TextBox 7"/>
          <p:cNvSpPr txBox="1"/>
          <p:nvPr/>
        </p:nvSpPr>
        <p:spPr>
          <a:xfrm>
            <a:off x="868680" y="2286000"/>
            <a:ext cx="4754880" cy="219456"/>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E2A47"/>
                </a:solidFill>
                <a:latin typeface="微软雅黑"/>
                <a:ea typeface="微软雅黑"/>
              </a:rPr>
              <a:t>状态历史</a:t>
            </a:r>
          </a:p>
        </p:txBody>
      </p:sp>
      <p:sp>
        <p:nvSpPr>
          <p:cNvPr id="9" name="TextBox 8"/>
          <p:cNvSpPr txBox="1"/>
          <p:nvPr/>
        </p:nvSpPr>
        <p:spPr>
          <a:xfrm>
            <a:off x="868680" y="2523744"/>
            <a:ext cx="4846320" cy="566928"/>
          </a:xfrm>
          <a:prstGeom prst="rect">
            <a:avLst/>
          </a:prstGeom>
          <a:noFill/>
        </p:spPr>
        <p:txBody>
          <a:bodyPr wrap="square" lIns="0" rIns="0" tIns="0" bIns="0" anchor="t">
            <a:spAutoFit/>
          </a:bodyPr>
          <a:lstStyle/>
          <a:p>
            <a:pPr algn="l">
              <a:lnSpc>
                <a:spcPct val="118000"/>
              </a:lnSpc>
              <a:spcBef>
                <a:spcPts val="0"/>
              </a:spcBef>
              <a:spcAft>
                <a:spcPts val="0"/>
              </a:spcAft>
            </a:pPr>
            <a:r>
              <a:rPr sz="880" b="0">
                <a:solidFill>
                  <a:srgbClr val="5A6B7B"/>
                </a:solidFill>
                <a:latin typeface="微软雅黑"/>
                <a:ea typeface="微软雅黑"/>
              </a:rPr>
              <a:t>用 application_status_history 取代单个 decided_at，</a:t>
            </a:r>
          </a:p>
          <a:p>
            <a:pPr algn="l">
              <a:lnSpc>
                <a:spcPct val="118000"/>
              </a:lnSpc>
              <a:spcBef>
                <a:spcPts val="0"/>
              </a:spcBef>
              <a:spcAft>
                <a:spcPts val="0"/>
              </a:spcAft>
            </a:pPr>
            <a:r>
              <a:rPr sz="880" b="0">
                <a:solidFill>
                  <a:srgbClr val="5A6B7B"/>
                </a:solidFill>
                <a:latin typeface="微软雅黑"/>
                <a:ea typeface="微软雅黑"/>
              </a:rPr>
              <a:t>各阶段时长不再靠投递日期近似。</a:t>
            </a:r>
          </a:p>
        </p:txBody>
      </p:sp>
      <p:sp>
        <p:nvSpPr>
          <p:cNvPr id="10" name="Rectangle 9"/>
          <p:cNvSpPr/>
          <p:nvPr/>
        </p:nvSpPr>
        <p:spPr>
          <a:xfrm>
            <a:off x="685800" y="3163824"/>
            <a:ext cx="45720" cy="713232"/>
          </a:xfrm>
          <a:prstGeom prst="rect">
            <a:avLst/>
          </a:prstGeom>
          <a:solidFill>
            <a:srgbClr val="0A66C2"/>
          </a:solidFill>
          <a:ln>
            <a:noFill/>
          </a:ln>
          <a:effectLst/>
        </p:spPr>
        <p:txBody>
          <a:bodyPr rtlCol="0" anchor="ctr" wrap="square" lIns="0" rIns="0" tIns="0" bIns="0"/>
          <a:lstStyle/>
          <a:p>
            <a:pPr algn="ctr"/>
          </a:p>
        </p:txBody>
      </p:sp>
      <p:sp>
        <p:nvSpPr>
          <p:cNvPr id="11" name="TextBox 10"/>
          <p:cNvSpPr txBox="1"/>
          <p:nvPr/>
        </p:nvSpPr>
        <p:spPr>
          <a:xfrm>
            <a:off x="868680" y="3145536"/>
            <a:ext cx="4754880" cy="219456"/>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E2A47"/>
                </a:solidFill>
                <a:latin typeface="微软雅黑"/>
                <a:ea typeface="微软雅黑"/>
              </a:rPr>
              <a:t>Offer 表</a:t>
            </a:r>
          </a:p>
        </p:txBody>
      </p:sp>
      <p:sp>
        <p:nvSpPr>
          <p:cNvPr id="12" name="TextBox 11"/>
          <p:cNvSpPr txBox="1"/>
          <p:nvPr/>
        </p:nvSpPr>
        <p:spPr>
          <a:xfrm>
            <a:off x="868680" y="3383280"/>
            <a:ext cx="4846320" cy="566928"/>
          </a:xfrm>
          <a:prstGeom prst="rect">
            <a:avLst/>
          </a:prstGeom>
          <a:noFill/>
        </p:spPr>
        <p:txBody>
          <a:bodyPr wrap="square" lIns="0" rIns="0" tIns="0" bIns="0" anchor="t">
            <a:spAutoFit/>
          </a:bodyPr>
          <a:lstStyle/>
          <a:p>
            <a:pPr algn="l">
              <a:lnSpc>
                <a:spcPct val="118000"/>
              </a:lnSpc>
              <a:spcBef>
                <a:spcPts val="0"/>
              </a:spcBef>
              <a:spcAft>
                <a:spcPts val="0"/>
              </a:spcAft>
            </a:pPr>
            <a:r>
              <a:rPr sz="880" b="0">
                <a:solidFill>
                  <a:srgbClr val="5A6B7B"/>
                </a:solidFill>
                <a:latin typeface="微软雅黑"/>
                <a:ea typeface="微软雅黑"/>
              </a:rPr>
              <a:t>底薪、奖金、币种与接受日期——今天超出薪资带的 offer</a:t>
            </a:r>
          </a:p>
          <a:p>
            <a:pPr algn="l">
              <a:lnSpc>
                <a:spcPct val="118000"/>
              </a:lnSpc>
              <a:spcBef>
                <a:spcPts val="0"/>
              </a:spcBef>
              <a:spcAft>
                <a:spcPts val="0"/>
              </a:spcAft>
            </a:pPr>
            <a:r>
              <a:rPr sz="880" b="0">
                <a:solidFill>
                  <a:srgbClr val="5A6B7B"/>
                </a:solidFill>
                <a:latin typeface="微软雅黑"/>
                <a:ea typeface="微软雅黑"/>
              </a:rPr>
              <a:t>是看不见的，薪资列仍是职位上的计划值。</a:t>
            </a:r>
          </a:p>
        </p:txBody>
      </p:sp>
      <p:sp>
        <p:nvSpPr>
          <p:cNvPr id="13" name="Rectangle 12"/>
          <p:cNvSpPr/>
          <p:nvPr/>
        </p:nvSpPr>
        <p:spPr>
          <a:xfrm>
            <a:off x="685800" y="4023360"/>
            <a:ext cx="45720" cy="713232"/>
          </a:xfrm>
          <a:prstGeom prst="rect">
            <a:avLst/>
          </a:prstGeom>
          <a:solidFill>
            <a:srgbClr val="0A66C2"/>
          </a:solidFill>
          <a:ln>
            <a:noFill/>
          </a:ln>
          <a:effectLst/>
        </p:spPr>
        <p:txBody>
          <a:bodyPr rtlCol="0" anchor="ctr" wrap="square" lIns="0" rIns="0" tIns="0" bIns="0"/>
          <a:lstStyle/>
          <a:p>
            <a:pPr algn="ctr"/>
          </a:p>
        </p:txBody>
      </p:sp>
      <p:sp>
        <p:nvSpPr>
          <p:cNvPr id="14" name="TextBox 13"/>
          <p:cNvSpPr txBox="1"/>
          <p:nvPr/>
        </p:nvSpPr>
        <p:spPr>
          <a:xfrm>
            <a:off x="868680" y="4005072"/>
            <a:ext cx="4754880" cy="219456"/>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0E2A47"/>
                </a:solidFill>
                <a:latin typeface="微软雅黑"/>
                <a:ea typeface="微软雅黑"/>
              </a:rPr>
              <a:t>软删除</a:t>
            </a:r>
          </a:p>
        </p:txBody>
      </p:sp>
      <p:sp>
        <p:nvSpPr>
          <p:cNvPr id="15" name="TextBox 14"/>
          <p:cNvSpPr txBox="1"/>
          <p:nvPr/>
        </p:nvSpPr>
        <p:spPr>
          <a:xfrm>
            <a:off x="868680" y="4242816"/>
            <a:ext cx="4846320" cy="566928"/>
          </a:xfrm>
          <a:prstGeom prst="rect">
            <a:avLst/>
          </a:prstGeom>
          <a:noFill/>
        </p:spPr>
        <p:txBody>
          <a:bodyPr wrap="square" lIns="0" rIns="0" tIns="0" bIns="0" anchor="t">
            <a:spAutoFit/>
          </a:bodyPr>
          <a:lstStyle/>
          <a:p>
            <a:pPr algn="l">
              <a:lnSpc>
                <a:spcPct val="118000"/>
              </a:lnSpc>
              <a:spcBef>
                <a:spcPts val="0"/>
              </a:spcBef>
              <a:spcAft>
                <a:spcPts val="0"/>
              </a:spcAft>
            </a:pPr>
            <a:r>
              <a:rPr sz="880" b="0">
                <a:solidFill>
                  <a:srgbClr val="5A6B7B"/>
                </a:solidFill>
                <a:latin typeface="微软雅黑"/>
                <a:ea typeface="微软雅黑"/>
              </a:rPr>
              <a:t>member.deleted_at 加上 application.member_id 的 RESTRICT：</a:t>
            </a:r>
          </a:p>
          <a:p>
            <a:pPr algn="l">
              <a:lnSpc>
                <a:spcPct val="118000"/>
              </a:lnSpc>
              <a:spcBef>
                <a:spcPts val="0"/>
              </a:spcBef>
              <a:spcAft>
                <a:spcPts val="0"/>
              </a:spcAft>
            </a:pPr>
            <a:r>
              <a:rPr sz="880" b="0">
                <a:solidFill>
                  <a:srgbClr val="5A6B7B"/>
                </a:solidFill>
                <a:latin typeface="微软雅黑"/>
                <a:ea typeface="微软雅黑"/>
              </a:rPr>
              <a:t>现在删一个人会连他的漏斗历史一起毁掉。</a:t>
            </a:r>
          </a:p>
        </p:txBody>
      </p:sp>
      <p:sp>
        <p:nvSpPr>
          <p:cNvPr id="16" name="TextBox 15"/>
          <p:cNvSpPr txBox="1"/>
          <p:nvPr/>
        </p:nvSpPr>
        <p:spPr>
          <a:xfrm>
            <a:off x="6172200" y="1993392"/>
            <a:ext cx="5303520" cy="20116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A6741F"/>
                </a:solidFill>
                <a:latin typeface="微软雅黑"/>
                <a:ea typeface="微软雅黑"/>
              </a:rPr>
              <a:t>已 知 局 限</a:t>
            </a:r>
          </a:p>
        </p:txBody>
      </p:sp>
      <p:sp>
        <p:nvSpPr>
          <p:cNvPr id="17" name="TextBox 16"/>
          <p:cNvSpPr txBox="1"/>
          <p:nvPr/>
        </p:nvSpPr>
        <p:spPr>
          <a:xfrm>
            <a:off x="6172200" y="2286000"/>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200" b="1">
                <a:solidFill>
                  <a:srgbClr val="A6741F"/>
                </a:solidFill>
                <a:latin typeface="Segoe UI"/>
              </a:rPr>
              <a:t>·</a:t>
            </a:r>
          </a:p>
        </p:txBody>
      </p:sp>
      <p:sp>
        <p:nvSpPr>
          <p:cNvPr id="18" name="TextBox 17"/>
          <p:cNvSpPr txBox="1"/>
          <p:nvPr/>
        </p:nvSpPr>
        <p:spPr>
          <a:xfrm>
            <a:off x="6382512" y="2276856"/>
            <a:ext cx="5074920" cy="219456"/>
          </a:xfrm>
          <a:prstGeom prst="rect">
            <a:avLst/>
          </a:prstGeom>
          <a:noFill/>
        </p:spPr>
        <p:txBody>
          <a:bodyPr wrap="square" lIns="0" rIns="0" tIns="0" bIns="0" anchor="t">
            <a:spAutoFit/>
          </a:bodyPr>
          <a:lstStyle/>
          <a:p>
            <a:pPr algn="l">
              <a:lnSpc>
                <a:spcPct val="100000"/>
              </a:lnSpc>
              <a:spcBef>
                <a:spcPts val="0"/>
              </a:spcBef>
              <a:spcAft>
                <a:spcPts val="0"/>
              </a:spcAft>
            </a:pPr>
            <a:r>
              <a:rPr sz="960" b="1">
                <a:solidFill>
                  <a:srgbClr val="0E2A47"/>
                </a:solidFill>
                <a:latin typeface="微软雅黑"/>
                <a:ea typeface="微软雅黑"/>
              </a:rPr>
              <a:t>合成数据</a:t>
            </a:r>
          </a:p>
        </p:txBody>
      </p:sp>
      <p:sp>
        <p:nvSpPr>
          <p:cNvPr id="19" name="TextBox 18"/>
          <p:cNvSpPr txBox="1"/>
          <p:nvPr/>
        </p:nvSpPr>
        <p:spPr>
          <a:xfrm>
            <a:off x="6382512" y="2487168"/>
            <a:ext cx="5074920" cy="512064"/>
          </a:xfrm>
          <a:prstGeom prst="rect">
            <a:avLst/>
          </a:prstGeom>
          <a:noFill/>
        </p:spPr>
        <p:txBody>
          <a:bodyPr wrap="square" lIns="0" rIns="0" tIns="0" bIns="0" anchor="t">
            <a:spAutoFit/>
          </a:bodyPr>
          <a:lstStyle/>
          <a:p>
            <a:pPr algn="l">
              <a:lnSpc>
                <a:spcPct val="115000"/>
              </a:lnSpc>
              <a:spcBef>
                <a:spcPts val="0"/>
              </a:spcBef>
              <a:spcAft>
                <a:spcPts val="0"/>
              </a:spcAft>
            </a:pPr>
            <a:r>
              <a:rPr sz="840" b="0">
                <a:solidFill>
                  <a:srgbClr val="5A6B7B"/>
                </a:solidFill>
                <a:latin typeface="微软雅黑"/>
                <a:ea typeface="微软雅黑"/>
              </a:rPr>
              <a:t>分布合理但非实测；没有使用公开数据集。</a:t>
            </a:r>
          </a:p>
        </p:txBody>
      </p:sp>
      <p:sp>
        <p:nvSpPr>
          <p:cNvPr id="20" name="TextBox 19"/>
          <p:cNvSpPr txBox="1"/>
          <p:nvPr/>
        </p:nvSpPr>
        <p:spPr>
          <a:xfrm>
            <a:off x="6172200" y="3072384"/>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200" b="1">
                <a:solidFill>
                  <a:srgbClr val="A6741F"/>
                </a:solidFill>
                <a:latin typeface="Segoe UI"/>
              </a:rPr>
              <a:t>·</a:t>
            </a:r>
          </a:p>
        </p:txBody>
      </p:sp>
      <p:sp>
        <p:nvSpPr>
          <p:cNvPr id="21" name="TextBox 20"/>
          <p:cNvSpPr txBox="1"/>
          <p:nvPr/>
        </p:nvSpPr>
        <p:spPr>
          <a:xfrm>
            <a:off x="6382512" y="3063240"/>
            <a:ext cx="5074920" cy="219456"/>
          </a:xfrm>
          <a:prstGeom prst="rect">
            <a:avLst/>
          </a:prstGeom>
          <a:noFill/>
        </p:spPr>
        <p:txBody>
          <a:bodyPr wrap="square" lIns="0" rIns="0" tIns="0" bIns="0" anchor="t">
            <a:spAutoFit/>
          </a:bodyPr>
          <a:lstStyle/>
          <a:p>
            <a:pPr algn="l">
              <a:lnSpc>
                <a:spcPct val="100000"/>
              </a:lnSpc>
              <a:spcBef>
                <a:spcPts val="0"/>
              </a:spcBef>
              <a:spcAft>
                <a:spcPts val="0"/>
              </a:spcAft>
            </a:pPr>
            <a:r>
              <a:rPr sz="960" b="1">
                <a:solidFill>
                  <a:srgbClr val="0E2A47"/>
                </a:solidFill>
                <a:latin typeface="微软雅黑"/>
                <a:ea typeface="微软雅黑"/>
              </a:rPr>
              <a:t>单一币种</a:t>
            </a:r>
          </a:p>
        </p:txBody>
      </p:sp>
      <p:sp>
        <p:nvSpPr>
          <p:cNvPr id="22" name="TextBox 21"/>
          <p:cNvSpPr txBox="1"/>
          <p:nvPr/>
        </p:nvSpPr>
        <p:spPr>
          <a:xfrm>
            <a:off x="6382512" y="3273552"/>
            <a:ext cx="5074920" cy="512064"/>
          </a:xfrm>
          <a:prstGeom prst="rect">
            <a:avLst/>
          </a:prstGeom>
          <a:noFill/>
        </p:spPr>
        <p:txBody>
          <a:bodyPr wrap="square" lIns="0" rIns="0" tIns="0" bIns="0" anchor="t">
            <a:spAutoFit/>
          </a:bodyPr>
          <a:lstStyle/>
          <a:p>
            <a:pPr algn="l">
              <a:lnSpc>
                <a:spcPct val="115000"/>
              </a:lnSpc>
              <a:spcBef>
                <a:spcPts val="0"/>
              </a:spcBef>
              <a:spcAft>
                <a:spcPts val="0"/>
              </a:spcAft>
            </a:pPr>
            <a:r>
              <a:rPr sz="840" b="0">
                <a:solidFill>
                  <a:srgbClr val="5A6B7B"/>
                </a:solidFill>
                <a:latin typeface="微软雅黑"/>
                <a:ea typeface="微软雅黑"/>
              </a:rPr>
              <a:t>薪资按年薪美元；跨国比较只是名义值。</a:t>
            </a:r>
          </a:p>
        </p:txBody>
      </p:sp>
      <p:sp>
        <p:nvSpPr>
          <p:cNvPr id="23" name="TextBox 22"/>
          <p:cNvSpPr txBox="1"/>
          <p:nvPr/>
        </p:nvSpPr>
        <p:spPr>
          <a:xfrm>
            <a:off x="6172200" y="3858768"/>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200" b="1">
                <a:solidFill>
                  <a:srgbClr val="A6741F"/>
                </a:solidFill>
                <a:latin typeface="Segoe UI"/>
              </a:rPr>
              <a:t>·</a:t>
            </a:r>
          </a:p>
        </p:txBody>
      </p:sp>
      <p:sp>
        <p:nvSpPr>
          <p:cNvPr id="24" name="TextBox 23"/>
          <p:cNvSpPr txBox="1"/>
          <p:nvPr/>
        </p:nvSpPr>
        <p:spPr>
          <a:xfrm>
            <a:off x="6382512" y="3849624"/>
            <a:ext cx="5074920" cy="219456"/>
          </a:xfrm>
          <a:prstGeom prst="rect">
            <a:avLst/>
          </a:prstGeom>
          <a:noFill/>
        </p:spPr>
        <p:txBody>
          <a:bodyPr wrap="square" lIns="0" rIns="0" tIns="0" bIns="0" anchor="t">
            <a:spAutoFit/>
          </a:bodyPr>
          <a:lstStyle/>
          <a:p>
            <a:pPr algn="l">
              <a:lnSpc>
                <a:spcPct val="100000"/>
              </a:lnSpc>
              <a:spcBef>
                <a:spcPts val="0"/>
              </a:spcBef>
              <a:spcAft>
                <a:spcPts val="0"/>
              </a:spcAft>
            </a:pPr>
            <a:r>
              <a:rPr sz="960" b="1">
                <a:solidFill>
                  <a:srgbClr val="0E2A47"/>
                </a:solidFill>
                <a:latin typeface="微软雅黑"/>
                <a:ea typeface="微软雅黑"/>
              </a:rPr>
              <a:t>学历唯一性未强制</a:t>
            </a:r>
          </a:p>
        </p:txBody>
      </p:sp>
      <p:sp>
        <p:nvSpPr>
          <p:cNvPr id="25" name="TextBox 24"/>
          <p:cNvSpPr txBox="1"/>
          <p:nvPr/>
        </p:nvSpPr>
        <p:spPr>
          <a:xfrm>
            <a:off x="6382512" y="4059935"/>
            <a:ext cx="5074920" cy="512064"/>
          </a:xfrm>
          <a:prstGeom prst="rect">
            <a:avLst/>
          </a:prstGeom>
          <a:noFill/>
        </p:spPr>
        <p:txBody>
          <a:bodyPr wrap="square" lIns="0" rIns="0" tIns="0" bIns="0" anchor="t">
            <a:spAutoFit/>
          </a:bodyPr>
          <a:lstStyle/>
          <a:p>
            <a:pPr algn="l">
              <a:lnSpc>
                <a:spcPct val="115000"/>
              </a:lnSpc>
              <a:spcBef>
                <a:spcPts val="0"/>
              </a:spcBef>
              <a:spcAft>
                <a:spcPts val="0"/>
              </a:spcAft>
            </a:pPr>
            <a:r>
              <a:rPr sz="840" b="0">
                <a:solidFill>
                  <a:srgbClr val="5A6B7B"/>
                </a:solidFill>
                <a:latin typeface="微软雅黑"/>
                <a:ea typeface="微软雅黑"/>
              </a:rPr>
              <a:t>同一个学位可以录两次。</a:t>
            </a:r>
          </a:p>
        </p:txBody>
      </p:sp>
      <p:sp>
        <p:nvSpPr>
          <p:cNvPr id="26" name="TextBox 25"/>
          <p:cNvSpPr txBox="1"/>
          <p:nvPr/>
        </p:nvSpPr>
        <p:spPr>
          <a:xfrm>
            <a:off x="6172200" y="4645152"/>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200" b="1">
                <a:solidFill>
                  <a:srgbClr val="A6741F"/>
                </a:solidFill>
                <a:latin typeface="Segoe UI"/>
              </a:rPr>
              <a:t>·</a:t>
            </a:r>
          </a:p>
        </p:txBody>
      </p:sp>
      <p:sp>
        <p:nvSpPr>
          <p:cNvPr id="27" name="TextBox 26"/>
          <p:cNvSpPr txBox="1"/>
          <p:nvPr/>
        </p:nvSpPr>
        <p:spPr>
          <a:xfrm>
            <a:off x="6382512" y="4636008"/>
            <a:ext cx="5074920" cy="219456"/>
          </a:xfrm>
          <a:prstGeom prst="rect">
            <a:avLst/>
          </a:prstGeom>
          <a:noFill/>
        </p:spPr>
        <p:txBody>
          <a:bodyPr wrap="square" lIns="0" rIns="0" tIns="0" bIns="0" anchor="t">
            <a:spAutoFit/>
          </a:bodyPr>
          <a:lstStyle/>
          <a:p>
            <a:pPr algn="l">
              <a:lnSpc>
                <a:spcPct val="100000"/>
              </a:lnSpc>
              <a:spcBef>
                <a:spcPts val="0"/>
              </a:spcBef>
              <a:spcAft>
                <a:spcPts val="0"/>
              </a:spcAft>
            </a:pPr>
            <a:r>
              <a:rPr sz="960" b="1">
                <a:solidFill>
                  <a:srgbClr val="0E2A47"/>
                </a:solidFill>
                <a:latin typeface="微软雅黑"/>
                <a:ea typeface="微软雅黑"/>
              </a:rPr>
              <a:t>两跳上限</a:t>
            </a:r>
          </a:p>
        </p:txBody>
      </p:sp>
      <p:sp>
        <p:nvSpPr>
          <p:cNvPr id="28" name="TextBox 27"/>
          <p:cNvSpPr txBox="1"/>
          <p:nvPr/>
        </p:nvSpPr>
        <p:spPr>
          <a:xfrm>
            <a:off x="6382512" y="4846320"/>
            <a:ext cx="5074920" cy="512064"/>
          </a:xfrm>
          <a:prstGeom prst="rect">
            <a:avLst/>
          </a:prstGeom>
          <a:noFill/>
        </p:spPr>
        <p:txBody>
          <a:bodyPr wrap="square" lIns="0" rIns="0" tIns="0" bIns="0" anchor="t">
            <a:spAutoFit/>
          </a:bodyPr>
          <a:lstStyle/>
          <a:p>
            <a:pPr algn="l">
              <a:lnSpc>
                <a:spcPct val="115000"/>
              </a:lnSpc>
              <a:spcBef>
                <a:spcPts val="0"/>
              </a:spcBef>
              <a:spcAft>
                <a:spcPts val="0"/>
              </a:spcAft>
            </a:pPr>
            <a:r>
              <a:rPr sz="840" b="0">
                <a:solidFill>
                  <a:srgbClr val="5A6B7B"/>
                </a:solidFill>
                <a:latin typeface="微软雅黑"/>
                <a:ea typeface="微软雅黑"/>
              </a:rPr>
              <a:t>三跳需要物化可达表或图数据库。</a:t>
            </a:r>
          </a:p>
        </p:txBody>
      </p:sp>
      <p:sp>
        <p:nvSpPr>
          <p:cNvPr id="29" name="TextBox 28"/>
          <p:cNvSpPr txBox="1"/>
          <p:nvPr/>
        </p:nvSpPr>
        <p:spPr>
          <a:xfrm>
            <a:off x="6172200" y="5431536"/>
            <a:ext cx="146304" cy="201168"/>
          </a:xfrm>
          <a:prstGeom prst="rect">
            <a:avLst/>
          </a:prstGeom>
          <a:noFill/>
        </p:spPr>
        <p:txBody>
          <a:bodyPr wrap="square" lIns="0" rIns="0" tIns="0" bIns="0" anchor="t">
            <a:spAutoFit/>
          </a:bodyPr>
          <a:lstStyle/>
          <a:p>
            <a:pPr algn="l">
              <a:lnSpc>
                <a:spcPct val="100000"/>
              </a:lnSpc>
              <a:spcBef>
                <a:spcPts val="0"/>
              </a:spcBef>
              <a:spcAft>
                <a:spcPts val="0"/>
              </a:spcAft>
            </a:pPr>
            <a:r>
              <a:rPr sz="1200" b="1">
                <a:solidFill>
                  <a:srgbClr val="A6741F"/>
                </a:solidFill>
                <a:latin typeface="Segoe UI"/>
              </a:rPr>
              <a:t>·</a:t>
            </a:r>
          </a:p>
        </p:txBody>
      </p:sp>
      <p:sp>
        <p:nvSpPr>
          <p:cNvPr id="30" name="TextBox 29"/>
          <p:cNvSpPr txBox="1"/>
          <p:nvPr/>
        </p:nvSpPr>
        <p:spPr>
          <a:xfrm>
            <a:off x="6382512" y="5422392"/>
            <a:ext cx="5074920" cy="219456"/>
          </a:xfrm>
          <a:prstGeom prst="rect">
            <a:avLst/>
          </a:prstGeom>
          <a:noFill/>
        </p:spPr>
        <p:txBody>
          <a:bodyPr wrap="square" lIns="0" rIns="0" tIns="0" bIns="0" anchor="t">
            <a:spAutoFit/>
          </a:bodyPr>
          <a:lstStyle/>
          <a:p>
            <a:pPr algn="l">
              <a:lnSpc>
                <a:spcPct val="100000"/>
              </a:lnSpc>
              <a:spcBef>
                <a:spcPts val="0"/>
              </a:spcBef>
              <a:spcAft>
                <a:spcPts val="0"/>
              </a:spcAft>
            </a:pPr>
            <a:r>
              <a:rPr sz="960" b="1">
                <a:solidFill>
                  <a:srgbClr val="0E2A47"/>
                </a:solidFill>
                <a:latin typeface="微软雅黑"/>
                <a:ea typeface="微软雅黑"/>
              </a:rPr>
              <a:t>没有阶段日志</a:t>
            </a:r>
          </a:p>
        </p:txBody>
      </p:sp>
      <p:sp>
        <p:nvSpPr>
          <p:cNvPr id="31" name="TextBox 30"/>
          <p:cNvSpPr txBox="1"/>
          <p:nvPr/>
        </p:nvSpPr>
        <p:spPr>
          <a:xfrm>
            <a:off x="6382512" y="5632704"/>
            <a:ext cx="5074920" cy="512064"/>
          </a:xfrm>
          <a:prstGeom prst="rect">
            <a:avLst/>
          </a:prstGeom>
          <a:noFill/>
        </p:spPr>
        <p:txBody>
          <a:bodyPr wrap="square" lIns="0" rIns="0" tIns="0" bIns="0" anchor="t">
            <a:spAutoFit/>
          </a:bodyPr>
          <a:lstStyle/>
          <a:p>
            <a:pPr algn="l">
              <a:lnSpc>
                <a:spcPct val="115000"/>
              </a:lnSpc>
              <a:spcBef>
                <a:spcPts val="0"/>
              </a:spcBef>
              <a:spcAft>
                <a:spcPts val="0"/>
              </a:spcAft>
            </a:pPr>
            <a:r>
              <a:rPr sz="840" b="0">
                <a:solidFill>
                  <a:srgbClr val="5A6B7B"/>
                </a:solidFill>
                <a:latin typeface="微软雅黑"/>
                <a:ea typeface="微软雅黑"/>
              </a:rPr>
              <a:t>decided_at 兼任“最后变更”，对录用是准确的，</a:t>
            </a:r>
          </a:p>
          <a:p>
            <a:pPr algn="l">
              <a:lnSpc>
                <a:spcPct val="115000"/>
              </a:lnSpc>
              <a:spcBef>
                <a:spcPts val="0"/>
              </a:spcBef>
              <a:spcAft>
                <a:spcPts val="0"/>
              </a:spcAft>
            </a:pPr>
            <a:r>
              <a:rPr sz="840" b="0">
                <a:solidFill>
                  <a:srgbClr val="5A6B7B"/>
                </a:solidFill>
                <a:latin typeface="微软雅黑"/>
                <a:ea typeface="微软雅黑"/>
              </a:rPr>
              <a:t>对撤回则偏软。</a:t>
            </a:r>
          </a:p>
        </p:txBody>
      </p:sp>
      <p:sp>
        <p:nvSpPr>
          <p:cNvPr id="32" name="Rounded Rectangle 31"/>
          <p:cNvSpPr/>
          <p:nvPr/>
        </p:nvSpPr>
        <p:spPr>
          <a:xfrm>
            <a:off x="685800" y="5138928"/>
            <a:ext cx="5074920" cy="1060704"/>
          </a:xfrm>
          <a:prstGeom prst="roundRect">
            <a:avLst>
              <a:gd name="adj" fmla="val 4000"/>
            </a:avLst>
          </a:prstGeom>
          <a:solidFill>
            <a:srgbClr val="F3F7FA"/>
          </a:solidFill>
          <a:ln>
            <a:noFill/>
          </a:ln>
          <a:effectLst/>
        </p:spPr>
        <p:txBody>
          <a:bodyPr rtlCol="0" anchor="ctr" wrap="square" lIns="0" rIns="0" tIns="0" bIns="0"/>
          <a:lstStyle/>
          <a:p>
            <a:pPr algn="ctr"/>
          </a:p>
        </p:txBody>
      </p:sp>
      <p:sp>
        <p:nvSpPr>
          <p:cNvPr id="33" name="TextBox 32"/>
          <p:cNvSpPr txBox="1"/>
          <p:nvPr/>
        </p:nvSpPr>
        <p:spPr>
          <a:xfrm>
            <a:off x="914400" y="5248656"/>
            <a:ext cx="45720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1">
                <a:solidFill>
                  <a:srgbClr val="8A99A6"/>
                </a:solidFill>
                <a:latin typeface="微软雅黑"/>
                <a:ea typeface="微软雅黑"/>
              </a:rPr>
              <a:t>如 果 只 修 一 件 事</a:t>
            </a:r>
          </a:p>
        </p:txBody>
      </p:sp>
      <p:sp>
        <p:nvSpPr>
          <p:cNvPr id="34" name="TextBox 33"/>
          <p:cNvSpPr txBox="1"/>
          <p:nvPr/>
        </p:nvSpPr>
        <p:spPr>
          <a:xfrm>
            <a:off x="914400" y="5486400"/>
            <a:ext cx="4663440" cy="640080"/>
          </a:xfrm>
          <a:prstGeom prst="rect">
            <a:avLst/>
          </a:prstGeom>
          <a:noFill/>
        </p:spPr>
        <p:txBody>
          <a:bodyPr wrap="square" lIns="0" rIns="0" tIns="0" bIns="0" anchor="t">
            <a:spAutoFit/>
          </a:bodyPr>
          <a:lstStyle/>
          <a:p>
            <a:pPr algn="l">
              <a:lnSpc>
                <a:spcPct val="118000"/>
              </a:lnSpc>
              <a:spcBef>
                <a:spcPts val="0"/>
              </a:spcBef>
              <a:spcAft>
                <a:spcPts val="0"/>
              </a:spcAft>
            </a:pPr>
            <a:r>
              <a:rPr sz="880" b="0">
                <a:solidFill>
                  <a:srgbClr val="0E2A47"/>
                </a:solidFill>
                <a:latin typeface="微软雅黑"/>
                <a:ea typeface="微软雅黑"/>
              </a:rPr>
              <a:t>软删除。丢失离职成员的申请记录，首先是合规问题，其次才是建模问题。</a:t>
            </a:r>
          </a:p>
        </p:txBody>
      </p:sp>
      <p:sp>
        <p:nvSpPr>
          <p:cNvPr id="35" name="Rectangle 34"/>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36" name="TextBox 35"/>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37" name="TextBox 36"/>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13  ·  附 录</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任务分工与工时</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七个人，四层依赖：模式 → 造数 → 视图 → 查询 → 验收。</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sp>
        <p:nvSpPr>
          <p:cNvPr id="6" name="Rectangle 5"/>
          <p:cNvSpPr/>
          <p:nvPr/>
        </p:nvSpPr>
        <p:spPr>
          <a:xfrm>
            <a:off x="685800" y="2103120"/>
            <a:ext cx="10378440" cy="365760"/>
          </a:xfrm>
          <a:prstGeom prst="rect">
            <a:avLst/>
          </a:prstGeom>
          <a:solidFill>
            <a:srgbClr val="0E2A47"/>
          </a:solidFill>
          <a:ln>
            <a:noFill/>
          </a:ln>
          <a:effectLst/>
        </p:spPr>
        <p:txBody>
          <a:bodyPr rtlCol="0" anchor="ctr" wrap="square" lIns="0" rIns="0" tIns="0" bIns="0"/>
          <a:lstStyle/>
          <a:p>
            <a:pPr algn="ctr"/>
          </a:p>
        </p:txBody>
      </p:sp>
      <p:sp>
        <p:nvSpPr>
          <p:cNvPr id="7" name="TextBox 6"/>
          <p:cNvSpPr txBox="1"/>
          <p:nvPr/>
        </p:nvSpPr>
        <p:spPr>
          <a:xfrm>
            <a:off x="777240" y="2167127"/>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微软雅黑"/>
                <a:ea typeface="微软雅黑"/>
              </a:rPr>
              <a:t>成员</a:t>
            </a:r>
          </a:p>
        </p:txBody>
      </p:sp>
      <p:sp>
        <p:nvSpPr>
          <p:cNvPr id="8" name="TextBox 7"/>
          <p:cNvSpPr txBox="1"/>
          <p:nvPr/>
        </p:nvSpPr>
        <p:spPr>
          <a:xfrm>
            <a:off x="2651760" y="2167127"/>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微软雅黑"/>
                <a:ea typeface="微软雅黑"/>
              </a:rPr>
              <a:t>学号</a:t>
            </a:r>
          </a:p>
        </p:txBody>
      </p:sp>
      <p:sp>
        <p:nvSpPr>
          <p:cNvPr id="9" name="TextBox 8"/>
          <p:cNvSpPr txBox="1"/>
          <p:nvPr/>
        </p:nvSpPr>
        <p:spPr>
          <a:xfrm>
            <a:off x="4069079" y="2167127"/>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微软雅黑"/>
                <a:ea typeface="微软雅黑"/>
              </a:rPr>
              <a:t>主要负责</a:t>
            </a:r>
          </a:p>
        </p:txBody>
      </p:sp>
      <p:sp>
        <p:nvSpPr>
          <p:cNvPr id="10" name="TextBox 9"/>
          <p:cNvSpPr txBox="1"/>
          <p:nvPr/>
        </p:nvSpPr>
        <p:spPr>
          <a:xfrm>
            <a:off x="9143999" y="2167127"/>
            <a:ext cx="996696" cy="29260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微软雅黑"/>
                <a:ea typeface="微软雅黑"/>
              </a:rPr>
              <a:t>难度</a:t>
            </a:r>
          </a:p>
        </p:txBody>
      </p:sp>
      <p:sp>
        <p:nvSpPr>
          <p:cNvPr id="11" name="TextBox 10"/>
          <p:cNvSpPr txBox="1"/>
          <p:nvPr/>
        </p:nvSpPr>
        <p:spPr>
          <a:xfrm>
            <a:off x="10286999" y="2167127"/>
            <a:ext cx="722375" cy="292608"/>
          </a:xfrm>
          <a:prstGeom prst="rect">
            <a:avLst/>
          </a:prstGeom>
          <a:noFill/>
        </p:spPr>
        <p:txBody>
          <a:bodyPr wrap="square" lIns="0" rIns="0" tIns="0" bIns="0" anchor="t">
            <a:spAutoFit/>
          </a:bodyPr>
          <a:lstStyle/>
          <a:p>
            <a:pPr algn="l">
              <a:lnSpc>
                <a:spcPct val="100000"/>
              </a:lnSpc>
              <a:spcBef>
                <a:spcPts val="0"/>
              </a:spcBef>
              <a:spcAft>
                <a:spcPts val="0"/>
              </a:spcAft>
            </a:pPr>
            <a:r>
              <a:rPr sz="800" b="1">
                <a:solidFill>
                  <a:srgbClr val="FFFFFF"/>
                </a:solidFill>
                <a:latin typeface="微软雅黑"/>
                <a:ea typeface="微软雅黑"/>
              </a:rPr>
              <a:t>工时</a:t>
            </a:r>
          </a:p>
        </p:txBody>
      </p:sp>
      <p:sp>
        <p:nvSpPr>
          <p:cNvPr id="12" name="TextBox 11"/>
          <p:cNvSpPr txBox="1"/>
          <p:nvPr/>
        </p:nvSpPr>
        <p:spPr>
          <a:xfrm>
            <a:off x="777240" y="2537460"/>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Xuanmo AN</a:t>
            </a:r>
          </a:p>
        </p:txBody>
      </p:sp>
      <p:sp>
        <p:nvSpPr>
          <p:cNvPr id="13" name="TextBox 12"/>
          <p:cNvSpPr txBox="1"/>
          <p:nvPr/>
        </p:nvSpPr>
        <p:spPr>
          <a:xfrm>
            <a:off x="2651760" y="2537460"/>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1155260677</a:t>
            </a:r>
          </a:p>
        </p:txBody>
      </p:sp>
      <p:sp>
        <p:nvSpPr>
          <p:cNvPr id="14" name="TextBox 13"/>
          <p:cNvSpPr txBox="1"/>
          <p:nvPr/>
        </p:nvSpPr>
        <p:spPr>
          <a:xfrm>
            <a:off x="4069079" y="2537460"/>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微软雅黑"/>
                <a:ea typeface="微软雅黑"/>
              </a:rPr>
              <a:t>概念与逻辑 ER 模型；§6.7 转关系；ERD 生成器</a:t>
            </a:r>
          </a:p>
        </p:txBody>
      </p:sp>
      <p:sp>
        <p:nvSpPr>
          <p:cNvPr id="15" name="TextBox 14"/>
          <p:cNvSpPr txBox="1"/>
          <p:nvPr/>
        </p:nvSpPr>
        <p:spPr>
          <a:xfrm>
            <a:off x="9143999" y="2537460"/>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5</a:t>
            </a:r>
          </a:p>
        </p:txBody>
      </p:sp>
      <p:sp>
        <p:nvSpPr>
          <p:cNvPr id="16" name="TextBox 15"/>
          <p:cNvSpPr txBox="1"/>
          <p:nvPr/>
        </p:nvSpPr>
        <p:spPr>
          <a:xfrm>
            <a:off x="10286999" y="2537460"/>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13</a:t>
            </a:r>
          </a:p>
        </p:txBody>
      </p:sp>
      <p:sp>
        <p:nvSpPr>
          <p:cNvPr id="17" name="Rectangle 16"/>
          <p:cNvSpPr/>
          <p:nvPr/>
        </p:nvSpPr>
        <p:spPr>
          <a:xfrm>
            <a:off x="685800" y="2834639"/>
            <a:ext cx="10378440" cy="365760"/>
          </a:xfrm>
          <a:prstGeom prst="rect">
            <a:avLst/>
          </a:prstGeom>
          <a:solidFill>
            <a:srgbClr val="F3F7FA"/>
          </a:solidFill>
          <a:ln>
            <a:noFill/>
          </a:ln>
          <a:effectLst/>
        </p:spPr>
        <p:txBody>
          <a:bodyPr rtlCol="0" anchor="ctr" wrap="square" lIns="0" rIns="0" tIns="0" bIns="0"/>
          <a:lstStyle/>
          <a:p>
            <a:pPr algn="ctr"/>
          </a:p>
        </p:txBody>
      </p:sp>
      <p:sp>
        <p:nvSpPr>
          <p:cNvPr id="18" name="TextBox 17"/>
          <p:cNvSpPr txBox="1"/>
          <p:nvPr/>
        </p:nvSpPr>
        <p:spPr>
          <a:xfrm>
            <a:off x="777240" y="2903220"/>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Yi HOU</a:t>
            </a:r>
          </a:p>
        </p:txBody>
      </p:sp>
      <p:sp>
        <p:nvSpPr>
          <p:cNvPr id="19" name="TextBox 18"/>
          <p:cNvSpPr txBox="1"/>
          <p:nvPr/>
        </p:nvSpPr>
        <p:spPr>
          <a:xfrm>
            <a:off x="2651760" y="2903220"/>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1155261383</a:t>
            </a:r>
          </a:p>
        </p:txBody>
      </p:sp>
      <p:sp>
        <p:nvSpPr>
          <p:cNvPr id="20" name="TextBox 19"/>
          <p:cNvSpPr txBox="1"/>
          <p:nvPr/>
        </p:nvSpPr>
        <p:spPr>
          <a:xfrm>
            <a:off x="4069079" y="2903220"/>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微软雅黑"/>
                <a:ea typeface="微软雅黑"/>
              </a:rPr>
              <a:t>DDL、约束与四个守卫触发器</a:t>
            </a:r>
          </a:p>
        </p:txBody>
      </p:sp>
      <p:sp>
        <p:nvSpPr>
          <p:cNvPr id="21" name="TextBox 20"/>
          <p:cNvSpPr txBox="1"/>
          <p:nvPr/>
        </p:nvSpPr>
        <p:spPr>
          <a:xfrm>
            <a:off x="9143999" y="2903220"/>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5</a:t>
            </a:r>
          </a:p>
        </p:txBody>
      </p:sp>
      <p:sp>
        <p:nvSpPr>
          <p:cNvPr id="22" name="TextBox 21"/>
          <p:cNvSpPr txBox="1"/>
          <p:nvPr/>
        </p:nvSpPr>
        <p:spPr>
          <a:xfrm>
            <a:off x="10286999" y="2903220"/>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13</a:t>
            </a:r>
          </a:p>
        </p:txBody>
      </p:sp>
      <p:sp>
        <p:nvSpPr>
          <p:cNvPr id="23" name="TextBox 22"/>
          <p:cNvSpPr txBox="1"/>
          <p:nvPr/>
        </p:nvSpPr>
        <p:spPr>
          <a:xfrm>
            <a:off x="777240" y="3268979"/>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Zhao Han HUANG</a:t>
            </a:r>
          </a:p>
        </p:txBody>
      </p:sp>
      <p:sp>
        <p:nvSpPr>
          <p:cNvPr id="24" name="TextBox 23"/>
          <p:cNvSpPr txBox="1"/>
          <p:nvPr/>
        </p:nvSpPr>
        <p:spPr>
          <a:xfrm>
            <a:off x="2651760" y="3268979"/>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1155272384</a:t>
            </a:r>
          </a:p>
        </p:txBody>
      </p:sp>
      <p:sp>
        <p:nvSpPr>
          <p:cNvPr id="25" name="TextBox 24"/>
          <p:cNvSpPr txBox="1"/>
          <p:nvPr/>
        </p:nvSpPr>
        <p:spPr>
          <a:xfrm>
            <a:off x="4069079" y="3268979"/>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微软雅黑"/>
                <a:ea typeface="微软雅黑"/>
              </a:rPr>
              <a:t>确定性造数器与 22 项跨表不变量</a:t>
            </a:r>
          </a:p>
        </p:txBody>
      </p:sp>
      <p:sp>
        <p:nvSpPr>
          <p:cNvPr id="26" name="TextBox 25"/>
          <p:cNvSpPr txBox="1"/>
          <p:nvPr/>
        </p:nvSpPr>
        <p:spPr>
          <a:xfrm>
            <a:off x="9143999" y="3268979"/>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5</a:t>
            </a:r>
          </a:p>
        </p:txBody>
      </p:sp>
      <p:sp>
        <p:nvSpPr>
          <p:cNvPr id="27" name="TextBox 26"/>
          <p:cNvSpPr txBox="1"/>
          <p:nvPr/>
        </p:nvSpPr>
        <p:spPr>
          <a:xfrm>
            <a:off x="10286999" y="3268979"/>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13</a:t>
            </a:r>
          </a:p>
        </p:txBody>
      </p:sp>
      <p:sp>
        <p:nvSpPr>
          <p:cNvPr id="28" name="Rectangle 27"/>
          <p:cNvSpPr/>
          <p:nvPr/>
        </p:nvSpPr>
        <p:spPr>
          <a:xfrm>
            <a:off x="685800" y="3566159"/>
            <a:ext cx="10378440" cy="365760"/>
          </a:xfrm>
          <a:prstGeom prst="rect">
            <a:avLst/>
          </a:prstGeom>
          <a:solidFill>
            <a:srgbClr val="F3F7FA"/>
          </a:solidFill>
          <a:ln>
            <a:noFill/>
          </a:ln>
          <a:effectLst/>
        </p:spPr>
        <p:txBody>
          <a:bodyPr rtlCol="0" anchor="ctr" wrap="square" lIns="0" rIns="0" tIns="0" bIns="0"/>
          <a:lstStyle/>
          <a:p>
            <a:pPr algn="ctr"/>
          </a:p>
        </p:txBody>
      </p:sp>
      <p:sp>
        <p:nvSpPr>
          <p:cNvPr id="29" name="TextBox 28"/>
          <p:cNvSpPr txBox="1"/>
          <p:nvPr/>
        </p:nvSpPr>
        <p:spPr>
          <a:xfrm>
            <a:off x="777240" y="3634739"/>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Jinyu LI</a:t>
            </a:r>
          </a:p>
        </p:txBody>
      </p:sp>
      <p:sp>
        <p:nvSpPr>
          <p:cNvPr id="30" name="TextBox 29"/>
          <p:cNvSpPr txBox="1"/>
          <p:nvPr/>
        </p:nvSpPr>
        <p:spPr>
          <a:xfrm>
            <a:off x="2651760" y="3634739"/>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1155261567</a:t>
            </a:r>
          </a:p>
        </p:txBody>
      </p:sp>
      <p:sp>
        <p:nvSpPr>
          <p:cNvPr id="31" name="TextBox 30"/>
          <p:cNvSpPr txBox="1"/>
          <p:nvPr/>
        </p:nvSpPr>
        <p:spPr>
          <a:xfrm>
            <a:off x="4069079" y="3634739"/>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微软雅黑"/>
                <a:ea typeface="微软雅黑"/>
              </a:rPr>
              <a:t>业务查询 Q07–Q13 与结果留存脚本</a:t>
            </a:r>
          </a:p>
        </p:txBody>
      </p:sp>
      <p:sp>
        <p:nvSpPr>
          <p:cNvPr id="32" name="TextBox 31"/>
          <p:cNvSpPr txBox="1"/>
          <p:nvPr/>
        </p:nvSpPr>
        <p:spPr>
          <a:xfrm>
            <a:off x="9143999" y="3634739"/>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4</a:t>
            </a:r>
          </a:p>
        </p:txBody>
      </p:sp>
      <p:sp>
        <p:nvSpPr>
          <p:cNvPr id="33" name="TextBox 32"/>
          <p:cNvSpPr txBox="1"/>
          <p:nvPr/>
        </p:nvSpPr>
        <p:spPr>
          <a:xfrm>
            <a:off x="10286999" y="3634739"/>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11</a:t>
            </a:r>
          </a:p>
        </p:txBody>
      </p:sp>
      <p:sp>
        <p:nvSpPr>
          <p:cNvPr id="34" name="TextBox 33"/>
          <p:cNvSpPr txBox="1"/>
          <p:nvPr/>
        </p:nvSpPr>
        <p:spPr>
          <a:xfrm>
            <a:off x="777240" y="4000500"/>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Yitong NI</a:t>
            </a:r>
          </a:p>
        </p:txBody>
      </p:sp>
      <p:sp>
        <p:nvSpPr>
          <p:cNvPr id="35" name="TextBox 34"/>
          <p:cNvSpPr txBox="1"/>
          <p:nvPr/>
        </p:nvSpPr>
        <p:spPr>
          <a:xfrm>
            <a:off x="2651760" y="4000500"/>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1155265810</a:t>
            </a:r>
          </a:p>
        </p:txBody>
      </p:sp>
      <p:sp>
        <p:nvSpPr>
          <p:cNvPr id="36" name="TextBox 35"/>
          <p:cNvSpPr txBox="1"/>
          <p:nvPr/>
        </p:nvSpPr>
        <p:spPr>
          <a:xfrm>
            <a:off x="4069079" y="4000500"/>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微软雅黑"/>
                <a:ea typeface="微软雅黑"/>
              </a:rPr>
              <a:t>进阶查询 Q14–Q18：CTE、窗口函数、两跳递归</a:t>
            </a:r>
          </a:p>
        </p:txBody>
      </p:sp>
      <p:sp>
        <p:nvSpPr>
          <p:cNvPr id="37" name="TextBox 36"/>
          <p:cNvSpPr txBox="1"/>
          <p:nvPr/>
        </p:nvSpPr>
        <p:spPr>
          <a:xfrm>
            <a:off x="9143999" y="4000500"/>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5</a:t>
            </a:r>
          </a:p>
        </p:txBody>
      </p:sp>
      <p:sp>
        <p:nvSpPr>
          <p:cNvPr id="38" name="TextBox 37"/>
          <p:cNvSpPr txBox="1"/>
          <p:nvPr/>
        </p:nvSpPr>
        <p:spPr>
          <a:xfrm>
            <a:off x="10286999" y="4000500"/>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12</a:t>
            </a:r>
          </a:p>
        </p:txBody>
      </p:sp>
      <p:sp>
        <p:nvSpPr>
          <p:cNvPr id="39" name="Rectangle 38"/>
          <p:cNvSpPr/>
          <p:nvPr/>
        </p:nvSpPr>
        <p:spPr>
          <a:xfrm>
            <a:off x="685800" y="4297680"/>
            <a:ext cx="10378440" cy="365760"/>
          </a:xfrm>
          <a:prstGeom prst="rect">
            <a:avLst/>
          </a:prstGeom>
          <a:solidFill>
            <a:srgbClr val="F3F7FA"/>
          </a:solidFill>
          <a:ln>
            <a:noFill/>
          </a:ln>
          <a:effectLst/>
        </p:spPr>
        <p:txBody>
          <a:bodyPr rtlCol="0" anchor="ctr" wrap="square" lIns="0" rIns="0" tIns="0" bIns="0"/>
          <a:lstStyle/>
          <a:p>
            <a:pPr algn="ctr"/>
          </a:p>
        </p:txBody>
      </p:sp>
      <p:sp>
        <p:nvSpPr>
          <p:cNvPr id="40" name="TextBox 39"/>
          <p:cNvSpPr txBox="1"/>
          <p:nvPr/>
        </p:nvSpPr>
        <p:spPr>
          <a:xfrm>
            <a:off x="777240" y="4366260"/>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Shujing YE</a:t>
            </a:r>
          </a:p>
        </p:txBody>
      </p:sp>
      <p:sp>
        <p:nvSpPr>
          <p:cNvPr id="41" name="TextBox 40"/>
          <p:cNvSpPr txBox="1"/>
          <p:nvPr/>
        </p:nvSpPr>
        <p:spPr>
          <a:xfrm>
            <a:off x="2651760" y="4366260"/>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1155261750</a:t>
            </a:r>
          </a:p>
        </p:txBody>
      </p:sp>
      <p:sp>
        <p:nvSpPr>
          <p:cNvPr id="42" name="TextBox 41"/>
          <p:cNvSpPr txBox="1"/>
          <p:nvPr/>
        </p:nvSpPr>
        <p:spPr>
          <a:xfrm>
            <a:off x="4069079" y="4366260"/>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微软雅黑"/>
                <a:ea typeface="微软雅黑"/>
              </a:rPr>
              <a:t>视图层（4 个视图）与规范化手册</a:t>
            </a:r>
          </a:p>
        </p:txBody>
      </p:sp>
      <p:sp>
        <p:nvSpPr>
          <p:cNvPr id="43" name="TextBox 42"/>
          <p:cNvSpPr txBox="1"/>
          <p:nvPr/>
        </p:nvSpPr>
        <p:spPr>
          <a:xfrm>
            <a:off x="9143999" y="4366260"/>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4</a:t>
            </a:r>
          </a:p>
        </p:txBody>
      </p:sp>
      <p:sp>
        <p:nvSpPr>
          <p:cNvPr id="44" name="TextBox 43"/>
          <p:cNvSpPr txBox="1"/>
          <p:nvPr/>
        </p:nvSpPr>
        <p:spPr>
          <a:xfrm>
            <a:off x="10286999" y="4366260"/>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10</a:t>
            </a:r>
          </a:p>
        </p:txBody>
      </p:sp>
      <p:sp>
        <p:nvSpPr>
          <p:cNvPr id="45" name="TextBox 44"/>
          <p:cNvSpPr txBox="1"/>
          <p:nvPr/>
        </p:nvSpPr>
        <p:spPr>
          <a:xfrm>
            <a:off x="777240" y="4732020"/>
            <a:ext cx="17282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Shiyao ZHANG</a:t>
            </a:r>
          </a:p>
        </p:txBody>
      </p:sp>
      <p:sp>
        <p:nvSpPr>
          <p:cNvPr id="46" name="TextBox 45"/>
          <p:cNvSpPr txBox="1"/>
          <p:nvPr/>
        </p:nvSpPr>
        <p:spPr>
          <a:xfrm>
            <a:off x="2651760" y="4732020"/>
            <a:ext cx="12710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Segoe UI"/>
              </a:rPr>
              <a:t>1155261823</a:t>
            </a:r>
          </a:p>
        </p:txBody>
      </p:sp>
      <p:sp>
        <p:nvSpPr>
          <p:cNvPr id="47" name="TextBox 46"/>
          <p:cNvSpPr txBox="1"/>
          <p:nvPr/>
        </p:nvSpPr>
        <p:spPr>
          <a:xfrm>
            <a:off x="4069079" y="4732020"/>
            <a:ext cx="4928616" cy="292608"/>
          </a:xfrm>
          <a:prstGeom prst="rect">
            <a:avLst/>
          </a:prstGeom>
          <a:noFill/>
        </p:spPr>
        <p:txBody>
          <a:bodyPr wrap="square" lIns="0" rIns="0" tIns="0" bIns="0" anchor="t">
            <a:spAutoFit/>
          </a:bodyPr>
          <a:lstStyle/>
          <a:p>
            <a:pPr algn="l">
              <a:lnSpc>
                <a:spcPct val="100000"/>
              </a:lnSpc>
              <a:spcBef>
                <a:spcPts val="0"/>
              </a:spcBef>
              <a:spcAft>
                <a:spcPts val="0"/>
              </a:spcAft>
            </a:pPr>
            <a:r>
              <a:rPr sz="919" b="0">
                <a:solidFill>
                  <a:srgbClr val="5A6B7B"/>
                </a:solidFill>
                <a:latin typeface="微软雅黑"/>
                <a:ea typeface="微软雅黑"/>
              </a:rPr>
              <a:t>验收：12 项检查、故障注入套件、一致性审计</a:t>
            </a:r>
          </a:p>
        </p:txBody>
      </p:sp>
      <p:sp>
        <p:nvSpPr>
          <p:cNvPr id="48" name="TextBox 47"/>
          <p:cNvSpPr txBox="1"/>
          <p:nvPr/>
        </p:nvSpPr>
        <p:spPr>
          <a:xfrm>
            <a:off x="9143999" y="4732020"/>
            <a:ext cx="996696" cy="292608"/>
          </a:xfrm>
          <a:prstGeom prst="rect">
            <a:avLst/>
          </a:prstGeom>
          <a:noFill/>
        </p:spPr>
        <p:txBody>
          <a:bodyPr wrap="square" lIns="0" rIns="0" tIns="0" bIns="0" anchor="t">
            <a:spAutoFit/>
          </a:bodyPr>
          <a:lstStyle/>
          <a:p>
            <a:pPr algn="ctr">
              <a:lnSpc>
                <a:spcPct val="100000"/>
              </a:lnSpc>
              <a:spcBef>
                <a:spcPts val="0"/>
              </a:spcBef>
              <a:spcAft>
                <a:spcPts val="0"/>
              </a:spcAft>
            </a:pPr>
            <a:r>
              <a:rPr sz="919" b="0">
                <a:solidFill>
                  <a:srgbClr val="5A6B7B"/>
                </a:solidFill>
                <a:latin typeface="Segoe UI"/>
              </a:rPr>
              <a:t>4</a:t>
            </a:r>
          </a:p>
        </p:txBody>
      </p:sp>
      <p:sp>
        <p:nvSpPr>
          <p:cNvPr id="49" name="TextBox 48"/>
          <p:cNvSpPr txBox="1"/>
          <p:nvPr/>
        </p:nvSpPr>
        <p:spPr>
          <a:xfrm>
            <a:off x="10286999" y="4732020"/>
            <a:ext cx="722375" cy="292608"/>
          </a:xfrm>
          <a:prstGeom prst="rect">
            <a:avLst/>
          </a:prstGeom>
          <a:noFill/>
        </p:spPr>
        <p:txBody>
          <a:bodyPr wrap="square" lIns="0" rIns="0" tIns="0" bIns="0" anchor="t">
            <a:spAutoFit/>
          </a:bodyPr>
          <a:lstStyle/>
          <a:p>
            <a:pPr algn="r">
              <a:lnSpc>
                <a:spcPct val="100000"/>
              </a:lnSpc>
              <a:spcBef>
                <a:spcPts val="0"/>
              </a:spcBef>
              <a:spcAft>
                <a:spcPts val="0"/>
              </a:spcAft>
            </a:pPr>
            <a:r>
              <a:rPr sz="919" b="0">
                <a:solidFill>
                  <a:srgbClr val="5A6B7B"/>
                </a:solidFill>
                <a:latin typeface="Segoe UI"/>
              </a:rPr>
              <a:t>9</a:t>
            </a:r>
          </a:p>
        </p:txBody>
      </p:sp>
      <p:sp>
        <p:nvSpPr>
          <p:cNvPr id="50" name="TextBox 49"/>
          <p:cNvSpPr txBox="1"/>
          <p:nvPr/>
        </p:nvSpPr>
        <p:spPr>
          <a:xfrm>
            <a:off x="685800" y="5340096"/>
            <a:ext cx="10424160" cy="219456"/>
          </a:xfrm>
          <a:prstGeom prst="rect">
            <a:avLst/>
          </a:prstGeom>
          <a:noFill/>
        </p:spPr>
        <p:txBody>
          <a:bodyPr wrap="square" lIns="0" rIns="0" tIns="0" bIns="0" anchor="t">
            <a:spAutoFit/>
          </a:bodyPr>
          <a:lstStyle/>
          <a:p>
            <a:pPr algn="l">
              <a:lnSpc>
                <a:spcPct val="100000"/>
              </a:lnSpc>
              <a:spcBef>
                <a:spcPts val="0"/>
              </a:spcBef>
              <a:spcAft>
                <a:spcPts val="0"/>
              </a:spcAft>
            </a:pPr>
            <a:r>
              <a:rPr sz="819" b="0">
                <a:solidFill>
                  <a:srgbClr val="5A6B7B"/>
                </a:solidFill>
                <a:latin typeface="微软雅黑"/>
                <a:ea typeface="微软雅黑"/>
              </a:rPr>
              <a:t>合计 81 人时 · 人均 11.6 小时 · 没有低于难度 4 的任务 · 每位成员都评审过至少一份不是自己写的产物。</a:t>
            </a:r>
          </a:p>
        </p:txBody>
      </p:sp>
      <p:sp>
        <p:nvSpPr>
          <p:cNvPr id="51" name="Rounded Rectangle 50"/>
          <p:cNvSpPr/>
          <p:nvPr/>
        </p:nvSpPr>
        <p:spPr>
          <a:xfrm>
            <a:off x="685800" y="5632704"/>
            <a:ext cx="23317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52" name="TextBox 51"/>
          <p:cNvSpPr txBox="1"/>
          <p:nvPr/>
        </p:nvSpPr>
        <p:spPr>
          <a:xfrm>
            <a:off x="886968" y="5705856"/>
            <a:ext cx="20574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微软雅黑"/>
                <a:ea typeface="微软雅黑"/>
              </a:rPr>
              <a:t>81 小时</a:t>
            </a:r>
          </a:p>
        </p:txBody>
      </p:sp>
      <p:sp>
        <p:nvSpPr>
          <p:cNvPr id="53" name="TextBox 52"/>
          <p:cNvSpPr txBox="1"/>
          <p:nvPr/>
        </p:nvSpPr>
        <p:spPr>
          <a:xfrm>
            <a:off x="886968" y="6035040"/>
            <a:ext cx="20574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总 工 时</a:t>
            </a:r>
          </a:p>
        </p:txBody>
      </p:sp>
      <p:sp>
        <p:nvSpPr>
          <p:cNvPr id="54" name="Rounded Rectangle 53"/>
          <p:cNvSpPr/>
          <p:nvPr/>
        </p:nvSpPr>
        <p:spPr>
          <a:xfrm>
            <a:off x="3163824" y="5632704"/>
            <a:ext cx="23317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55" name="TextBox 54"/>
          <p:cNvSpPr txBox="1"/>
          <p:nvPr/>
        </p:nvSpPr>
        <p:spPr>
          <a:xfrm>
            <a:off x="3364992" y="5705856"/>
            <a:ext cx="20574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7</a:t>
            </a:r>
          </a:p>
        </p:txBody>
      </p:sp>
      <p:sp>
        <p:nvSpPr>
          <p:cNvPr id="56" name="TextBox 55"/>
          <p:cNvSpPr txBox="1"/>
          <p:nvPr/>
        </p:nvSpPr>
        <p:spPr>
          <a:xfrm>
            <a:off x="3364992" y="6035040"/>
            <a:ext cx="20574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成 员 数</a:t>
            </a:r>
          </a:p>
        </p:txBody>
      </p:sp>
      <p:sp>
        <p:nvSpPr>
          <p:cNvPr id="57" name="Rounded Rectangle 56"/>
          <p:cNvSpPr/>
          <p:nvPr/>
        </p:nvSpPr>
        <p:spPr>
          <a:xfrm>
            <a:off x="5641848" y="5632704"/>
            <a:ext cx="251460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58" name="TextBox 57"/>
          <p:cNvSpPr txBox="1"/>
          <p:nvPr/>
        </p:nvSpPr>
        <p:spPr>
          <a:xfrm>
            <a:off x="5843016" y="5705856"/>
            <a:ext cx="224028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4</a:t>
            </a:r>
          </a:p>
        </p:txBody>
      </p:sp>
      <p:sp>
        <p:nvSpPr>
          <p:cNvPr id="59" name="TextBox 58"/>
          <p:cNvSpPr txBox="1"/>
          <p:nvPr/>
        </p:nvSpPr>
        <p:spPr>
          <a:xfrm>
            <a:off x="5843016" y="6035040"/>
            <a:ext cx="224028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依 赖 层 数</a:t>
            </a:r>
          </a:p>
        </p:txBody>
      </p:sp>
      <p:sp>
        <p:nvSpPr>
          <p:cNvPr id="60" name="Rounded Rectangle 59"/>
          <p:cNvSpPr/>
          <p:nvPr/>
        </p:nvSpPr>
        <p:spPr>
          <a:xfrm>
            <a:off x="8211312" y="5632704"/>
            <a:ext cx="3246120" cy="676656"/>
          </a:xfrm>
          <a:prstGeom prst="roundRect">
            <a:avLst>
              <a:gd name="adj" fmla="val 8000"/>
            </a:avLst>
          </a:prstGeom>
          <a:solidFill>
            <a:srgbClr val="F3F7FA"/>
          </a:solidFill>
          <a:ln>
            <a:noFill/>
          </a:ln>
          <a:effectLst/>
        </p:spPr>
        <p:txBody>
          <a:bodyPr rtlCol="0" anchor="ctr" wrap="square" lIns="0" rIns="0" tIns="0" bIns="0"/>
          <a:lstStyle/>
          <a:p>
            <a:pPr algn="ctr"/>
          </a:p>
        </p:txBody>
      </p:sp>
      <p:sp>
        <p:nvSpPr>
          <p:cNvPr id="61" name="TextBox 60"/>
          <p:cNvSpPr txBox="1"/>
          <p:nvPr/>
        </p:nvSpPr>
        <p:spPr>
          <a:xfrm>
            <a:off x="8412480" y="5705856"/>
            <a:ext cx="297180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1">
                <a:solidFill>
                  <a:srgbClr val="0A66C2"/>
                </a:solidFill>
                <a:latin typeface="Segoe UI"/>
              </a:rPr>
              <a:t>0</a:t>
            </a:r>
          </a:p>
        </p:txBody>
      </p:sp>
      <p:sp>
        <p:nvSpPr>
          <p:cNvPr id="62" name="TextBox 61"/>
          <p:cNvSpPr txBox="1"/>
          <p:nvPr/>
        </p:nvSpPr>
        <p:spPr>
          <a:xfrm>
            <a:off x="8412480" y="6035040"/>
            <a:ext cx="2971800" cy="201168"/>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无 主 产 物</a:t>
            </a:r>
          </a:p>
        </p:txBody>
      </p:sp>
      <p:sp>
        <p:nvSpPr>
          <p:cNvPr id="63" name="Rectangle 62"/>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64" name="TextBox 63"/>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65" name="TextBox 64"/>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8229600" cy="274320"/>
          </a:xfrm>
          <a:prstGeom prst="rect">
            <a:avLst/>
          </a:prstGeom>
          <a:noFill/>
        </p:spPr>
        <p:txBody>
          <a:bodyPr wrap="square" lIns="0" rIns="0" tIns="0" bIns="0" anchor="t">
            <a:spAutoFit/>
          </a:bodyPr>
          <a:lstStyle/>
          <a:p>
            <a:pPr algn="l">
              <a:lnSpc>
                <a:spcPct val="100000"/>
              </a:lnSpc>
              <a:spcBef>
                <a:spcPts val="0"/>
              </a:spcBef>
              <a:spcAft>
                <a:spcPts val="0"/>
              </a:spcAft>
            </a:pPr>
            <a:r>
              <a:rPr sz="950" b="1">
                <a:solidFill>
                  <a:srgbClr val="0A66C2"/>
                </a:solidFill>
                <a:latin typeface="微软雅黑"/>
                <a:ea typeface="微软雅黑"/>
              </a:rPr>
              <a:t>14  ·  问 答</a:t>
            </a:r>
          </a:p>
        </p:txBody>
      </p:sp>
      <p:sp>
        <p:nvSpPr>
          <p:cNvPr id="3" name="TextBox 2"/>
          <p:cNvSpPr txBox="1"/>
          <p:nvPr/>
        </p:nvSpPr>
        <p:spPr>
          <a:xfrm>
            <a:off x="685800" y="621792"/>
            <a:ext cx="10607040" cy="731520"/>
          </a:xfrm>
          <a:prstGeom prst="rect">
            <a:avLst/>
          </a:prstGeom>
          <a:noFill/>
        </p:spPr>
        <p:txBody>
          <a:bodyPr wrap="square" lIns="0" rIns="0" tIns="0" bIns="0" anchor="t">
            <a:spAutoFit/>
          </a:bodyPr>
          <a:lstStyle/>
          <a:p>
            <a:pPr algn="l">
              <a:lnSpc>
                <a:spcPct val="100000"/>
              </a:lnSpc>
              <a:spcBef>
                <a:spcPts val="0"/>
              </a:spcBef>
              <a:spcAft>
                <a:spcPts val="0"/>
              </a:spcAft>
            </a:pPr>
            <a:r>
              <a:rPr sz="2800" b="1">
                <a:solidFill>
                  <a:srgbClr val="0E2A47"/>
                </a:solidFill>
                <a:latin typeface="微软雅黑"/>
                <a:ea typeface="微软雅黑"/>
              </a:rPr>
              <a:t>备用：概念模型</a:t>
            </a:r>
          </a:p>
        </p:txBody>
      </p:sp>
      <p:sp>
        <p:nvSpPr>
          <p:cNvPr id="4" name="TextBox 3"/>
          <p:cNvSpPr txBox="1"/>
          <p:nvPr/>
        </p:nvSpPr>
        <p:spPr>
          <a:xfrm>
            <a:off x="685800" y="1371600"/>
            <a:ext cx="10241280" cy="310896"/>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5A6B7B"/>
                </a:solidFill>
                <a:latin typeface="微软雅黑"/>
                <a:ea typeface="微软雅黑"/>
              </a:rPr>
              <a:t>Chen 记法——实体画框、联系画菱形、1 / N 基数。</a:t>
            </a:r>
          </a:p>
        </p:txBody>
      </p:sp>
      <p:sp>
        <p:nvSpPr>
          <p:cNvPr id="5" name="Rectangle 4"/>
          <p:cNvSpPr/>
          <p:nvPr/>
        </p:nvSpPr>
        <p:spPr>
          <a:xfrm>
            <a:off x="685800" y="1828800"/>
            <a:ext cx="10817352" cy="10972"/>
          </a:xfrm>
          <a:prstGeom prst="rect">
            <a:avLst/>
          </a:prstGeom>
          <a:solidFill>
            <a:srgbClr val="D8E0E8"/>
          </a:solidFill>
          <a:ln>
            <a:noFill/>
          </a:ln>
          <a:effectLst/>
        </p:spPr>
        <p:txBody>
          <a:bodyPr rtlCol="0" anchor="ctr" wrap="square" lIns="0" rIns="0" tIns="0" bIns="0"/>
          <a:lstStyle/>
          <a:p>
            <a:pPr algn="ctr"/>
          </a:p>
        </p:txBody>
      </p:sp>
      <p:pic>
        <p:nvPicPr>
          <p:cNvPr id="6" name="Picture 5" descr="ERD_conceptual.png"/>
          <p:cNvPicPr>
            <a:picLocks noChangeAspect="1"/>
          </p:cNvPicPr>
          <p:nvPr/>
        </p:nvPicPr>
        <p:blipFill>
          <a:blip r:embed="rId2"/>
          <a:stretch>
            <a:fillRect/>
          </a:stretch>
        </p:blipFill>
        <p:spPr>
          <a:xfrm>
            <a:off x="685800" y="1938528"/>
            <a:ext cx="5715000" cy="3810000"/>
          </a:xfrm>
          <a:prstGeom prst="rect">
            <a:avLst/>
          </a:prstGeom>
        </p:spPr>
      </p:pic>
      <p:sp>
        <p:nvSpPr>
          <p:cNvPr id="7" name="TextBox 6"/>
          <p:cNvSpPr txBox="1"/>
          <p:nvPr/>
        </p:nvSpPr>
        <p:spPr>
          <a:xfrm>
            <a:off x="685800" y="5870448"/>
            <a:ext cx="5715000" cy="182880"/>
          </a:xfrm>
          <a:prstGeom prst="rect">
            <a:avLst/>
          </a:prstGeom>
          <a:noFill/>
        </p:spPr>
        <p:txBody>
          <a:bodyPr wrap="square" lIns="0" rIns="0" tIns="0" bIns="0" anchor="t">
            <a:spAutoFit/>
          </a:bodyPr>
          <a:lstStyle/>
          <a:p>
            <a:pPr algn="l">
              <a:lnSpc>
                <a:spcPct val="100000"/>
              </a:lnSpc>
              <a:spcBef>
                <a:spcPts val="0"/>
              </a:spcBef>
              <a:spcAft>
                <a:spcPts val="0"/>
              </a:spcAft>
            </a:pPr>
            <a:r>
              <a:rPr sz="750" b="0">
                <a:solidFill>
                  <a:srgbClr val="8A99A6"/>
                </a:solidFill>
                <a:latin typeface="微软雅黑"/>
                <a:ea typeface="微软雅黑"/>
              </a:rPr>
              <a:t>ERD_conceptual —— 原图见 erd/</a:t>
            </a:r>
          </a:p>
        </p:txBody>
      </p:sp>
      <p:sp>
        <p:nvSpPr>
          <p:cNvPr id="8" name="TextBox 7"/>
          <p:cNvSpPr txBox="1"/>
          <p:nvPr/>
        </p:nvSpPr>
        <p:spPr>
          <a:xfrm>
            <a:off x="6903720" y="1975104"/>
            <a:ext cx="4617720" cy="219456"/>
          </a:xfrm>
          <a:prstGeom prst="rect">
            <a:avLst/>
          </a:prstGeom>
          <a:noFill/>
        </p:spPr>
        <p:txBody>
          <a:bodyPr wrap="square" lIns="0" rIns="0" tIns="0" bIns="0" anchor="t">
            <a:spAutoFit/>
          </a:bodyPr>
          <a:lstStyle/>
          <a:p>
            <a:pPr algn="l">
              <a:lnSpc>
                <a:spcPct val="100000"/>
              </a:lnSpc>
              <a:spcBef>
                <a:spcPts val="0"/>
              </a:spcBef>
              <a:spcAft>
                <a:spcPts val="0"/>
              </a:spcAft>
            </a:pPr>
            <a:r>
              <a:rPr sz="940" b="1">
                <a:solidFill>
                  <a:srgbClr val="0E2A47"/>
                </a:solidFill>
                <a:latin typeface="微软雅黑"/>
                <a:ea typeface="微软雅黑"/>
              </a:rPr>
              <a:t>为什么是十二张表？</a:t>
            </a:r>
          </a:p>
        </p:txBody>
      </p:sp>
      <p:sp>
        <p:nvSpPr>
          <p:cNvPr id="9" name="TextBox 8"/>
          <p:cNvSpPr txBox="1"/>
          <p:nvPr/>
        </p:nvSpPr>
        <p:spPr>
          <a:xfrm>
            <a:off x="6903720" y="2194560"/>
            <a:ext cx="4617720" cy="640080"/>
          </a:xfrm>
          <a:prstGeom prst="rect">
            <a:avLst/>
          </a:prstGeom>
          <a:noFill/>
        </p:spPr>
        <p:txBody>
          <a:bodyPr wrap="square" lIns="0" rIns="0" tIns="0" bIns="0" anchor="t">
            <a:spAutoFit/>
          </a:bodyPr>
          <a:lstStyle/>
          <a:p>
            <a:pPr algn="l">
              <a:lnSpc>
                <a:spcPct val="114000"/>
              </a:lnSpc>
              <a:spcBef>
                <a:spcPts val="0"/>
              </a:spcBef>
              <a:spcAft>
                <a:spcPts val="0"/>
              </a:spcAft>
            </a:pPr>
            <a:r>
              <a:rPr sz="819" b="0">
                <a:solidFill>
                  <a:srgbClr val="5A6B7B"/>
                </a:solidFill>
                <a:latin typeface="微软雅黑"/>
                <a:ea typeface="微软雅黑"/>
              </a:rPr>
              <a:t>每个实体集一张，技能再加两张关联表。</a:t>
            </a:r>
          </a:p>
          <a:p>
            <a:pPr algn="l">
              <a:lnSpc>
                <a:spcPct val="114000"/>
              </a:lnSpc>
              <a:spcBef>
                <a:spcPts val="0"/>
              </a:spcBef>
              <a:spcAft>
                <a:spcPts val="0"/>
              </a:spcAft>
            </a:pPr>
            <a:r>
              <a:rPr sz="819" b="0">
                <a:solidFill>
                  <a:srgbClr val="5A6B7B"/>
                </a:solidFill>
                <a:latin typeface="微软雅黑"/>
                <a:ea typeface="微软雅黑"/>
              </a:rPr>
              <a:t>映射严格按 §6.7，没有为了省事合并任何表。</a:t>
            </a:r>
          </a:p>
        </p:txBody>
      </p:sp>
      <p:sp>
        <p:nvSpPr>
          <p:cNvPr id="10" name="TextBox 9"/>
          <p:cNvSpPr txBox="1"/>
          <p:nvPr/>
        </p:nvSpPr>
        <p:spPr>
          <a:xfrm>
            <a:off x="6903720" y="2834640"/>
            <a:ext cx="4617720" cy="219456"/>
          </a:xfrm>
          <a:prstGeom prst="rect">
            <a:avLst/>
          </a:prstGeom>
          <a:noFill/>
        </p:spPr>
        <p:txBody>
          <a:bodyPr wrap="square" lIns="0" rIns="0" tIns="0" bIns="0" anchor="t">
            <a:spAutoFit/>
          </a:bodyPr>
          <a:lstStyle/>
          <a:p>
            <a:pPr algn="l">
              <a:lnSpc>
                <a:spcPct val="100000"/>
              </a:lnSpc>
              <a:spcBef>
                <a:spcPts val="0"/>
              </a:spcBef>
              <a:spcAft>
                <a:spcPts val="0"/>
              </a:spcAft>
            </a:pPr>
            <a:r>
              <a:rPr sz="940" b="1">
                <a:solidFill>
                  <a:srgbClr val="0E2A47"/>
                </a:solidFill>
                <a:latin typeface="微软雅黑"/>
                <a:ea typeface="微软雅黑"/>
              </a:rPr>
              <a:t>为什么没有“当前雇主”列？</a:t>
            </a:r>
          </a:p>
        </p:txBody>
      </p:sp>
      <p:sp>
        <p:nvSpPr>
          <p:cNvPr id="11" name="TextBox 10"/>
          <p:cNvSpPr txBox="1"/>
          <p:nvPr/>
        </p:nvSpPr>
        <p:spPr>
          <a:xfrm>
            <a:off x="6903720" y="3054096"/>
            <a:ext cx="4617720" cy="640080"/>
          </a:xfrm>
          <a:prstGeom prst="rect">
            <a:avLst/>
          </a:prstGeom>
          <a:noFill/>
        </p:spPr>
        <p:txBody>
          <a:bodyPr wrap="square" lIns="0" rIns="0" tIns="0" bIns="0" anchor="t">
            <a:spAutoFit/>
          </a:bodyPr>
          <a:lstStyle/>
          <a:p>
            <a:pPr algn="l">
              <a:lnSpc>
                <a:spcPct val="114000"/>
              </a:lnSpc>
              <a:spcBef>
                <a:spcPts val="0"/>
              </a:spcBef>
              <a:spcAft>
                <a:spcPts val="0"/>
              </a:spcAft>
            </a:pPr>
            <a:r>
              <a:rPr sz="819" b="0">
                <a:solidFill>
                  <a:srgbClr val="5A6B7B"/>
                </a:solidFill>
                <a:latin typeface="微软雅黑"/>
                <a:ea typeface="微软雅黑"/>
              </a:rPr>
              <a:t>它由 experience.is_current 函数决定；</a:t>
            </a:r>
          </a:p>
          <a:p>
            <a:pPr algn="l">
              <a:lnSpc>
                <a:spcPct val="114000"/>
              </a:lnSpc>
              <a:spcBef>
                <a:spcPts val="0"/>
              </a:spcBef>
              <a:spcAft>
                <a:spcPts val="0"/>
              </a:spcAft>
            </a:pPr>
            <a:r>
              <a:rPr sz="819" b="0">
                <a:solidFill>
                  <a:srgbClr val="5A6B7B"/>
                </a:solidFill>
                <a:latin typeface="微软雅黑"/>
                <a:ea typeface="微软雅黑"/>
              </a:rPr>
              <a:t>两者都存，就是等着发生的更新异常。</a:t>
            </a:r>
          </a:p>
        </p:txBody>
      </p:sp>
      <p:sp>
        <p:nvSpPr>
          <p:cNvPr id="12" name="TextBox 11"/>
          <p:cNvSpPr txBox="1"/>
          <p:nvPr/>
        </p:nvSpPr>
        <p:spPr>
          <a:xfrm>
            <a:off x="6903720" y="3694176"/>
            <a:ext cx="4617720" cy="219456"/>
          </a:xfrm>
          <a:prstGeom prst="rect">
            <a:avLst/>
          </a:prstGeom>
          <a:noFill/>
        </p:spPr>
        <p:txBody>
          <a:bodyPr wrap="square" lIns="0" rIns="0" tIns="0" bIns="0" anchor="t">
            <a:spAutoFit/>
          </a:bodyPr>
          <a:lstStyle/>
          <a:p>
            <a:pPr algn="l">
              <a:lnSpc>
                <a:spcPct val="100000"/>
              </a:lnSpc>
              <a:spcBef>
                <a:spcPts val="0"/>
              </a:spcBef>
              <a:spcAft>
                <a:spcPts val="0"/>
              </a:spcAft>
            </a:pPr>
            <a:r>
              <a:rPr sz="940" b="1">
                <a:solidFill>
                  <a:srgbClr val="0E2A47"/>
                </a:solidFill>
                <a:latin typeface="微软雅黑"/>
                <a:ea typeface="微软雅黑"/>
              </a:rPr>
              <a:t>内推为什么不是一列？</a:t>
            </a:r>
          </a:p>
        </p:txBody>
      </p:sp>
      <p:sp>
        <p:nvSpPr>
          <p:cNvPr id="13" name="TextBox 12"/>
          <p:cNvSpPr txBox="1"/>
          <p:nvPr/>
        </p:nvSpPr>
        <p:spPr>
          <a:xfrm>
            <a:off x="6903720" y="3913632"/>
            <a:ext cx="4617720" cy="640080"/>
          </a:xfrm>
          <a:prstGeom prst="rect">
            <a:avLst/>
          </a:prstGeom>
          <a:noFill/>
        </p:spPr>
        <p:txBody>
          <a:bodyPr wrap="square" lIns="0" rIns="0" tIns="0" bIns="0" anchor="t">
            <a:spAutoFit/>
          </a:bodyPr>
          <a:lstStyle/>
          <a:p>
            <a:pPr algn="l">
              <a:lnSpc>
                <a:spcPct val="114000"/>
              </a:lnSpc>
              <a:spcBef>
                <a:spcPts val="0"/>
              </a:spcBef>
              <a:spcAft>
                <a:spcPts val="0"/>
              </a:spcAft>
            </a:pPr>
            <a:r>
              <a:rPr sz="819" b="0">
                <a:solidFill>
                  <a:srgbClr val="5A6B7B"/>
                </a:solidFill>
                <a:latin typeface="微软雅黑"/>
                <a:ea typeface="微软雅黑"/>
              </a:rPr>
              <a:t>它是 1:1 且可选的。做成可空列会</a:t>
            </a:r>
          </a:p>
          <a:p>
            <a:pPr algn="l">
              <a:lnSpc>
                <a:spcPct val="114000"/>
              </a:lnSpc>
              <a:spcBef>
                <a:spcPts val="0"/>
              </a:spcBef>
              <a:spcAft>
                <a:spcPts val="0"/>
              </a:spcAft>
            </a:pPr>
            <a:r>
              <a:rPr sz="819" b="0">
                <a:solidFill>
                  <a:srgbClr val="5A6B7B"/>
                </a:solidFill>
                <a:latin typeface="微软雅黑"/>
                <a:ea typeface="微软雅黑"/>
              </a:rPr>
              <a:t>多出一个候选键，并允许存在没有</a:t>
            </a:r>
          </a:p>
          <a:p>
            <a:pPr algn="l">
              <a:lnSpc>
                <a:spcPct val="114000"/>
              </a:lnSpc>
              <a:spcBef>
                <a:spcPts val="0"/>
              </a:spcBef>
              <a:spcAft>
                <a:spcPts val="0"/>
              </a:spcAft>
            </a:pPr>
            <a:r>
              <a:rPr sz="819" b="0">
                <a:solidFill>
                  <a:srgbClr val="5A6B7B"/>
                </a:solidFill>
                <a:latin typeface="微软雅黑"/>
                <a:ea typeface="微软雅黑"/>
              </a:rPr>
              <a:t>申请的内推。</a:t>
            </a:r>
          </a:p>
        </p:txBody>
      </p:sp>
      <p:sp>
        <p:nvSpPr>
          <p:cNvPr id="14" name="TextBox 13"/>
          <p:cNvSpPr txBox="1"/>
          <p:nvPr/>
        </p:nvSpPr>
        <p:spPr>
          <a:xfrm>
            <a:off x="6903720" y="4553712"/>
            <a:ext cx="4617720" cy="219456"/>
          </a:xfrm>
          <a:prstGeom prst="rect">
            <a:avLst/>
          </a:prstGeom>
          <a:noFill/>
        </p:spPr>
        <p:txBody>
          <a:bodyPr wrap="square" lIns="0" rIns="0" tIns="0" bIns="0" anchor="t">
            <a:spAutoFit/>
          </a:bodyPr>
          <a:lstStyle/>
          <a:p>
            <a:pPr algn="l">
              <a:lnSpc>
                <a:spcPct val="100000"/>
              </a:lnSpc>
              <a:spcBef>
                <a:spcPts val="0"/>
              </a:spcBef>
              <a:spcAft>
                <a:spcPts val="0"/>
              </a:spcAft>
            </a:pPr>
            <a:r>
              <a:rPr sz="940" b="1">
                <a:solidFill>
                  <a:srgbClr val="0E2A47"/>
                </a:solidFill>
                <a:latin typeface="微软雅黑"/>
                <a:ea typeface="微软雅黑"/>
              </a:rPr>
              <a:t>数据是真的吗？</a:t>
            </a:r>
          </a:p>
        </p:txBody>
      </p:sp>
      <p:sp>
        <p:nvSpPr>
          <p:cNvPr id="15" name="TextBox 14"/>
          <p:cNvSpPr txBox="1"/>
          <p:nvPr/>
        </p:nvSpPr>
        <p:spPr>
          <a:xfrm>
            <a:off x="6903720" y="4773168"/>
            <a:ext cx="4617720" cy="640080"/>
          </a:xfrm>
          <a:prstGeom prst="rect">
            <a:avLst/>
          </a:prstGeom>
          <a:noFill/>
        </p:spPr>
        <p:txBody>
          <a:bodyPr wrap="square" lIns="0" rIns="0" tIns="0" bIns="0" anchor="t">
            <a:spAutoFit/>
          </a:bodyPr>
          <a:lstStyle/>
          <a:p>
            <a:pPr algn="l">
              <a:lnSpc>
                <a:spcPct val="114000"/>
              </a:lnSpc>
              <a:spcBef>
                <a:spcPts val="0"/>
              </a:spcBef>
              <a:spcAft>
                <a:spcPts val="0"/>
              </a:spcAft>
            </a:pPr>
            <a:r>
              <a:rPr sz="819" b="0">
                <a:solidFill>
                  <a:srgbClr val="5A6B7B"/>
                </a:solidFill>
                <a:latin typeface="微软雅黑"/>
                <a:ea typeface="微软雅黑"/>
              </a:rPr>
              <a:t>不是。数据是合成的但自洽：22 项跨表校验全部通过，</a:t>
            </a:r>
          </a:p>
          <a:p>
            <a:pPr algn="l">
              <a:lnSpc>
                <a:spcPct val="114000"/>
              </a:lnSpc>
              <a:spcBef>
                <a:spcPts val="0"/>
              </a:spcBef>
              <a:spcAft>
                <a:spcPts val="0"/>
              </a:spcAft>
            </a:pPr>
            <a:r>
              <a:rPr sz="819" b="0">
                <a:solidFill>
                  <a:srgbClr val="5A6B7B"/>
                </a:solidFill>
                <a:latin typeface="微软雅黑"/>
                <a:ea typeface="微软雅黑"/>
              </a:rPr>
              <a:t>而且生成器是确定性的。</a:t>
            </a:r>
          </a:p>
        </p:txBody>
      </p:sp>
      <p:sp>
        <p:nvSpPr>
          <p:cNvPr id="16" name="TextBox 15"/>
          <p:cNvSpPr txBox="1"/>
          <p:nvPr/>
        </p:nvSpPr>
        <p:spPr>
          <a:xfrm>
            <a:off x="6903720" y="5413248"/>
            <a:ext cx="4617720" cy="219456"/>
          </a:xfrm>
          <a:prstGeom prst="rect">
            <a:avLst/>
          </a:prstGeom>
          <a:noFill/>
        </p:spPr>
        <p:txBody>
          <a:bodyPr wrap="square" lIns="0" rIns="0" tIns="0" bIns="0" anchor="t">
            <a:spAutoFit/>
          </a:bodyPr>
          <a:lstStyle/>
          <a:p>
            <a:pPr algn="l">
              <a:lnSpc>
                <a:spcPct val="100000"/>
              </a:lnSpc>
              <a:spcBef>
                <a:spcPts val="0"/>
              </a:spcBef>
              <a:spcAft>
                <a:spcPts val="0"/>
              </a:spcAft>
            </a:pPr>
            <a:r>
              <a:rPr sz="940" b="1">
                <a:solidFill>
                  <a:srgbClr val="0E2A47"/>
                </a:solidFill>
                <a:latin typeface="微软雅黑"/>
                <a:ea typeface="微软雅黑"/>
              </a:rPr>
              <a:t>推荐人离职了怎么办？</a:t>
            </a:r>
          </a:p>
        </p:txBody>
      </p:sp>
      <p:sp>
        <p:nvSpPr>
          <p:cNvPr id="17" name="TextBox 16"/>
          <p:cNvSpPr txBox="1"/>
          <p:nvPr/>
        </p:nvSpPr>
        <p:spPr>
          <a:xfrm>
            <a:off x="6903720" y="5632704"/>
            <a:ext cx="4617720" cy="640080"/>
          </a:xfrm>
          <a:prstGeom prst="rect">
            <a:avLst/>
          </a:prstGeom>
          <a:noFill/>
        </p:spPr>
        <p:txBody>
          <a:bodyPr wrap="square" lIns="0" rIns="0" tIns="0" bIns="0" anchor="t">
            <a:spAutoFit/>
          </a:bodyPr>
          <a:lstStyle/>
          <a:p>
            <a:pPr algn="l">
              <a:lnSpc>
                <a:spcPct val="114000"/>
              </a:lnSpc>
              <a:spcBef>
                <a:spcPts val="0"/>
              </a:spcBef>
              <a:spcAft>
                <a:spcPts val="0"/>
              </a:spcAft>
            </a:pPr>
            <a:r>
              <a:rPr sz="819" b="0">
                <a:solidFill>
                  <a:srgbClr val="5A6B7B"/>
                </a:solidFill>
                <a:latin typeface="微软雅黑"/>
                <a:ea typeface="微软雅黑"/>
              </a:rPr>
              <a:t>内推行保留推荐人；已付的奖金就是</a:t>
            </a:r>
          </a:p>
          <a:p>
            <a:pPr algn="l">
              <a:lnSpc>
                <a:spcPct val="114000"/>
              </a:lnSpc>
              <a:spcBef>
                <a:spcPts val="0"/>
              </a:spcBef>
              <a:spcAft>
                <a:spcPts val="0"/>
              </a:spcAft>
            </a:pPr>
            <a:r>
              <a:rPr sz="819" b="0">
                <a:solidFill>
                  <a:srgbClr val="5A6B7B"/>
                </a:solidFill>
                <a:latin typeface="微软雅黑"/>
                <a:ea typeface="微软雅黑"/>
              </a:rPr>
              <a:t>证据。资格在创建内推时就已校验。</a:t>
            </a:r>
          </a:p>
        </p:txBody>
      </p:sp>
      <p:sp>
        <p:nvSpPr>
          <p:cNvPr id="18" name="Rectangle 17"/>
          <p:cNvSpPr/>
          <p:nvPr/>
        </p:nvSpPr>
        <p:spPr>
          <a:xfrm>
            <a:off x="685800" y="6382512"/>
            <a:ext cx="10817352" cy="9144"/>
          </a:xfrm>
          <a:prstGeom prst="rect">
            <a:avLst/>
          </a:prstGeom>
          <a:solidFill>
            <a:srgbClr val="D8E0E8"/>
          </a:solidFill>
          <a:ln>
            <a:noFill/>
          </a:ln>
          <a:effectLst/>
        </p:spPr>
        <p:txBody>
          <a:bodyPr rtlCol="0" anchor="ctr" wrap="square" lIns="0" rIns="0" tIns="0" bIns="0"/>
          <a:lstStyle/>
          <a:p>
            <a:pPr algn="ctr"/>
          </a:p>
        </p:txBody>
      </p:sp>
      <p:sp>
        <p:nvSpPr>
          <p:cNvPr id="19" name="TextBox 18"/>
          <p:cNvSpPr txBox="1"/>
          <p:nvPr/>
        </p:nvSpPr>
        <p:spPr>
          <a:xfrm>
            <a:off x="685800" y="6446520"/>
            <a:ext cx="7863840" cy="201168"/>
          </a:xfrm>
          <a:prstGeom prst="rect">
            <a:avLst/>
          </a:prstGeom>
          <a:noFill/>
        </p:spPr>
        <p:txBody>
          <a:bodyPr wrap="square" lIns="0" rIns="0" tIns="0" bIns="0" anchor="t">
            <a:spAutoFit/>
          </a:bodyPr>
          <a:lstStyle/>
          <a:p>
            <a:pPr algn="l">
              <a:lnSpc>
                <a:spcPct val="100000"/>
              </a:lnSpc>
              <a:spcBef>
                <a:spcPts val="0"/>
              </a:spcBef>
              <a:spcAft>
                <a:spcPts val="0"/>
              </a:spcAft>
            </a:pPr>
            <a:r>
              <a:rPr sz="800" b="0">
                <a:solidFill>
                  <a:srgbClr val="8A99A6"/>
                </a:solidFill>
                <a:latin typeface="微软雅黑"/>
                <a:ea typeface="微软雅黑"/>
              </a:rPr>
              <a:t>DOTE 6751  ·  小组作业  ·  LinkedIn 逆向工程  ·  2026 年 11 月</a:t>
            </a:r>
          </a:p>
        </p:txBody>
      </p:sp>
      <p:sp>
        <p:nvSpPr>
          <p:cNvPr id="20" name="TextBox 19"/>
          <p:cNvSpPr txBox="1"/>
          <p:nvPr/>
        </p:nvSpPr>
        <p:spPr>
          <a:xfrm>
            <a:off x="9692640" y="6446520"/>
            <a:ext cx="1828800" cy="201168"/>
          </a:xfrm>
          <a:prstGeom prst="rect">
            <a:avLst/>
          </a:prstGeom>
          <a:noFill/>
        </p:spPr>
        <p:txBody>
          <a:bodyPr wrap="square" lIns="0" rIns="0" tIns="0" bIns="0" anchor="t">
            <a:spAutoFit/>
          </a:bodyPr>
          <a:lstStyle/>
          <a:p>
            <a:pPr algn="r">
              <a:lnSpc>
                <a:spcPct val="100000"/>
              </a:lnSpc>
              <a:spcBef>
                <a:spcPts val="0"/>
              </a:spcBef>
              <a:spcAft>
                <a:spcPts val="0"/>
              </a:spcAft>
            </a:pPr>
            <a:r>
              <a:rPr sz="800" b="0">
                <a:solidFill>
                  <a:srgbClr val="8A99A6"/>
                </a:solidFill>
                <a:latin typeface="Segoe U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